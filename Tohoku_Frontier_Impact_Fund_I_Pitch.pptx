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F27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521440" y="0"/>
            <a:ext cx="667512" cy="548640"/>
          </a:xfrm>
          <a:prstGeom prst="rect">
            <a:avLst/>
          </a:prstGeom>
          <a:solidFill>
            <a:srgbClr val="5FA8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640080"/>
            <a:ext cx="10972800" cy="320040"/>
          </a:xfrm>
          <a:prstGeom prst="rect">
            <a:avLst/>
          </a:prstGeom>
          <a:noFill/>
        </p:spPr>
        <p:txBody>
          <a:bodyPr wrap="square" lIns="0" rIns="0" tIns="0" bIns="0" anchor="t">
            <a:spAutoFit/>
          </a:bodyPr>
          <a:lstStyle/>
          <a:p>
            <a:pPr algn="l"/>
            <a:r>
              <a:rPr sz="900" b="1" i="0" spc="250">
                <a:solidFill>
                  <a:srgbClr val="6E7783"/>
                </a:solidFill>
                <a:latin typeface="Aptos"/>
                <a:ea typeface="Yu Gothic"/>
                <a:cs typeface="Aptos"/>
              </a:rPr>
              <a:t>OFFERING MEMORANDUM  ·  STRICTLY PRIVATE &amp; CONFIDENTIAL</a:t>
            </a:r>
          </a:p>
        </p:txBody>
      </p:sp>
      <p:sp>
        <p:nvSpPr>
          <p:cNvPr id="5" name="TextBox 4"/>
          <p:cNvSpPr txBox="1"/>
          <p:nvPr/>
        </p:nvSpPr>
        <p:spPr>
          <a:xfrm>
            <a:off x="822960" y="1188720"/>
            <a:ext cx="10058400" cy="457200"/>
          </a:xfrm>
          <a:prstGeom prst="rect">
            <a:avLst/>
          </a:prstGeom>
          <a:noFill/>
        </p:spPr>
        <p:txBody>
          <a:bodyPr wrap="square" lIns="0" rIns="0" tIns="0" bIns="0" anchor="t">
            <a:spAutoFit/>
          </a:bodyPr>
          <a:lstStyle/>
          <a:p>
            <a:pPr algn="l"/>
            <a:r>
              <a:rPr sz="4200" b="1" i="0" spc="100">
                <a:solidFill>
                  <a:srgbClr val="0F2747"/>
                </a:solidFill>
                <a:latin typeface="Aptos"/>
                <a:ea typeface="Yu Gothic"/>
                <a:cs typeface="Aptos"/>
              </a:rPr>
              <a:t>TOHOKU FRONTIER</a:t>
            </a:r>
          </a:p>
        </p:txBody>
      </p:sp>
      <p:sp>
        <p:nvSpPr>
          <p:cNvPr id="6" name="TextBox 5"/>
          <p:cNvSpPr txBox="1"/>
          <p:nvPr/>
        </p:nvSpPr>
        <p:spPr>
          <a:xfrm>
            <a:off x="822960" y="1783080"/>
            <a:ext cx="10058400" cy="457200"/>
          </a:xfrm>
          <a:prstGeom prst="rect">
            <a:avLst/>
          </a:prstGeom>
          <a:noFill/>
        </p:spPr>
        <p:txBody>
          <a:bodyPr wrap="square" lIns="0" rIns="0" tIns="0" bIns="0" anchor="t">
            <a:spAutoFit/>
          </a:bodyPr>
          <a:lstStyle/>
          <a:p>
            <a:pPr algn="l"/>
            <a:r>
              <a:rPr sz="4200" b="1" i="0" spc="100">
                <a:solidFill>
                  <a:srgbClr val="0F2747"/>
                </a:solidFill>
                <a:latin typeface="Aptos"/>
                <a:ea typeface="Yu Gothic"/>
                <a:cs typeface="Aptos"/>
              </a:rPr>
              <a:t>IMPACT  CAPITAL</a:t>
            </a:r>
          </a:p>
        </p:txBody>
      </p:sp>
      <p:sp>
        <p:nvSpPr>
          <p:cNvPr id="7" name="TextBox 6"/>
          <p:cNvSpPr txBox="1"/>
          <p:nvPr/>
        </p:nvSpPr>
        <p:spPr>
          <a:xfrm>
            <a:off x="822960" y="2514600"/>
            <a:ext cx="10058400" cy="457200"/>
          </a:xfrm>
          <a:prstGeom prst="rect">
            <a:avLst/>
          </a:prstGeom>
          <a:noFill/>
        </p:spPr>
        <p:txBody>
          <a:bodyPr wrap="square" lIns="0" rIns="0" tIns="0" bIns="0" anchor="t">
            <a:spAutoFit/>
          </a:bodyPr>
          <a:lstStyle/>
          <a:p>
            <a:pPr algn="l"/>
            <a:r>
              <a:rPr sz="1800" b="0" i="0">
                <a:solidFill>
                  <a:srgbClr val="3A6EA5"/>
                </a:solidFill>
                <a:latin typeface="Aptos"/>
                <a:ea typeface="Yu Gothic"/>
                <a:cs typeface="Aptos"/>
              </a:rPr>
              <a:t>東北フロンティア・インパクト・キャピタル</a:t>
            </a:r>
          </a:p>
        </p:txBody>
      </p:sp>
      <p:sp>
        <p:nvSpPr>
          <p:cNvPr id="8" name="TextBox 7"/>
          <p:cNvSpPr txBox="1"/>
          <p:nvPr/>
        </p:nvSpPr>
        <p:spPr>
          <a:xfrm>
            <a:off x="822960" y="3017520"/>
            <a:ext cx="10058400" cy="365760"/>
          </a:xfrm>
          <a:prstGeom prst="rect">
            <a:avLst/>
          </a:prstGeom>
          <a:noFill/>
        </p:spPr>
        <p:txBody>
          <a:bodyPr wrap="square" lIns="0" rIns="0" tIns="0" bIns="0" anchor="t">
            <a:spAutoFit/>
          </a:bodyPr>
          <a:lstStyle/>
          <a:p>
            <a:pPr algn="l"/>
            <a:r>
              <a:rPr sz="1400" b="0" i="1">
                <a:solidFill>
                  <a:srgbClr val="1F1F1F"/>
                </a:solidFill>
                <a:latin typeface="Aptos"/>
                <a:ea typeface="Yu Gothic"/>
                <a:cs typeface="Aptos"/>
              </a:rPr>
              <a:t>Fund I — Limited Partnership Interest</a:t>
            </a:r>
          </a:p>
        </p:txBody>
      </p:sp>
      <p:sp>
        <p:nvSpPr>
          <p:cNvPr id="9" name="Rectangle 8"/>
          <p:cNvSpPr/>
          <p:nvPr/>
        </p:nvSpPr>
        <p:spPr>
          <a:xfrm>
            <a:off x="822960" y="3840480"/>
            <a:ext cx="914400" cy="31750"/>
          </a:xfrm>
          <a:prstGeom prst="rect">
            <a:avLst/>
          </a:prstGeom>
          <a:solidFill>
            <a:srgbClr val="5FA8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4023360"/>
            <a:ext cx="10058400" cy="457200"/>
          </a:xfrm>
          <a:prstGeom prst="rect">
            <a:avLst/>
          </a:prstGeom>
          <a:noFill/>
        </p:spPr>
        <p:txBody>
          <a:bodyPr wrap="square" lIns="0" rIns="0" tIns="0" bIns="0" anchor="t">
            <a:spAutoFit/>
          </a:bodyPr>
          <a:lstStyle/>
          <a:p>
            <a:pPr algn="l"/>
            <a:r>
              <a:rPr sz="1500" b="1" i="0" spc="150">
                <a:solidFill>
                  <a:srgbClr val="0F2747"/>
                </a:solidFill>
                <a:latin typeface="Aptos"/>
                <a:ea typeface="Yu Gothic"/>
                <a:cs typeface="Aptos"/>
              </a:rPr>
              <a:t>Regional Innovation.  Institutional Discipline.  Lasting Impact.</a:t>
            </a:r>
          </a:p>
        </p:txBody>
      </p:sp>
      <p:sp>
        <p:nvSpPr>
          <p:cNvPr id="11" name="TextBox 10"/>
          <p:cNvSpPr txBox="1"/>
          <p:nvPr/>
        </p:nvSpPr>
        <p:spPr>
          <a:xfrm>
            <a:off x="822960" y="4526280"/>
            <a:ext cx="10058400" cy="365760"/>
          </a:xfrm>
          <a:prstGeom prst="rect">
            <a:avLst/>
          </a:prstGeom>
          <a:noFill/>
        </p:spPr>
        <p:txBody>
          <a:bodyPr wrap="square" lIns="0" rIns="0" tIns="0" bIns="0" anchor="t">
            <a:spAutoFit/>
          </a:bodyPr>
          <a:lstStyle/>
          <a:p>
            <a:pPr algn="l"/>
            <a:r>
              <a:rPr sz="1150" b="0" i="0">
                <a:solidFill>
                  <a:srgbClr val="6E7783"/>
                </a:solidFill>
                <a:latin typeface="Aptos"/>
                <a:ea typeface="Yu Gothic"/>
                <a:cs typeface="Aptos"/>
              </a:rPr>
              <a:t>東北の社会課題に、機関投資家グレードの規律と長期インパクトを。</a:t>
            </a:r>
          </a:p>
        </p:txBody>
      </p:sp>
      <p:sp>
        <p:nvSpPr>
          <p:cNvPr id="12" name="Rectangle 11"/>
          <p:cNvSpPr/>
          <p:nvPr/>
        </p:nvSpPr>
        <p:spPr>
          <a:xfrm>
            <a:off x="822960" y="5486400"/>
            <a:ext cx="10515600" cy="10972"/>
          </a:xfrm>
          <a:prstGeom prst="rect">
            <a:avLst/>
          </a:prstGeom>
          <a:solidFill>
            <a:srgbClr val="CF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5650992"/>
            <a:ext cx="3657600" cy="228600"/>
          </a:xfrm>
          <a:prstGeom prst="rect">
            <a:avLst/>
          </a:prstGeom>
          <a:noFill/>
        </p:spPr>
        <p:txBody>
          <a:bodyPr wrap="square" lIns="0" rIns="0" tIns="0" bIns="0" anchor="t">
            <a:spAutoFit/>
          </a:bodyPr>
          <a:lstStyle/>
          <a:p>
            <a:pPr algn="l"/>
            <a:r>
              <a:rPr sz="850" b="1" i="0" spc="200">
                <a:solidFill>
                  <a:srgbClr val="6E7783"/>
                </a:solidFill>
                <a:latin typeface="Aptos"/>
                <a:ea typeface="Yu Gothic"/>
                <a:cs typeface="Aptos"/>
              </a:rPr>
              <a:t>TARGET FUND SIZE</a:t>
            </a:r>
          </a:p>
        </p:txBody>
      </p:sp>
      <p:sp>
        <p:nvSpPr>
          <p:cNvPr id="14" name="TextBox 13"/>
          <p:cNvSpPr txBox="1"/>
          <p:nvPr/>
        </p:nvSpPr>
        <p:spPr>
          <a:xfrm>
            <a:off x="822960" y="5897880"/>
            <a:ext cx="3657600" cy="365760"/>
          </a:xfrm>
          <a:prstGeom prst="rect">
            <a:avLst/>
          </a:prstGeom>
          <a:noFill/>
        </p:spPr>
        <p:txBody>
          <a:bodyPr wrap="square" lIns="0" rIns="0" tIns="0" bIns="0" anchor="t">
            <a:spAutoFit/>
          </a:bodyPr>
          <a:lstStyle/>
          <a:p>
            <a:pPr algn="l"/>
            <a:r>
              <a:rPr sz="1400" b="1" i="0">
                <a:solidFill>
                  <a:srgbClr val="0F2747"/>
                </a:solidFill>
                <a:latin typeface="Aptos"/>
                <a:ea typeface="Yu Gothic"/>
                <a:cs typeface="Aptos"/>
              </a:rPr>
              <a:t>¥10.0 – 30.0 BN</a:t>
            </a:r>
          </a:p>
        </p:txBody>
      </p:sp>
      <p:sp>
        <p:nvSpPr>
          <p:cNvPr id="15" name="TextBox 14"/>
          <p:cNvSpPr txBox="1"/>
          <p:nvPr/>
        </p:nvSpPr>
        <p:spPr>
          <a:xfrm>
            <a:off x="4572000" y="5650992"/>
            <a:ext cx="3657600" cy="228600"/>
          </a:xfrm>
          <a:prstGeom prst="rect">
            <a:avLst/>
          </a:prstGeom>
          <a:noFill/>
        </p:spPr>
        <p:txBody>
          <a:bodyPr wrap="square" lIns="0" rIns="0" tIns="0" bIns="0" anchor="t">
            <a:spAutoFit/>
          </a:bodyPr>
          <a:lstStyle/>
          <a:p>
            <a:pPr algn="l"/>
            <a:r>
              <a:rPr sz="850" b="1" i="0" spc="200">
                <a:solidFill>
                  <a:srgbClr val="6E7783"/>
                </a:solidFill>
                <a:latin typeface="Aptos"/>
                <a:ea typeface="Yu Gothic"/>
                <a:cs typeface="Aptos"/>
              </a:rPr>
              <a:t>VINTAGE</a:t>
            </a:r>
          </a:p>
        </p:txBody>
      </p:sp>
      <p:sp>
        <p:nvSpPr>
          <p:cNvPr id="16" name="TextBox 15"/>
          <p:cNvSpPr txBox="1"/>
          <p:nvPr/>
        </p:nvSpPr>
        <p:spPr>
          <a:xfrm>
            <a:off x="4572000" y="5897880"/>
            <a:ext cx="3657600" cy="365760"/>
          </a:xfrm>
          <a:prstGeom prst="rect">
            <a:avLst/>
          </a:prstGeom>
          <a:noFill/>
        </p:spPr>
        <p:txBody>
          <a:bodyPr wrap="square" lIns="0" rIns="0" tIns="0" bIns="0" anchor="t">
            <a:spAutoFit/>
          </a:bodyPr>
          <a:lstStyle/>
          <a:p>
            <a:pPr algn="l"/>
            <a:r>
              <a:rPr sz="1400" b="1" i="0">
                <a:solidFill>
                  <a:srgbClr val="0F2747"/>
                </a:solidFill>
                <a:latin typeface="Aptos"/>
                <a:ea typeface="Yu Gothic"/>
                <a:cs typeface="Aptos"/>
              </a:rPr>
              <a:t>2026</a:t>
            </a:r>
          </a:p>
        </p:txBody>
      </p:sp>
      <p:sp>
        <p:nvSpPr>
          <p:cNvPr id="17" name="TextBox 16"/>
          <p:cNvSpPr txBox="1"/>
          <p:nvPr/>
        </p:nvSpPr>
        <p:spPr>
          <a:xfrm>
            <a:off x="7315200" y="5650992"/>
            <a:ext cx="3657600" cy="228600"/>
          </a:xfrm>
          <a:prstGeom prst="rect">
            <a:avLst/>
          </a:prstGeom>
          <a:noFill/>
        </p:spPr>
        <p:txBody>
          <a:bodyPr wrap="square" lIns="0" rIns="0" tIns="0" bIns="0" anchor="t">
            <a:spAutoFit/>
          </a:bodyPr>
          <a:lstStyle/>
          <a:p>
            <a:pPr algn="l"/>
            <a:r>
              <a:rPr sz="850" b="1" i="0" spc="200">
                <a:solidFill>
                  <a:srgbClr val="6E7783"/>
                </a:solidFill>
                <a:latin typeface="Aptos"/>
                <a:ea typeface="Yu Gothic"/>
                <a:cs typeface="Aptos"/>
              </a:rPr>
              <a:t>DOMICILE</a:t>
            </a:r>
          </a:p>
        </p:txBody>
      </p:sp>
      <p:sp>
        <p:nvSpPr>
          <p:cNvPr id="18" name="TextBox 17"/>
          <p:cNvSpPr txBox="1"/>
          <p:nvPr/>
        </p:nvSpPr>
        <p:spPr>
          <a:xfrm>
            <a:off x="7315200" y="5897880"/>
            <a:ext cx="3657600" cy="365760"/>
          </a:xfrm>
          <a:prstGeom prst="rect">
            <a:avLst/>
          </a:prstGeom>
          <a:noFill/>
        </p:spPr>
        <p:txBody>
          <a:bodyPr wrap="square" lIns="0" rIns="0" tIns="0" bIns="0" anchor="t">
            <a:spAutoFit/>
          </a:bodyPr>
          <a:lstStyle/>
          <a:p>
            <a:pPr algn="l"/>
            <a:r>
              <a:rPr sz="1400" b="1" i="0">
                <a:solidFill>
                  <a:srgbClr val="0F2747"/>
                </a:solidFill>
                <a:latin typeface="Aptos"/>
                <a:ea typeface="Yu Gothic"/>
                <a:cs typeface="Aptos"/>
              </a:rPr>
              <a:t>Sendai, Japan</a:t>
            </a:r>
          </a:p>
        </p:txBody>
      </p:sp>
      <p:sp>
        <p:nvSpPr>
          <p:cNvPr id="19" name="TextBox 18"/>
          <p:cNvSpPr txBox="1"/>
          <p:nvPr/>
        </p:nvSpPr>
        <p:spPr>
          <a:xfrm>
            <a:off x="822960" y="6446520"/>
            <a:ext cx="10515600" cy="274320"/>
          </a:xfrm>
          <a:prstGeom prst="rect">
            <a:avLst/>
          </a:prstGeom>
          <a:noFill/>
        </p:spPr>
        <p:txBody>
          <a:bodyPr wrap="square" lIns="0" rIns="0" tIns="0" bIns="0" anchor="t">
            <a:spAutoFit/>
          </a:bodyPr>
          <a:lstStyle/>
          <a:p>
            <a:pPr algn="l"/>
            <a:r>
              <a:rPr sz="750" b="0" i="1">
                <a:solidFill>
                  <a:srgbClr val="6E7783"/>
                </a:solidFill>
                <a:latin typeface="Aptos"/>
                <a:ea typeface="Yu Gothic"/>
                <a:cs typeface="Aptos"/>
              </a:rPr>
              <a:t>This document does not constitute an offer to sell or solicitation to buy any securities.  ·  本資料は情報提供のみを目的とし、有価証券の購入の勧誘ではありません。</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7315200" cy="274320"/>
          </a:xfrm>
          <a:prstGeom prst="rect">
            <a:avLst/>
          </a:prstGeom>
          <a:noFill/>
        </p:spPr>
        <p:txBody>
          <a:bodyPr wrap="square" lIns="0" rIns="0" tIns="0" bIns="0" anchor="t">
            <a:spAutoFit/>
          </a:bodyPr>
          <a:lstStyle/>
          <a:p>
            <a:pPr algn="l"/>
            <a:r>
              <a:rPr sz="900" b="1" i="0" spc="200">
                <a:solidFill>
                  <a:srgbClr val="5FA8D3"/>
                </a:solidFill>
                <a:latin typeface="Aptos"/>
                <a:ea typeface="Yu Gothic"/>
                <a:cs typeface="Aptos"/>
              </a:rPr>
              <a:t>EXECUTIVE SUMMARY</a:t>
            </a:r>
          </a:p>
        </p:txBody>
      </p:sp>
      <p:sp>
        <p:nvSpPr>
          <p:cNvPr id="3" name="TextBox 2"/>
          <p:cNvSpPr txBox="1"/>
          <p:nvPr/>
        </p:nvSpPr>
        <p:spPr>
          <a:xfrm>
            <a:off x="5029200" y="411480"/>
            <a:ext cx="6583680" cy="274320"/>
          </a:xfrm>
          <a:prstGeom prst="rect">
            <a:avLst/>
          </a:prstGeom>
          <a:noFill/>
        </p:spPr>
        <p:txBody>
          <a:bodyPr wrap="square" lIns="0" rIns="0" tIns="0" bIns="0" anchor="t">
            <a:spAutoFit/>
          </a:bodyPr>
          <a:lstStyle/>
          <a:p>
            <a:pPr algn="r"/>
            <a:r>
              <a:rPr sz="850" b="1" i="0" spc="150">
                <a:solidFill>
                  <a:srgbClr val="6E7783"/>
                </a:solidFill>
                <a:latin typeface="Aptos"/>
                <a:ea typeface="Yu Gothic"/>
                <a:cs typeface="Aptos"/>
              </a:rPr>
              <a:t>TOHOKU FRONTIER IMPACT CAPITAL</a:t>
            </a:r>
          </a:p>
        </p:txBody>
      </p:sp>
      <p:sp>
        <p:nvSpPr>
          <p:cNvPr id="4" name="TextBox 3"/>
          <p:cNvSpPr txBox="1"/>
          <p:nvPr/>
        </p:nvSpPr>
        <p:spPr>
          <a:xfrm>
            <a:off x="548640" y="713232"/>
            <a:ext cx="11091672" cy="777240"/>
          </a:xfrm>
          <a:prstGeom prst="rect">
            <a:avLst/>
          </a:prstGeom>
          <a:noFill/>
        </p:spPr>
        <p:txBody>
          <a:bodyPr wrap="square" lIns="0" rIns="0" tIns="0" bIns="0" anchor="t">
            <a:spAutoFit/>
          </a:bodyPr>
          <a:lstStyle/>
          <a:p>
            <a:pPr algn="l"/>
            <a:r>
              <a:rPr sz="2600" b="1" i="0">
                <a:solidFill>
                  <a:srgbClr val="0F2747"/>
                </a:solidFill>
                <a:latin typeface="Aptos"/>
                <a:ea typeface="Yu Gothic"/>
                <a:cs typeface="Aptos"/>
              </a:rPr>
              <a:t>ファンド概要：機関投資家グレードの東北インパクト戦略</a:t>
            </a:r>
          </a:p>
        </p:txBody>
      </p:sp>
      <p:sp>
        <p:nvSpPr>
          <p:cNvPr id="5" name="Rectangle 4"/>
          <p:cNvSpPr/>
          <p:nvPr/>
        </p:nvSpPr>
        <p:spPr>
          <a:xfrm>
            <a:off x="548640" y="1536192"/>
            <a:ext cx="731520" cy="31750"/>
          </a:xfrm>
          <a:prstGeom prst="rect">
            <a:avLst/>
          </a:prstGeom>
          <a:solidFill>
            <a:srgbClr val="5FA8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364224"/>
            <a:ext cx="11091672" cy="10972"/>
          </a:xfrm>
          <a:prstGeom prst="rect">
            <a:avLst/>
          </a:prstGeom>
          <a:solidFill>
            <a:srgbClr val="CF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46520"/>
            <a:ext cx="5486400" cy="274320"/>
          </a:xfrm>
          <a:prstGeom prst="rect">
            <a:avLst/>
          </a:prstGeom>
          <a:noFill/>
        </p:spPr>
        <p:txBody>
          <a:bodyPr wrap="square" lIns="0" rIns="0" tIns="0" bIns="0" anchor="t">
            <a:spAutoFit/>
          </a:bodyPr>
          <a:lstStyle/>
          <a:p>
            <a:pPr algn="l"/>
            <a:r>
              <a:rPr sz="750" b="1" i="0" spc="180">
                <a:solidFill>
                  <a:srgbClr val="6E7783"/>
                </a:solidFill>
                <a:latin typeface="Aptos"/>
                <a:ea typeface="Yu Gothic"/>
                <a:cs typeface="Aptos"/>
              </a:rPr>
              <a:t>STRICTLY PRIVATE &amp; CONFIDENTIAL  |  FOR DISCUSSION PURPOSES ONLY</a:t>
            </a:r>
          </a:p>
        </p:txBody>
      </p:sp>
      <p:sp>
        <p:nvSpPr>
          <p:cNvPr id="8" name="TextBox 7"/>
          <p:cNvSpPr txBox="1"/>
          <p:nvPr/>
        </p:nvSpPr>
        <p:spPr>
          <a:xfrm>
            <a:off x="8229600" y="6446520"/>
            <a:ext cx="3410712" cy="274320"/>
          </a:xfrm>
          <a:prstGeom prst="rect">
            <a:avLst/>
          </a:prstGeom>
          <a:noFill/>
        </p:spPr>
        <p:txBody>
          <a:bodyPr wrap="square" lIns="0" rIns="0" tIns="0" bIns="0" anchor="t">
            <a:spAutoFit/>
          </a:bodyPr>
          <a:lstStyle/>
          <a:p>
            <a:pPr algn="r"/>
            <a:r>
              <a:rPr sz="800" b="1" i="0" spc="120">
                <a:solidFill>
                  <a:srgbClr val="0F2747"/>
                </a:solidFill>
                <a:latin typeface="Aptos"/>
                <a:ea typeface="Yu Gothic"/>
                <a:cs typeface="Aptos"/>
              </a:rPr>
              <a:t>02 / 16</a:t>
            </a:r>
          </a:p>
        </p:txBody>
      </p:sp>
      <p:sp>
        <p:nvSpPr>
          <p:cNvPr id="9" name="Rectangle 8"/>
          <p:cNvSpPr/>
          <p:nvPr/>
        </p:nvSpPr>
        <p:spPr>
          <a:xfrm>
            <a:off x="548640" y="1828800"/>
            <a:ext cx="2697480" cy="1143000"/>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993392"/>
            <a:ext cx="2423160" cy="274320"/>
          </a:xfrm>
          <a:prstGeom prst="rect">
            <a:avLst/>
          </a:prstGeom>
          <a:noFill/>
        </p:spPr>
        <p:txBody>
          <a:bodyPr wrap="square" lIns="0" rIns="0" tIns="0" bIns="0" anchor="t">
            <a:spAutoFit/>
          </a:bodyPr>
          <a:lstStyle/>
          <a:p>
            <a:pPr algn="l"/>
            <a:r>
              <a:rPr sz="850" b="1" i="0" spc="180">
                <a:solidFill>
                  <a:srgbClr val="6E7783"/>
                </a:solidFill>
                <a:latin typeface="Aptos"/>
                <a:ea typeface="Yu Gothic"/>
                <a:cs typeface="Aptos"/>
              </a:rPr>
              <a:t>TARGET FUND SIZE</a:t>
            </a:r>
          </a:p>
        </p:txBody>
      </p:sp>
      <p:sp>
        <p:nvSpPr>
          <p:cNvPr id="11" name="TextBox 10"/>
          <p:cNvSpPr txBox="1"/>
          <p:nvPr/>
        </p:nvSpPr>
        <p:spPr>
          <a:xfrm>
            <a:off x="685800" y="2286000"/>
            <a:ext cx="2423160" cy="502920"/>
          </a:xfrm>
          <a:prstGeom prst="rect">
            <a:avLst/>
          </a:prstGeom>
          <a:noFill/>
        </p:spPr>
        <p:txBody>
          <a:bodyPr wrap="square" lIns="0" rIns="0" tIns="0" bIns="0" anchor="t">
            <a:spAutoFit/>
          </a:bodyPr>
          <a:lstStyle/>
          <a:p>
            <a:pPr algn="l"/>
            <a:r>
              <a:rPr sz="2200" b="1" i="0">
                <a:solidFill>
                  <a:srgbClr val="0F2747"/>
                </a:solidFill>
                <a:latin typeface="Aptos"/>
                <a:ea typeface="Yu Gothic"/>
                <a:cs typeface="Aptos"/>
              </a:rPr>
              <a:t>¥10–30 BN</a:t>
            </a:r>
          </a:p>
        </p:txBody>
      </p:sp>
      <p:sp>
        <p:nvSpPr>
          <p:cNvPr id="12" name="TextBox 11"/>
          <p:cNvSpPr txBox="1"/>
          <p:nvPr/>
        </p:nvSpPr>
        <p:spPr>
          <a:xfrm>
            <a:off x="685800" y="2560320"/>
            <a:ext cx="2423160" cy="274320"/>
          </a:xfrm>
          <a:prstGeom prst="rect">
            <a:avLst/>
          </a:prstGeom>
          <a:noFill/>
        </p:spPr>
        <p:txBody>
          <a:bodyPr wrap="square" lIns="0" rIns="0" tIns="0" bIns="0" anchor="t">
            <a:spAutoFit/>
          </a:bodyPr>
          <a:lstStyle/>
          <a:p>
            <a:pPr algn="l"/>
            <a:r>
              <a:rPr sz="850" b="0" i="0">
                <a:solidFill>
                  <a:srgbClr val="6E7783"/>
                </a:solidFill>
                <a:latin typeface="Aptos"/>
                <a:ea typeface="Yu Gothic"/>
                <a:cs typeface="Aptos"/>
              </a:rPr>
              <a:t>First Close ¥10.0 BN</a:t>
            </a:r>
          </a:p>
        </p:txBody>
      </p:sp>
      <p:sp>
        <p:nvSpPr>
          <p:cNvPr id="13" name="Rectangle 12"/>
          <p:cNvSpPr/>
          <p:nvPr/>
        </p:nvSpPr>
        <p:spPr>
          <a:xfrm>
            <a:off x="3383280" y="1828800"/>
            <a:ext cx="2697480" cy="1143000"/>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20440" y="1993392"/>
            <a:ext cx="2423160" cy="274320"/>
          </a:xfrm>
          <a:prstGeom prst="rect">
            <a:avLst/>
          </a:prstGeom>
          <a:noFill/>
        </p:spPr>
        <p:txBody>
          <a:bodyPr wrap="square" lIns="0" rIns="0" tIns="0" bIns="0" anchor="t">
            <a:spAutoFit/>
          </a:bodyPr>
          <a:lstStyle/>
          <a:p>
            <a:pPr algn="l"/>
            <a:r>
              <a:rPr sz="850" b="1" i="0" spc="180">
                <a:solidFill>
                  <a:srgbClr val="6E7783"/>
                </a:solidFill>
                <a:latin typeface="Aptos"/>
                <a:ea typeface="Yu Gothic"/>
                <a:cs typeface="Aptos"/>
              </a:rPr>
              <a:t>NET IRR TARGET</a:t>
            </a:r>
          </a:p>
        </p:txBody>
      </p:sp>
      <p:sp>
        <p:nvSpPr>
          <p:cNvPr id="15" name="TextBox 14"/>
          <p:cNvSpPr txBox="1"/>
          <p:nvPr/>
        </p:nvSpPr>
        <p:spPr>
          <a:xfrm>
            <a:off x="3520440" y="2286000"/>
            <a:ext cx="2423160" cy="502920"/>
          </a:xfrm>
          <a:prstGeom prst="rect">
            <a:avLst/>
          </a:prstGeom>
          <a:noFill/>
        </p:spPr>
        <p:txBody>
          <a:bodyPr wrap="square" lIns="0" rIns="0" tIns="0" bIns="0" anchor="t">
            <a:spAutoFit/>
          </a:bodyPr>
          <a:lstStyle/>
          <a:p>
            <a:pPr algn="l"/>
            <a:r>
              <a:rPr sz="2200" b="1" i="0">
                <a:solidFill>
                  <a:srgbClr val="0F2747"/>
                </a:solidFill>
                <a:latin typeface="Aptos"/>
                <a:ea typeface="Yu Gothic"/>
                <a:cs typeface="Aptos"/>
              </a:rPr>
              <a:t>12 – 15 %</a:t>
            </a:r>
          </a:p>
        </p:txBody>
      </p:sp>
      <p:sp>
        <p:nvSpPr>
          <p:cNvPr id="16" name="TextBox 15"/>
          <p:cNvSpPr txBox="1"/>
          <p:nvPr/>
        </p:nvSpPr>
        <p:spPr>
          <a:xfrm>
            <a:off x="3520440" y="2560320"/>
            <a:ext cx="2423160" cy="274320"/>
          </a:xfrm>
          <a:prstGeom prst="rect">
            <a:avLst/>
          </a:prstGeom>
          <a:noFill/>
        </p:spPr>
        <p:txBody>
          <a:bodyPr wrap="square" lIns="0" rIns="0" tIns="0" bIns="0" anchor="t">
            <a:spAutoFit/>
          </a:bodyPr>
          <a:lstStyle/>
          <a:p>
            <a:pPr algn="l"/>
            <a:r>
              <a:rPr sz="850" b="0" i="0">
                <a:solidFill>
                  <a:srgbClr val="6E7783"/>
                </a:solidFill>
                <a:latin typeface="Aptos"/>
                <a:ea typeface="Yu Gothic"/>
                <a:cs typeface="Aptos"/>
              </a:rPr>
              <a:t>MOIC 2.0 – 2.5×</a:t>
            </a:r>
          </a:p>
        </p:txBody>
      </p:sp>
      <p:sp>
        <p:nvSpPr>
          <p:cNvPr id="17" name="Rectangle 16"/>
          <p:cNvSpPr/>
          <p:nvPr/>
        </p:nvSpPr>
        <p:spPr>
          <a:xfrm>
            <a:off x="6217920" y="1828800"/>
            <a:ext cx="2697480" cy="1143000"/>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080" y="1993392"/>
            <a:ext cx="2423160" cy="274320"/>
          </a:xfrm>
          <a:prstGeom prst="rect">
            <a:avLst/>
          </a:prstGeom>
          <a:noFill/>
        </p:spPr>
        <p:txBody>
          <a:bodyPr wrap="square" lIns="0" rIns="0" tIns="0" bIns="0" anchor="t">
            <a:spAutoFit/>
          </a:bodyPr>
          <a:lstStyle/>
          <a:p>
            <a:pPr algn="l"/>
            <a:r>
              <a:rPr sz="850" b="1" i="0" spc="180">
                <a:solidFill>
                  <a:srgbClr val="6E7783"/>
                </a:solidFill>
                <a:latin typeface="Aptos"/>
                <a:ea typeface="Yu Gothic"/>
                <a:cs typeface="Aptos"/>
              </a:rPr>
              <a:t>INVESTMENTS</a:t>
            </a:r>
          </a:p>
        </p:txBody>
      </p:sp>
      <p:sp>
        <p:nvSpPr>
          <p:cNvPr id="19" name="TextBox 18"/>
          <p:cNvSpPr txBox="1"/>
          <p:nvPr/>
        </p:nvSpPr>
        <p:spPr>
          <a:xfrm>
            <a:off x="6355080" y="2286000"/>
            <a:ext cx="2423160" cy="502920"/>
          </a:xfrm>
          <a:prstGeom prst="rect">
            <a:avLst/>
          </a:prstGeom>
          <a:noFill/>
        </p:spPr>
        <p:txBody>
          <a:bodyPr wrap="square" lIns="0" rIns="0" tIns="0" bIns="0" anchor="t">
            <a:spAutoFit/>
          </a:bodyPr>
          <a:lstStyle/>
          <a:p>
            <a:pPr algn="l"/>
            <a:r>
              <a:rPr sz="2200" b="1" i="0">
                <a:solidFill>
                  <a:srgbClr val="0F2747"/>
                </a:solidFill>
                <a:latin typeface="Aptos"/>
                <a:ea typeface="Yu Gothic"/>
                <a:cs typeface="Aptos"/>
              </a:rPr>
              <a:t>12 – 15</a:t>
            </a:r>
          </a:p>
        </p:txBody>
      </p:sp>
      <p:sp>
        <p:nvSpPr>
          <p:cNvPr id="20" name="TextBox 19"/>
          <p:cNvSpPr txBox="1"/>
          <p:nvPr/>
        </p:nvSpPr>
        <p:spPr>
          <a:xfrm>
            <a:off x="6355080" y="2560320"/>
            <a:ext cx="2423160" cy="274320"/>
          </a:xfrm>
          <a:prstGeom prst="rect">
            <a:avLst/>
          </a:prstGeom>
          <a:noFill/>
        </p:spPr>
        <p:txBody>
          <a:bodyPr wrap="square" lIns="0" rIns="0" tIns="0" bIns="0" anchor="t">
            <a:spAutoFit/>
          </a:bodyPr>
          <a:lstStyle/>
          <a:p>
            <a:pPr algn="l"/>
            <a:r>
              <a:rPr sz="850" b="0" i="0">
                <a:solidFill>
                  <a:srgbClr val="6E7783"/>
                </a:solidFill>
                <a:latin typeface="Aptos"/>
                <a:ea typeface="Yu Gothic"/>
                <a:cs typeface="Aptos"/>
              </a:rPr>
              <a:t>Series A – B core</a:t>
            </a:r>
          </a:p>
        </p:txBody>
      </p:sp>
      <p:sp>
        <p:nvSpPr>
          <p:cNvPr id="21" name="Rectangle 20"/>
          <p:cNvSpPr/>
          <p:nvPr/>
        </p:nvSpPr>
        <p:spPr>
          <a:xfrm>
            <a:off x="9052560" y="1828800"/>
            <a:ext cx="2606040" cy="1143000"/>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89720" y="1993392"/>
            <a:ext cx="2331720" cy="274320"/>
          </a:xfrm>
          <a:prstGeom prst="rect">
            <a:avLst/>
          </a:prstGeom>
          <a:noFill/>
        </p:spPr>
        <p:txBody>
          <a:bodyPr wrap="square" lIns="0" rIns="0" tIns="0" bIns="0" anchor="t">
            <a:spAutoFit/>
          </a:bodyPr>
          <a:lstStyle/>
          <a:p>
            <a:pPr algn="l"/>
            <a:r>
              <a:rPr sz="850" b="1" i="0" spc="180">
                <a:solidFill>
                  <a:srgbClr val="6E7783"/>
                </a:solidFill>
                <a:latin typeface="Aptos"/>
                <a:ea typeface="Yu Gothic"/>
                <a:cs typeface="Aptos"/>
              </a:rPr>
              <a:t>FUND TERM</a:t>
            </a:r>
          </a:p>
        </p:txBody>
      </p:sp>
      <p:sp>
        <p:nvSpPr>
          <p:cNvPr id="23" name="TextBox 22"/>
          <p:cNvSpPr txBox="1"/>
          <p:nvPr/>
        </p:nvSpPr>
        <p:spPr>
          <a:xfrm>
            <a:off x="9189720" y="2286000"/>
            <a:ext cx="2331720" cy="502920"/>
          </a:xfrm>
          <a:prstGeom prst="rect">
            <a:avLst/>
          </a:prstGeom>
          <a:noFill/>
        </p:spPr>
        <p:txBody>
          <a:bodyPr wrap="square" lIns="0" rIns="0" tIns="0" bIns="0" anchor="t">
            <a:spAutoFit/>
          </a:bodyPr>
          <a:lstStyle/>
          <a:p>
            <a:pPr algn="l"/>
            <a:r>
              <a:rPr sz="2200" b="1" i="0">
                <a:solidFill>
                  <a:srgbClr val="0F2747"/>
                </a:solidFill>
                <a:latin typeface="Aptos"/>
                <a:ea typeface="Yu Gothic"/>
                <a:cs typeface="Aptos"/>
              </a:rPr>
              <a:t>10 + 2 yrs</a:t>
            </a:r>
          </a:p>
        </p:txBody>
      </p:sp>
      <p:sp>
        <p:nvSpPr>
          <p:cNvPr id="24" name="TextBox 23"/>
          <p:cNvSpPr txBox="1"/>
          <p:nvPr/>
        </p:nvSpPr>
        <p:spPr>
          <a:xfrm>
            <a:off x="9189720" y="2560320"/>
            <a:ext cx="2331720" cy="274320"/>
          </a:xfrm>
          <a:prstGeom prst="rect">
            <a:avLst/>
          </a:prstGeom>
          <a:noFill/>
        </p:spPr>
        <p:txBody>
          <a:bodyPr wrap="square" lIns="0" rIns="0" tIns="0" bIns="0" anchor="t">
            <a:spAutoFit/>
          </a:bodyPr>
          <a:lstStyle/>
          <a:p>
            <a:pPr algn="l"/>
            <a:r>
              <a:rPr sz="850" b="0" i="0">
                <a:solidFill>
                  <a:srgbClr val="6E7783"/>
                </a:solidFill>
                <a:latin typeface="Aptos"/>
                <a:ea typeface="Yu Gothic"/>
                <a:cs typeface="Aptos"/>
              </a:rPr>
              <a:t>Inv 4y / Harvest 6y</a:t>
            </a:r>
          </a:p>
        </p:txBody>
      </p:sp>
      <p:sp>
        <p:nvSpPr>
          <p:cNvPr id="25" name="TextBox 24"/>
          <p:cNvSpPr txBox="1"/>
          <p:nvPr/>
        </p:nvSpPr>
        <p:spPr>
          <a:xfrm>
            <a:off x="548640" y="3246120"/>
            <a:ext cx="5577840" cy="320040"/>
          </a:xfrm>
          <a:prstGeom prst="rect">
            <a:avLst/>
          </a:prstGeom>
          <a:noFill/>
        </p:spPr>
        <p:txBody>
          <a:bodyPr wrap="square" lIns="0" rIns="0" tIns="0" bIns="0" anchor="t">
            <a:spAutoFit/>
          </a:bodyPr>
          <a:lstStyle/>
          <a:p>
            <a:pPr algn="l"/>
            <a:r>
              <a:rPr sz="1000" b="1" i="0" spc="200">
                <a:solidFill>
                  <a:srgbClr val="5FA8D3"/>
                </a:solidFill>
                <a:latin typeface="Aptos"/>
                <a:ea typeface="Yu Gothic"/>
                <a:cs typeface="Aptos"/>
              </a:rPr>
              <a:t>STRATEGY AT A GLANCE</a:t>
            </a:r>
          </a:p>
        </p:txBody>
      </p:sp>
      <p:sp>
        <p:nvSpPr>
          <p:cNvPr id="26" name="TextBox 25"/>
          <p:cNvSpPr txBox="1"/>
          <p:nvPr/>
        </p:nvSpPr>
        <p:spPr>
          <a:xfrm>
            <a:off x="548640" y="3611880"/>
            <a:ext cx="5577840" cy="2743200"/>
          </a:xfrm>
          <a:prstGeom prst="rect">
            <a:avLst/>
          </a:prstGeom>
          <a:noFill/>
        </p:spPr>
        <p:txBody>
          <a:bodyPr wrap="square" lIns="0" rIns="0" tIns="0" bIns="0">
            <a:spAutoFit/>
          </a:bodyPr>
          <a:lstStyle/>
          <a:p>
            <a:pPr algn="l">
              <a:lnSpc>
                <a:spcPct val="135000"/>
              </a:lnSpc>
              <a:spcAft>
                <a:spcPts val="300"/>
              </a:spcAft>
            </a:pPr>
            <a:r>
              <a:rPr sz="950" b="1" i="0">
                <a:solidFill>
                  <a:srgbClr val="5FA8D3"/>
                </a:solidFill>
                <a:latin typeface="Aptos"/>
                <a:ea typeface="Yu Gothic"/>
                <a:cs typeface="Aptos"/>
              </a:rPr>
              <a:t>■ </a:t>
            </a:r>
            <a:r>
              <a:rPr sz="1150" b="1" i="0">
                <a:solidFill>
                  <a:srgbClr val="0F2747"/>
                </a:solidFill>
                <a:latin typeface="Aptos"/>
                <a:ea typeface="Yu Gothic"/>
                <a:cs typeface="Aptos"/>
              </a:rPr>
              <a:t>インパクト × 経済リターンの両立 </a:t>
            </a:r>
            <a:r>
              <a:rPr sz="1150" b="0" i="0">
                <a:solidFill>
                  <a:srgbClr val="1F1F1F"/>
                </a:solidFill>
                <a:latin typeface="Aptos"/>
                <a:ea typeface="Yu Gothic"/>
                <a:cs typeface="Aptos"/>
              </a:rPr>
              <a:t>  を志向する、東北6県を投資地理とする日本初格のリージョナル・インパクト・ファンド。</a:t>
            </a:r>
          </a:p>
          <a:p>
            <a:pPr algn="l">
              <a:lnSpc>
                <a:spcPct val="135000"/>
              </a:lnSpc>
              <a:spcAft>
                <a:spcPts val="300"/>
              </a:spcAft>
            </a:pPr>
            <a:r>
              <a:rPr sz="950" b="1" i="0">
                <a:solidFill>
                  <a:srgbClr val="5FA8D3"/>
                </a:solidFill>
                <a:latin typeface="Aptos"/>
                <a:ea typeface="Yu Gothic"/>
                <a:cs typeface="Aptos"/>
              </a:rPr>
              <a:t>■ </a:t>
            </a:r>
            <a:r>
              <a:rPr sz="1150" b="1" i="0">
                <a:solidFill>
                  <a:srgbClr val="0F2747"/>
                </a:solidFill>
                <a:latin typeface="Aptos"/>
                <a:ea typeface="Yu Gothic"/>
                <a:cs typeface="Aptos"/>
              </a:rPr>
              <a:t>Series A〜Bを中核 </a:t>
            </a:r>
            <a:r>
              <a:rPr sz="1150" b="0" i="0">
                <a:solidFill>
                  <a:srgbClr val="1F1F1F"/>
                </a:solidFill>
                <a:latin typeface="Aptos"/>
                <a:ea typeface="Yu Gothic"/>
                <a:cs typeface="Aptos"/>
              </a:rPr>
              <a:t>  に、医療・福祉DX、地域DX、一次産業×テック、教育・人的資本の4テーマへ集中投資。</a:t>
            </a:r>
          </a:p>
          <a:p>
            <a:pPr algn="l">
              <a:lnSpc>
                <a:spcPct val="135000"/>
              </a:lnSpc>
              <a:spcAft>
                <a:spcPts val="300"/>
              </a:spcAft>
            </a:pPr>
            <a:r>
              <a:rPr sz="950" b="1" i="0">
                <a:solidFill>
                  <a:srgbClr val="5FA8D3"/>
                </a:solidFill>
                <a:latin typeface="Aptos"/>
                <a:ea typeface="Yu Gothic"/>
                <a:cs typeface="Aptos"/>
              </a:rPr>
              <a:t>■ </a:t>
            </a:r>
            <a:r>
              <a:rPr sz="1150" b="1" i="0">
                <a:solidFill>
                  <a:srgbClr val="0F2747"/>
                </a:solidFill>
                <a:latin typeface="Aptos"/>
                <a:ea typeface="Yu Gothic"/>
                <a:cs typeface="Aptos"/>
              </a:rPr>
              <a:t>Value Creation Platform </a:t>
            </a:r>
            <a:r>
              <a:rPr sz="1150" b="0" i="0">
                <a:solidFill>
                  <a:srgbClr val="1F1F1F"/>
                </a:solidFill>
                <a:latin typeface="Aptos"/>
                <a:ea typeface="Yu Gothic"/>
                <a:cs typeface="Aptos"/>
              </a:rPr>
              <a:t>  を通じ、ガバナンス強化・市場変更（TPM→グロース等）・M&amp;A戦略・インパクト測定を実行支援。</a:t>
            </a:r>
          </a:p>
          <a:p>
            <a:pPr algn="l">
              <a:lnSpc>
                <a:spcPct val="135000"/>
              </a:lnSpc>
              <a:spcAft>
                <a:spcPts val="300"/>
              </a:spcAft>
            </a:pPr>
            <a:r>
              <a:rPr sz="950" b="1" i="0">
                <a:solidFill>
                  <a:srgbClr val="5FA8D3"/>
                </a:solidFill>
                <a:latin typeface="Aptos"/>
                <a:ea typeface="Yu Gothic"/>
                <a:cs typeface="Aptos"/>
              </a:rPr>
              <a:t>■ </a:t>
            </a:r>
            <a:r>
              <a:rPr sz="1150" b="1" i="0">
                <a:solidFill>
                  <a:srgbClr val="0F2747"/>
                </a:solidFill>
                <a:latin typeface="Aptos"/>
                <a:ea typeface="Yu Gothic"/>
                <a:cs typeface="Aptos"/>
              </a:rPr>
              <a:t>公的セクター・地方銀行・東北大学等 </a:t>
            </a:r>
            <a:r>
              <a:rPr sz="1150" b="0" i="0">
                <a:solidFill>
                  <a:srgbClr val="1F1F1F"/>
                </a:solidFill>
                <a:latin typeface="Aptos"/>
                <a:ea typeface="Yu Gothic"/>
                <a:cs typeface="Aptos"/>
              </a:rPr>
              <a:t>  と協調し、案件創出から出口までエコシステム型で価値を創造。</a:t>
            </a:r>
          </a:p>
        </p:txBody>
      </p:sp>
      <p:sp>
        <p:nvSpPr>
          <p:cNvPr id="27" name="TextBox 26"/>
          <p:cNvSpPr txBox="1"/>
          <p:nvPr/>
        </p:nvSpPr>
        <p:spPr>
          <a:xfrm>
            <a:off x="6400800" y="3246120"/>
            <a:ext cx="5212080" cy="320040"/>
          </a:xfrm>
          <a:prstGeom prst="rect">
            <a:avLst/>
          </a:prstGeom>
          <a:noFill/>
        </p:spPr>
        <p:txBody>
          <a:bodyPr wrap="square" lIns="0" rIns="0" tIns="0" bIns="0" anchor="t">
            <a:spAutoFit/>
          </a:bodyPr>
          <a:lstStyle/>
          <a:p>
            <a:pPr algn="l"/>
            <a:r>
              <a:rPr sz="1000" b="1" i="0" spc="200">
                <a:solidFill>
                  <a:srgbClr val="5FA8D3"/>
                </a:solidFill>
                <a:latin typeface="Aptos"/>
                <a:ea typeface="Yu Gothic"/>
                <a:cs typeface="Aptos"/>
              </a:rPr>
              <a:t>INVESTMENT HIGHLIGHTS</a:t>
            </a:r>
          </a:p>
        </p:txBody>
      </p:sp>
      <p:sp>
        <p:nvSpPr>
          <p:cNvPr id="28" name="TextBox 27"/>
          <p:cNvSpPr txBox="1"/>
          <p:nvPr/>
        </p:nvSpPr>
        <p:spPr>
          <a:xfrm>
            <a:off x="6400800" y="3611880"/>
            <a:ext cx="5212080" cy="2743200"/>
          </a:xfrm>
          <a:prstGeom prst="rect">
            <a:avLst/>
          </a:prstGeom>
          <a:noFill/>
        </p:spPr>
        <p:txBody>
          <a:bodyPr wrap="square" lIns="0" rIns="0" tIns="0" bIns="0">
            <a:spAutoFit/>
          </a:bodyPr>
          <a:lstStyle/>
          <a:p>
            <a:pPr algn="l">
              <a:lnSpc>
                <a:spcPct val="135000"/>
              </a:lnSpc>
              <a:spcAft>
                <a:spcPts val="300"/>
              </a:spcAft>
            </a:pPr>
            <a:r>
              <a:rPr sz="950" b="1" i="0">
                <a:solidFill>
                  <a:srgbClr val="5FA8D3"/>
                </a:solidFill>
                <a:latin typeface="Aptos"/>
                <a:ea typeface="Yu Gothic"/>
                <a:cs typeface="Aptos"/>
              </a:rPr>
              <a:t>■ </a:t>
            </a:r>
            <a:r>
              <a:rPr sz="1150" b="1" i="0">
                <a:solidFill>
                  <a:srgbClr val="0F2747"/>
                </a:solidFill>
                <a:latin typeface="Aptos"/>
                <a:ea typeface="Yu Gothic"/>
                <a:cs typeface="Aptos"/>
              </a:rPr>
              <a:t>構造的アンダーバンキング </a:t>
            </a:r>
            <a:r>
              <a:rPr sz="1150" b="0" i="0">
                <a:solidFill>
                  <a:srgbClr val="1F1F1F"/>
                </a:solidFill>
                <a:latin typeface="Aptos"/>
                <a:ea typeface="Yu Gothic"/>
                <a:cs typeface="Aptos"/>
              </a:rPr>
              <a:t>  東北のスタートアップ調達額は全国比1〜2%にとどまり、機関投資家規律の成長資本が不足。</a:t>
            </a:r>
          </a:p>
          <a:p>
            <a:pPr algn="l">
              <a:lnSpc>
                <a:spcPct val="135000"/>
              </a:lnSpc>
              <a:spcAft>
                <a:spcPts val="300"/>
              </a:spcAft>
            </a:pPr>
            <a:r>
              <a:rPr sz="950" b="1" i="0">
                <a:solidFill>
                  <a:srgbClr val="5FA8D3"/>
                </a:solidFill>
                <a:latin typeface="Aptos"/>
                <a:ea typeface="Yu Gothic"/>
                <a:cs typeface="Aptos"/>
              </a:rPr>
              <a:t>■ </a:t>
            </a:r>
            <a:r>
              <a:rPr sz="1150" b="1" i="0">
                <a:solidFill>
                  <a:srgbClr val="0F2747"/>
                </a:solidFill>
                <a:latin typeface="Aptos"/>
                <a:ea typeface="Yu Gothic"/>
                <a:cs typeface="Aptos"/>
              </a:rPr>
              <a:t>構造的需要ドライバー </a:t>
            </a:r>
            <a:r>
              <a:rPr sz="1150" b="0" i="0">
                <a:solidFill>
                  <a:srgbClr val="1F1F1F"/>
                </a:solidFill>
                <a:latin typeface="Aptos"/>
                <a:ea typeface="Yu Gothic"/>
                <a:cs typeface="Aptos"/>
              </a:rPr>
              <a:t>  法定雇用率2.5%→2.7%、高齢化、地域DX、食糧安全保障などにより、課題＝事業機会が拡大。</a:t>
            </a:r>
          </a:p>
          <a:p>
            <a:pPr algn="l">
              <a:lnSpc>
                <a:spcPct val="135000"/>
              </a:lnSpc>
              <a:spcAft>
                <a:spcPts val="300"/>
              </a:spcAft>
            </a:pPr>
            <a:r>
              <a:rPr sz="950" b="1" i="0">
                <a:solidFill>
                  <a:srgbClr val="5FA8D3"/>
                </a:solidFill>
                <a:latin typeface="Aptos"/>
                <a:ea typeface="Yu Gothic"/>
                <a:cs typeface="Aptos"/>
              </a:rPr>
              <a:t>■ </a:t>
            </a:r>
            <a:r>
              <a:rPr sz="1150" b="1" i="0">
                <a:solidFill>
                  <a:srgbClr val="0F2747"/>
                </a:solidFill>
                <a:latin typeface="Aptos"/>
                <a:ea typeface="Yu Gothic"/>
                <a:cs typeface="Aptos"/>
              </a:rPr>
              <a:t>アンカーケース </a:t>
            </a:r>
            <a:r>
              <a:rPr sz="1150" b="0" i="0">
                <a:solidFill>
                  <a:srgbClr val="1F1F1F"/>
                </a:solidFill>
                <a:latin typeface="Aptos"/>
                <a:ea typeface="Yu Gothic"/>
                <a:cs typeface="Aptos"/>
              </a:rPr>
              <a:t>  TPM上場「manaby（9222）」をはじめ、規模化前のインパクト企業の厚いパイプライン。</a:t>
            </a:r>
          </a:p>
          <a:p>
            <a:pPr algn="l">
              <a:lnSpc>
                <a:spcPct val="135000"/>
              </a:lnSpc>
              <a:spcAft>
                <a:spcPts val="300"/>
              </a:spcAft>
            </a:pPr>
            <a:r>
              <a:rPr sz="950" b="1" i="0">
                <a:solidFill>
                  <a:srgbClr val="5FA8D3"/>
                </a:solidFill>
                <a:latin typeface="Aptos"/>
                <a:ea typeface="Yu Gothic"/>
                <a:cs typeface="Aptos"/>
              </a:rPr>
              <a:t>■ </a:t>
            </a:r>
            <a:r>
              <a:rPr sz="1150" b="1" i="0">
                <a:solidFill>
                  <a:srgbClr val="0F2747"/>
                </a:solidFill>
                <a:latin typeface="Aptos"/>
                <a:ea typeface="Yu Gothic"/>
                <a:cs typeface="Aptos"/>
              </a:rPr>
              <a:t>チームと協調投資家 </a:t>
            </a:r>
            <a:r>
              <a:rPr sz="1150" b="0" i="0">
                <a:solidFill>
                  <a:srgbClr val="1F1F1F"/>
                </a:solidFill>
                <a:latin typeface="Aptos"/>
                <a:ea typeface="Yu Gothic"/>
                <a:cs typeface="Aptos"/>
              </a:rPr>
              <a:t>  IB／VC／オペレーター出身のGP、地方銀行・年金・政策投資銀行系LP想定。</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7315200" cy="274320"/>
          </a:xfrm>
          <a:prstGeom prst="rect">
            <a:avLst/>
          </a:prstGeom>
          <a:noFill/>
        </p:spPr>
        <p:txBody>
          <a:bodyPr wrap="square" lIns="0" rIns="0" tIns="0" bIns="0" anchor="t">
            <a:spAutoFit/>
          </a:bodyPr>
          <a:lstStyle/>
          <a:p>
            <a:pPr algn="l"/>
            <a:r>
              <a:rPr sz="900" b="1" i="0" spc="200">
                <a:solidFill>
                  <a:srgbClr val="5FA8D3"/>
                </a:solidFill>
                <a:latin typeface="Aptos"/>
                <a:ea typeface="Yu Gothic"/>
                <a:cs typeface="Aptos"/>
              </a:rPr>
              <a:t>INVESTMENT THESIS</a:t>
            </a:r>
          </a:p>
        </p:txBody>
      </p:sp>
      <p:sp>
        <p:nvSpPr>
          <p:cNvPr id="3" name="TextBox 2"/>
          <p:cNvSpPr txBox="1"/>
          <p:nvPr/>
        </p:nvSpPr>
        <p:spPr>
          <a:xfrm>
            <a:off x="5029200" y="411480"/>
            <a:ext cx="6583680" cy="274320"/>
          </a:xfrm>
          <a:prstGeom prst="rect">
            <a:avLst/>
          </a:prstGeom>
          <a:noFill/>
        </p:spPr>
        <p:txBody>
          <a:bodyPr wrap="square" lIns="0" rIns="0" tIns="0" bIns="0" anchor="t">
            <a:spAutoFit/>
          </a:bodyPr>
          <a:lstStyle/>
          <a:p>
            <a:pPr algn="r"/>
            <a:r>
              <a:rPr sz="850" b="1" i="0" spc="150">
                <a:solidFill>
                  <a:srgbClr val="6E7783"/>
                </a:solidFill>
                <a:latin typeface="Aptos"/>
                <a:ea typeface="Yu Gothic"/>
                <a:cs typeface="Aptos"/>
              </a:rPr>
              <a:t>TOHOKU FRONTIER IMPACT CAPITAL</a:t>
            </a:r>
          </a:p>
        </p:txBody>
      </p:sp>
      <p:sp>
        <p:nvSpPr>
          <p:cNvPr id="4" name="TextBox 3"/>
          <p:cNvSpPr txBox="1"/>
          <p:nvPr/>
        </p:nvSpPr>
        <p:spPr>
          <a:xfrm>
            <a:off x="548640" y="713232"/>
            <a:ext cx="11091672" cy="777240"/>
          </a:xfrm>
          <a:prstGeom prst="rect">
            <a:avLst/>
          </a:prstGeom>
          <a:noFill/>
        </p:spPr>
        <p:txBody>
          <a:bodyPr wrap="square" lIns="0" rIns="0" tIns="0" bIns="0" anchor="t">
            <a:spAutoFit/>
          </a:bodyPr>
          <a:lstStyle/>
          <a:p>
            <a:pPr algn="l"/>
            <a:r>
              <a:rPr sz="2600" b="1" i="0">
                <a:solidFill>
                  <a:srgbClr val="0F2747"/>
                </a:solidFill>
                <a:latin typeface="Aptos"/>
                <a:ea typeface="Yu Gothic"/>
                <a:cs typeface="Aptos"/>
              </a:rPr>
              <a:t>投資命題：東北 × インパクト × オペレーティング規律</a:t>
            </a:r>
          </a:p>
        </p:txBody>
      </p:sp>
      <p:sp>
        <p:nvSpPr>
          <p:cNvPr id="5" name="Rectangle 4"/>
          <p:cNvSpPr/>
          <p:nvPr/>
        </p:nvSpPr>
        <p:spPr>
          <a:xfrm>
            <a:off x="548640" y="1536192"/>
            <a:ext cx="731520" cy="31750"/>
          </a:xfrm>
          <a:prstGeom prst="rect">
            <a:avLst/>
          </a:prstGeom>
          <a:solidFill>
            <a:srgbClr val="5FA8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364224"/>
            <a:ext cx="11091672" cy="10972"/>
          </a:xfrm>
          <a:prstGeom prst="rect">
            <a:avLst/>
          </a:prstGeom>
          <a:solidFill>
            <a:srgbClr val="CF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46520"/>
            <a:ext cx="5486400" cy="274320"/>
          </a:xfrm>
          <a:prstGeom prst="rect">
            <a:avLst/>
          </a:prstGeom>
          <a:noFill/>
        </p:spPr>
        <p:txBody>
          <a:bodyPr wrap="square" lIns="0" rIns="0" tIns="0" bIns="0" anchor="t">
            <a:spAutoFit/>
          </a:bodyPr>
          <a:lstStyle/>
          <a:p>
            <a:pPr algn="l"/>
            <a:r>
              <a:rPr sz="750" b="1" i="0" spc="180">
                <a:solidFill>
                  <a:srgbClr val="6E7783"/>
                </a:solidFill>
                <a:latin typeface="Aptos"/>
                <a:ea typeface="Yu Gothic"/>
                <a:cs typeface="Aptos"/>
              </a:rPr>
              <a:t>STRICTLY PRIVATE &amp; CONFIDENTIAL  |  FOR DISCUSSION PURPOSES ONLY</a:t>
            </a:r>
          </a:p>
        </p:txBody>
      </p:sp>
      <p:sp>
        <p:nvSpPr>
          <p:cNvPr id="8" name="TextBox 7"/>
          <p:cNvSpPr txBox="1"/>
          <p:nvPr/>
        </p:nvSpPr>
        <p:spPr>
          <a:xfrm>
            <a:off x="8229600" y="6446520"/>
            <a:ext cx="3410712" cy="274320"/>
          </a:xfrm>
          <a:prstGeom prst="rect">
            <a:avLst/>
          </a:prstGeom>
          <a:noFill/>
        </p:spPr>
        <p:txBody>
          <a:bodyPr wrap="square" lIns="0" rIns="0" tIns="0" bIns="0" anchor="t">
            <a:spAutoFit/>
          </a:bodyPr>
          <a:lstStyle/>
          <a:p>
            <a:pPr algn="r"/>
            <a:r>
              <a:rPr sz="800" b="1" i="0" spc="120">
                <a:solidFill>
                  <a:srgbClr val="0F2747"/>
                </a:solidFill>
                <a:latin typeface="Aptos"/>
                <a:ea typeface="Yu Gothic"/>
                <a:cs typeface="Aptos"/>
              </a:rPr>
              <a:t>03 / 16</a:t>
            </a:r>
          </a:p>
        </p:txBody>
      </p:sp>
      <p:sp>
        <p:nvSpPr>
          <p:cNvPr id="9" name="TextBox 8"/>
          <p:cNvSpPr txBox="1"/>
          <p:nvPr/>
        </p:nvSpPr>
        <p:spPr>
          <a:xfrm>
            <a:off x="548640" y="1828800"/>
            <a:ext cx="3657600" cy="457200"/>
          </a:xfrm>
          <a:prstGeom prst="rect">
            <a:avLst/>
          </a:prstGeom>
          <a:noFill/>
        </p:spPr>
        <p:txBody>
          <a:bodyPr wrap="square" lIns="0" rIns="0" tIns="0" bIns="0" anchor="t">
            <a:spAutoFit/>
          </a:bodyPr>
          <a:lstStyle/>
          <a:p>
            <a:pPr algn="l"/>
            <a:r>
              <a:rPr sz="1100" b="1" i="0" spc="200">
                <a:solidFill>
                  <a:srgbClr val="5FA8D3"/>
                </a:solidFill>
                <a:latin typeface="Aptos"/>
                <a:ea typeface="Yu Gothic"/>
                <a:cs typeface="Aptos"/>
              </a:rPr>
              <a:t>01</a:t>
            </a:r>
          </a:p>
        </p:txBody>
      </p:sp>
      <p:sp>
        <p:nvSpPr>
          <p:cNvPr id="10" name="Rectangle 9"/>
          <p:cNvSpPr/>
          <p:nvPr/>
        </p:nvSpPr>
        <p:spPr>
          <a:xfrm>
            <a:off x="548640" y="2148840"/>
            <a:ext cx="365760" cy="25400"/>
          </a:xfrm>
          <a:prstGeom prst="rect">
            <a:avLst/>
          </a:prstGeom>
          <a:solidFill>
            <a:srgbClr val="5FA8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331720"/>
            <a:ext cx="3657600" cy="822960"/>
          </a:xfrm>
          <a:prstGeom prst="rect">
            <a:avLst/>
          </a:prstGeom>
          <a:noFill/>
        </p:spPr>
        <p:txBody>
          <a:bodyPr wrap="square" lIns="0" rIns="0" tIns="0" bIns="0" anchor="t">
            <a:spAutoFit/>
          </a:bodyPr>
          <a:lstStyle/>
          <a:p>
            <a:pPr algn="l"/>
            <a:r>
              <a:rPr sz="1600" b="1" i="0">
                <a:solidFill>
                  <a:srgbClr val="0F2747"/>
                </a:solidFill>
                <a:latin typeface="Aptos"/>
                <a:ea typeface="Yu Gothic"/>
                <a:cs typeface="Aptos"/>
              </a:rPr>
              <a:t>Regional Innovation の機会</a:t>
            </a:r>
          </a:p>
        </p:txBody>
      </p:sp>
      <p:sp>
        <p:nvSpPr>
          <p:cNvPr id="12" name="TextBox 11"/>
          <p:cNvSpPr txBox="1"/>
          <p:nvPr/>
        </p:nvSpPr>
        <p:spPr>
          <a:xfrm>
            <a:off x="548640" y="3200400"/>
            <a:ext cx="3657600" cy="2377440"/>
          </a:xfrm>
          <a:prstGeom prst="rect">
            <a:avLst/>
          </a:prstGeom>
          <a:noFill/>
        </p:spPr>
        <p:txBody>
          <a:bodyPr wrap="square" lIns="0" rIns="0" tIns="0" bIns="0" anchor="t">
            <a:spAutoFit/>
          </a:bodyPr>
          <a:lstStyle/>
          <a:p>
            <a:pPr algn="l"/>
            <a:r>
              <a:rPr sz="1100" b="0" i="0">
                <a:solidFill>
                  <a:srgbClr val="1F1F1F"/>
                </a:solidFill>
                <a:latin typeface="Aptos"/>
                <a:ea typeface="Yu Gothic"/>
                <a:cs typeface="Aptos"/>
              </a:rPr>
              <a:t>東北は人口減・高齢化・地域偏在という構造課題と同時に、医療・福祉・農林水産・防災レジリエンスの実装市場でもある。</a:t>
            </a:r>
          </a:p>
        </p:txBody>
      </p:sp>
      <p:sp>
        <p:nvSpPr>
          <p:cNvPr id="13" name="TextBox 12"/>
          <p:cNvSpPr txBox="1"/>
          <p:nvPr/>
        </p:nvSpPr>
        <p:spPr>
          <a:xfrm>
            <a:off x="548640" y="5349240"/>
            <a:ext cx="3657600" cy="914400"/>
          </a:xfrm>
          <a:prstGeom prst="rect">
            <a:avLst/>
          </a:prstGeom>
          <a:noFill/>
        </p:spPr>
        <p:txBody>
          <a:bodyPr wrap="square" lIns="0" rIns="0" tIns="0" bIns="0" anchor="t">
            <a:spAutoFit/>
          </a:bodyPr>
          <a:lstStyle/>
          <a:p>
            <a:pPr algn="l"/>
            <a:r>
              <a:rPr sz="1200" b="1" i="1">
                <a:solidFill>
                  <a:srgbClr val="3A6EA5"/>
                </a:solidFill>
                <a:latin typeface="Aptos"/>
                <a:ea typeface="Yu Gothic"/>
                <a:cs typeface="Aptos"/>
              </a:rPr>
              <a:t>“ 課題密度の高さが事業機会の密度に転化する。 ”</a:t>
            </a:r>
          </a:p>
        </p:txBody>
      </p:sp>
      <p:sp>
        <p:nvSpPr>
          <p:cNvPr id="14" name="TextBox 13"/>
          <p:cNvSpPr txBox="1"/>
          <p:nvPr/>
        </p:nvSpPr>
        <p:spPr>
          <a:xfrm>
            <a:off x="4325112" y="1828800"/>
            <a:ext cx="3657600" cy="457200"/>
          </a:xfrm>
          <a:prstGeom prst="rect">
            <a:avLst/>
          </a:prstGeom>
          <a:noFill/>
        </p:spPr>
        <p:txBody>
          <a:bodyPr wrap="square" lIns="0" rIns="0" tIns="0" bIns="0" anchor="t">
            <a:spAutoFit/>
          </a:bodyPr>
          <a:lstStyle/>
          <a:p>
            <a:pPr algn="l"/>
            <a:r>
              <a:rPr sz="1100" b="1" i="0" spc="200">
                <a:solidFill>
                  <a:srgbClr val="5FA8D3"/>
                </a:solidFill>
                <a:latin typeface="Aptos"/>
                <a:ea typeface="Yu Gothic"/>
                <a:cs typeface="Aptos"/>
              </a:rPr>
              <a:t>02</a:t>
            </a:r>
          </a:p>
        </p:txBody>
      </p:sp>
      <p:sp>
        <p:nvSpPr>
          <p:cNvPr id="15" name="Rectangle 14"/>
          <p:cNvSpPr/>
          <p:nvPr/>
        </p:nvSpPr>
        <p:spPr>
          <a:xfrm>
            <a:off x="4325112" y="2148840"/>
            <a:ext cx="365760" cy="25400"/>
          </a:xfrm>
          <a:prstGeom prst="rect">
            <a:avLst/>
          </a:prstGeom>
          <a:solidFill>
            <a:srgbClr val="5FA8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25112" y="2331720"/>
            <a:ext cx="3657600" cy="822960"/>
          </a:xfrm>
          <a:prstGeom prst="rect">
            <a:avLst/>
          </a:prstGeom>
          <a:noFill/>
        </p:spPr>
        <p:txBody>
          <a:bodyPr wrap="square" lIns="0" rIns="0" tIns="0" bIns="0" anchor="t">
            <a:spAutoFit/>
          </a:bodyPr>
          <a:lstStyle/>
          <a:p>
            <a:pPr algn="l"/>
            <a:r>
              <a:rPr sz="1600" b="1" i="0">
                <a:solidFill>
                  <a:srgbClr val="0F2747"/>
                </a:solidFill>
                <a:latin typeface="Aptos"/>
                <a:ea typeface="Yu Gothic"/>
                <a:cs typeface="Aptos"/>
              </a:rPr>
              <a:t>Impact = Defensible Growth</a:t>
            </a:r>
          </a:p>
        </p:txBody>
      </p:sp>
      <p:sp>
        <p:nvSpPr>
          <p:cNvPr id="17" name="TextBox 16"/>
          <p:cNvSpPr txBox="1"/>
          <p:nvPr/>
        </p:nvSpPr>
        <p:spPr>
          <a:xfrm>
            <a:off x="4325112" y="3200400"/>
            <a:ext cx="3657600" cy="2377440"/>
          </a:xfrm>
          <a:prstGeom prst="rect">
            <a:avLst/>
          </a:prstGeom>
          <a:noFill/>
        </p:spPr>
        <p:txBody>
          <a:bodyPr wrap="square" lIns="0" rIns="0" tIns="0" bIns="0" anchor="t">
            <a:spAutoFit/>
          </a:bodyPr>
          <a:lstStyle/>
          <a:p>
            <a:pPr algn="l"/>
            <a:r>
              <a:rPr sz="1100" b="0" i="0">
                <a:solidFill>
                  <a:srgbClr val="1F1F1F"/>
                </a:solidFill>
                <a:latin typeface="Aptos"/>
                <a:ea typeface="Yu Gothic"/>
                <a:cs typeface="Aptos"/>
              </a:rPr>
              <a:t>公的制度（介護報酬、訓練等給付費、農林補助、教育交付）と民間需要の両輪が、景気非感応・長期成長の収益源を形成。</a:t>
            </a:r>
          </a:p>
        </p:txBody>
      </p:sp>
      <p:sp>
        <p:nvSpPr>
          <p:cNvPr id="18" name="TextBox 17"/>
          <p:cNvSpPr txBox="1"/>
          <p:nvPr/>
        </p:nvSpPr>
        <p:spPr>
          <a:xfrm>
            <a:off x="4325112" y="5349240"/>
            <a:ext cx="3657600" cy="914400"/>
          </a:xfrm>
          <a:prstGeom prst="rect">
            <a:avLst/>
          </a:prstGeom>
          <a:noFill/>
        </p:spPr>
        <p:txBody>
          <a:bodyPr wrap="square" lIns="0" rIns="0" tIns="0" bIns="0" anchor="t">
            <a:spAutoFit/>
          </a:bodyPr>
          <a:lstStyle/>
          <a:p>
            <a:pPr algn="l"/>
            <a:r>
              <a:rPr sz="1200" b="1" i="1">
                <a:solidFill>
                  <a:srgbClr val="3A6EA5"/>
                </a:solidFill>
                <a:latin typeface="Aptos"/>
                <a:ea typeface="Yu Gothic"/>
                <a:cs typeface="Aptos"/>
              </a:rPr>
              <a:t>“ インパクトとリターンは対立ではなく相関する。 ”</a:t>
            </a:r>
          </a:p>
        </p:txBody>
      </p:sp>
      <p:sp>
        <p:nvSpPr>
          <p:cNvPr id="19" name="TextBox 18"/>
          <p:cNvSpPr txBox="1"/>
          <p:nvPr/>
        </p:nvSpPr>
        <p:spPr>
          <a:xfrm>
            <a:off x="8101583" y="1828800"/>
            <a:ext cx="3657600" cy="457200"/>
          </a:xfrm>
          <a:prstGeom prst="rect">
            <a:avLst/>
          </a:prstGeom>
          <a:noFill/>
        </p:spPr>
        <p:txBody>
          <a:bodyPr wrap="square" lIns="0" rIns="0" tIns="0" bIns="0" anchor="t">
            <a:spAutoFit/>
          </a:bodyPr>
          <a:lstStyle/>
          <a:p>
            <a:pPr algn="l"/>
            <a:r>
              <a:rPr sz="1100" b="1" i="0" spc="200">
                <a:solidFill>
                  <a:srgbClr val="5FA8D3"/>
                </a:solidFill>
                <a:latin typeface="Aptos"/>
                <a:ea typeface="Yu Gothic"/>
                <a:cs typeface="Aptos"/>
              </a:rPr>
              <a:t>03</a:t>
            </a:r>
          </a:p>
        </p:txBody>
      </p:sp>
      <p:sp>
        <p:nvSpPr>
          <p:cNvPr id="20" name="Rectangle 19"/>
          <p:cNvSpPr/>
          <p:nvPr/>
        </p:nvSpPr>
        <p:spPr>
          <a:xfrm>
            <a:off x="8101583" y="2148840"/>
            <a:ext cx="365760" cy="25400"/>
          </a:xfrm>
          <a:prstGeom prst="rect">
            <a:avLst/>
          </a:prstGeom>
          <a:solidFill>
            <a:srgbClr val="5FA8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01583" y="2331720"/>
            <a:ext cx="3657600" cy="822960"/>
          </a:xfrm>
          <a:prstGeom prst="rect">
            <a:avLst/>
          </a:prstGeom>
          <a:noFill/>
        </p:spPr>
        <p:txBody>
          <a:bodyPr wrap="square" lIns="0" rIns="0" tIns="0" bIns="0" anchor="t">
            <a:spAutoFit/>
          </a:bodyPr>
          <a:lstStyle/>
          <a:p>
            <a:pPr algn="l"/>
            <a:r>
              <a:rPr sz="1600" b="1" i="0">
                <a:solidFill>
                  <a:srgbClr val="0F2747"/>
                </a:solidFill>
                <a:latin typeface="Aptos"/>
                <a:ea typeface="Yu Gothic"/>
                <a:cs typeface="Aptos"/>
              </a:rPr>
              <a:t>Value Creation Platform</a:t>
            </a:r>
          </a:p>
        </p:txBody>
      </p:sp>
      <p:sp>
        <p:nvSpPr>
          <p:cNvPr id="22" name="TextBox 21"/>
          <p:cNvSpPr txBox="1"/>
          <p:nvPr/>
        </p:nvSpPr>
        <p:spPr>
          <a:xfrm>
            <a:off x="8101583" y="3200400"/>
            <a:ext cx="3657600" cy="2377440"/>
          </a:xfrm>
          <a:prstGeom prst="rect">
            <a:avLst/>
          </a:prstGeom>
          <a:noFill/>
        </p:spPr>
        <p:txBody>
          <a:bodyPr wrap="square" lIns="0" rIns="0" tIns="0" bIns="0" anchor="t">
            <a:spAutoFit/>
          </a:bodyPr>
          <a:lstStyle/>
          <a:p>
            <a:pPr algn="l"/>
            <a:r>
              <a:rPr sz="1100" b="0" i="0">
                <a:solidFill>
                  <a:srgbClr val="1F1F1F"/>
                </a:solidFill>
                <a:latin typeface="Aptos"/>
                <a:ea typeface="Yu Gothic"/>
                <a:cs typeface="Aptos"/>
              </a:rPr>
              <a:t>GPの実行支援（ガバナンス・財務戦略・市場変更・M&amp;A・人材）が、Pre-IPOから上場後の本格成長までを連続支援する。</a:t>
            </a:r>
          </a:p>
        </p:txBody>
      </p:sp>
      <p:sp>
        <p:nvSpPr>
          <p:cNvPr id="23" name="TextBox 22"/>
          <p:cNvSpPr txBox="1"/>
          <p:nvPr/>
        </p:nvSpPr>
        <p:spPr>
          <a:xfrm>
            <a:off x="8101583" y="5349240"/>
            <a:ext cx="3657600" cy="914400"/>
          </a:xfrm>
          <a:prstGeom prst="rect">
            <a:avLst/>
          </a:prstGeom>
          <a:noFill/>
        </p:spPr>
        <p:txBody>
          <a:bodyPr wrap="square" lIns="0" rIns="0" tIns="0" bIns="0" anchor="t">
            <a:spAutoFit/>
          </a:bodyPr>
          <a:lstStyle/>
          <a:p>
            <a:pPr algn="l"/>
            <a:r>
              <a:rPr sz="1200" b="1" i="1">
                <a:solidFill>
                  <a:srgbClr val="3A6EA5"/>
                </a:solidFill>
                <a:latin typeface="Aptos"/>
                <a:ea typeface="Yu Gothic"/>
                <a:cs typeface="Aptos"/>
              </a:rPr>
              <a:t>“ 資本に運営を、運営に資本を載せる。 ”</a:t>
            </a:r>
          </a:p>
        </p:txBody>
      </p:sp>
      <p:sp>
        <p:nvSpPr>
          <p:cNvPr id="24" name="TextBox 23"/>
          <p:cNvSpPr txBox="1"/>
          <p:nvPr/>
        </p:nvSpPr>
        <p:spPr>
          <a:xfrm>
            <a:off x="548640" y="5989320"/>
            <a:ext cx="11091672" cy="274320"/>
          </a:xfrm>
          <a:prstGeom prst="rect">
            <a:avLst/>
          </a:prstGeom>
          <a:noFill/>
        </p:spPr>
        <p:txBody>
          <a:bodyPr wrap="square" lIns="0" rIns="0" tIns="0" bIns="0" anchor="t">
            <a:spAutoFit/>
          </a:bodyPr>
          <a:lstStyle/>
          <a:p>
            <a:pPr algn="l"/>
            <a:r>
              <a:rPr sz="800" b="0" i="1">
                <a:solidFill>
                  <a:srgbClr val="6E7783"/>
                </a:solidFill>
                <a:latin typeface="Aptos"/>
                <a:ea typeface="Yu Gothic"/>
                <a:cs typeface="Aptos"/>
              </a:rPr>
              <a:t>Source: Tohoku Frontier Impact Capital analysis based on public statistics (MIC, MHLW, METI, Sendai City, Tohoku University).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7315200" cy="274320"/>
          </a:xfrm>
          <a:prstGeom prst="rect">
            <a:avLst/>
          </a:prstGeom>
          <a:noFill/>
        </p:spPr>
        <p:txBody>
          <a:bodyPr wrap="square" lIns="0" rIns="0" tIns="0" bIns="0" anchor="t">
            <a:spAutoFit/>
          </a:bodyPr>
          <a:lstStyle/>
          <a:p>
            <a:pPr algn="l"/>
            <a:r>
              <a:rPr sz="900" b="1" i="0" spc="200">
                <a:solidFill>
                  <a:srgbClr val="5FA8D3"/>
                </a:solidFill>
                <a:latin typeface="Aptos"/>
                <a:ea typeface="Yu Gothic"/>
                <a:cs typeface="Aptos"/>
              </a:rPr>
              <a:t>MARKET OPPORTUNITY</a:t>
            </a:r>
          </a:p>
        </p:txBody>
      </p:sp>
      <p:sp>
        <p:nvSpPr>
          <p:cNvPr id="3" name="TextBox 2"/>
          <p:cNvSpPr txBox="1"/>
          <p:nvPr/>
        </p:nvSpPr>
        <p:spPr>
          <a:xfrm>
            <a:off x="5029200" y="411480"/>
            <a:ext cx="6583680" cy="274320"/>
          </a:xfrm>
          <a:prstGeom prst="rect">
            <a:avLst/>
          </a:prstGeom>
          <a:noFill/>
        </p:spPr>
        <p:txBody>
          <a:bodyPr wrap="square" lIns="0" rIns="0" tIns="0" bIns="0" anchor="t">
            <a:spAutoFit/>
          </a:bodyPr>
          <a:lstStyle/>
          <a:p>
            <a:pPr algn="r"/>
            <a:r>
              <a:rPr sz="850" b="1" i="0" spc="150">
                <a:solidFill>
                  <a:srgbClr val="6E7783"/>
                </a:solidFill>
                <a:latin typeface="Aptos"/>
                <a:ea typeface="Yu Gothic"/>
                <a:cs typeface="Aptos"/>
              </a:rPr>
              <a:t>TOHOKU FRONTIER IMPACT CAPITAL</a:t>
            </a:r>
          </a:p>
        </p:txBody>
      </p:sp>
      <p:sp>
        <p:nvSpPr>
          <p:cNvPr id="4" name="TextBox 3"/>
          <p:cNvSpPr txBox="1"/>
          <p:nvPr/>
        </p:nvSpPr>
        <p:spPr>
          <a:xfrm>
            <a:off x="548640" y="713232"/>
            <a:ext cx="11091672" cy="777240"/>
          </a:xfrm>
          <a:prstGeom prst="rect">
            <a:avLst/>
          </a:prstGeom>
          <a:noFill/>
        </p:spPr>
        <p:txBody>
          <a:bodyPr wrap="square" lIns="0" rIns="0" tIns="0" bIns="0" anchor="t">
            <a:spAutoFit/>
          </a:bodyPr>
          <a:lstStyle/>
          <a:p>
            <a:pPr algn="l"/>
            <a:r>
              <a:rPr sz="2600" b="1" i="0">
                <a:solidFill>
                  <a:srgbClr val="0F2747"/>
                </a:solidFill>
                <a:latin typeface="Aptos"/>
                <a:ea typeface="Yu Gothic"/>
                <a:cs typeface="Aptos"/>
              </a:rPr>
              <a:t>東北の市場機会：課題密度 = 機会密度</a:t>
            </a:r>
          </a:p>
        </p:txBody>
      </p:sp>
      <p:sp>
        <p:nvSpPr>
          <p:cNvPr id="5" name="Rectangle 4"/>
          <p:cNvSpPr/>
          <p:nvPr/>
        </p:nvSpPr>
        <p:spPr>
          <a:xfrm>
            <a:off x="548640" y="1536192"/>
            <a:ext cx="731520" cy="31750"/>
          </a:xfrm>
          <a:prstGeom prst="rect">
            <a:avLst/>
          </a:prstGeom>
          <a:solidFill>
            <a:srgbClr val="5FA8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364224"/>
            <a:ext cx="11091672" cy="10972"/>
          </a:xfrm>
          <a:prstGeom prst="rect">
            <a:avLst/>
          </a:prstGeom>
          <a:solidFill>
            <a:srgbClr val="CF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46520"/>
            <a:ext cx="5486400" cy="274320"/>
          </a:xfrm>
          <a:prstGeom prst="rect">
            <a:avLst/>
          </a:prstGeom>
          <a:noFill/>
        </p:spPr>
        <p:txBody>
          <a:bodyPr wrap="square" lIns="0" rIns="0" tIns="0" bIns="0" anchor="t">
            <a:spAutoFit/>
          </a:bodyPr>
          <a:lstStyle/>
          <a:p>
            <a:pPr algn="l"/>
            <a:r>
              <a:rPr sz="750" b="1" i="0" spc="180">
                <a:solidFill>
                  <a:srgbClr val="6E7783"/>
                </a:solidFill>
                <a:latin typeface="Aptos"/>
                <a:ea typeface="Yu Gothic"/>
                <a:cs typeface="Aptos"/>
              </a:rPr>
              <a:t>STRICTLY PRIVATE &amp; CONFIDENTIAL  |  FOR DISCUSSION PURPOSES ONLY</a:t>
            </a:r>
          </a:p>
        </p:txBody>
      </p:sp>
      <p:sp>
        <p:nvSpPr>
          <p:cNvPr id="8" name="TextBox 7"/>
          <p:cNvSpPr txBox="1"/>
          <p:nvPr/>
        </p:nvSpPr>
        <p:spPr>
          <a:xfrm>
            <a:off x="8229600" y="6446520"/>
            <a:ext cx="3410712" cy="274320"/>
          </a:xfrm>
          <a:prstGeom prst="rect">
            <a:avLst/>
          </a:prstGeom>
          <a:noFill/>
        </p:spPr>
        <p:txBody>
          <a:bodyPr wrap="square" lIns="0" rIns="0" tIns="0" bIns="0" anchor="t">
            <a:spAutoFit/>
          </a:bodyPr>
          <a:lstStyle/>
          <a:p>
            <a:pPr algn="r"/>
            <a:r>
              <a:rPr sz="800" b="1" i="0" spc="120">
                <a:solidFill>
                  <a:srgbClr val="0F2747"/>
                </a:solidFill>
                <a:latin typeface="Aptos"/>
                <a:ea typeface="Yu Gothic"/>
                <a:cs typeface="Aptos"/>
              </a:rPr>
              <a:t>04 / 16</a:t>
            </a:r>
          </a:p>
        </p:txBody>
      </p:sp>
      <p:sp>
        <p:nvSpPr>
          <p:cNvPr id="9" name="Rectangle 8"/>
          <p:cNvSpPr/>
          <p:nvPr/>
        </p:nvSpPr>
        <p:spPr>
          <a:xfrm>
            <a:off x="548640" y="1828800"/>
            <a:ext cx="2697480" cy="1143000"/>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993392"/>
            <a:ext cx="2423160" cy="274320"/>
          </a:xfrm>
          <a:prstGeom prst="rect">
            <a:avLst/>
          </a:prstGeom>
          <a:noFill/>
        </p:spPr>
        <p:txBody>
          <a:bodyPr wrap="square" lIns="0" rIns="0" tIns="0" bIns="0" anchor="t">
            <a:spAutoFit/>
          </a:bodyPr>
          <a:lstStyle/>
          <a:p>
            <a:pPr algn="l"/>
            <a:r>
              <a:rPr sz="850" b="1" i="0" spc="180">
                <a:solidFill>
                  <a:srgbClr val="6E7783"/>
                </a:solidFill>
                <a:latin typeface="Aptos"/>
                <a:ea typeface="Yu Gothic"/>
                <a:cs typeface="Aptos"/>
              </a:rPr>
              <a:t>POPULATION (TOHOKU 6)</a:t>
            </a:r>
          </a:p>
        </p:txBody>
      </p:sp>
      <p:sp>
        <p:nvSpPr>
          <p:cNvPr id="11" name="TextBox 10"/>
          <p:cNvSpPr txBox="1"/>
          <p:nvPr/>
        </p:nvSpPr>
        <p:spPr>
          <a:xfrm>
            <a:off x="685800" y="2286000"/>
            <a:ext cx="2423160" cy="502920"/>
          </a:xfrm>
          <a:prstGeom prst="rect">
            <a:avLst/>
          </a:prstGeom>
          <a:noFill/>
        </p:spPr>
        <p:txBody>
          <a:bodyPr wrap="square" lIns="0" rIns="0" tIns="0" bIns="0" anchor="t">
            <a:spAutoFit/>
          </a:bodyPr>
          <a:lstStyle/>
          <a:p>
            <a:pPr algn="l"/>
            <a:r>
              <a:rPr sz="2200" b="1" i="0">
                <a:solidFill>
                  <a:srgbClr val="0F2747"/>
                </a:solidFill>
                <a:latin typeface="Aptos"/>
                <a:ea typeface="Yu Gothic"/>
                <a:cs typeface="Aptos"/>
              </a:rPr>
              <a:t>8.5 M</a:t>
            </a:r>
          </a:p>
        </p:txBody>
      </p:sp>
      <p:sp>
        <p:nvSpPr>
          <p:cNvPr id="12" name="TextBox 11"/>
          <p:cNvSpPr txBox="1"/>
          <p:nvPr/>
        </p:nvSpPr>
        <p:spPr>
          <a:xfrm>
            <a:off x="685800" y="2560320"/>
            <a:ext cx="2423160" cy="274320"/>
          </a:xfrm>
          <a:prstGeom prst="rect">
            <a:avLst/>
          </a:prstGeom>
          <a:noFill/>
        </p:spPr>
        <p:txBody>
          <a:bodyPr wrap="square" lIns="0" rIns="0" tIns="0" bIns="0" anchor="t">
            <a:spAutoFit/>
          </a:bodyPr>
          <a:lstStyle/>
          <a:p>
            <a:pPr algn="l"/>
            <a:r>
              <a:rPr sz="850" b="0" i="0">
                <a:solidFill>
                  <a:srgbClr val="6E7783"/>
                </a:solidFill>
                <a:latin typeface="Aptos"/>
                <a:ea typeface="Yu Gothic"/>
                <a:cs typeface="Aptos"/>
              </a:rPr>
              <a:t>全国比約6.8%</a:t>
            </a:r>
          </a:p>
        </p:txBody>
      </p:sp>
      <p:sp>
        <p:nvSpPr>
          <p:cNvPr id="13" name="Rectangle 12"/>
          <p:cNvSpPr/>
          <p:nvPr/>
        </p:nvSpPr>
        <p:spPr>
          <a:xfrm>
            <a:off x="3383280" y="1828800"/>
            <a:ext cx="2697480" cy="1143000"/>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20440" y="1993392"/>
            <a:ext cx="2423160" cy="274320"/>
          </a:xfrm>
          <a:prstGeom prst="rect">
            <a:avLst/>
          </a:prstGeom>
          <a:noFill/>
        </p:spPr>
        <p:txBody>
          <a:bodyPr wrap="square" lIns="0" rIns="0" tIns="0" bIns="0" anchor="t">
            <a:spAutoFit/>
          </a:bodyPr>
          <a:lstStyle/>
          <a:p>
            <a:pPr algn="l"/>
            <a:r>
              <a:rPr sz="850" b="1" i="0" spc="180">
                <a:solidFill>
                  <a:srgbClr val="6E7783"/>
                </a:solidFill>
                <a:latin typeface="Aptos"/>
                <a:ea typeface="Yu Gothic"/>
                <a:cs typeface="Aptos"/>
              </a:rPr>
              <a:t>REGIONAL GDP</a:t>
            </a:r>
          </a:p>
        </p:txBody>
      </p:sp>
      <p:sp>
        <p:nvSpPr>
          <p:cNvPr id="15" name="TextBox 14"/>
          <p:cNvSpPr txBox="1"/>
          <p:nvPr/>
        </p:nvSpPr>
        <p:spPr>
          <a:xfrm>
            <a:off x="3520440" y="2286000"/>
            <a:ext cx="2423160" cy="502920"/>
          </a:xfrm>
          <a:prstGeom prst="rect">
            <a:avLst/>
          </a:prstGeom>
          <a:noFill/>
        </p:spPr>
        <p:txBody>
          <a:bodyPr wrap="square" lIns="0" rIns="0" tIns="0" bIns="0" anchor="t">
            <a:spAutoFit/>
          </a:bodyPr>
          <a:lstStyle/>
          <a:p>
            <a:pPr algn="l"/>
            <a:r>
              <a:rPr sz="2200" b="1" i="0">
                <a:solidFill>
                  <a:srgbClr val="0F2747"/>
                </a:solidFill>
                <a:latin typeface="Aptos"/>
                <a:ea typeface="Yu Gothic"/>
                <a:cs typeface="Aptos"/>
              </a:rPr>
              <a:t>¥34 TN</a:t>
            </a:r>
          </a:p>
        </p:txBody>
      </p:sp>
      <p:sp>
        <p:nvSpPr>
          <p:cNvPr id="16" name="TextBox 15"/>
          <p:cNvSpPr txBox="1"/>
          <p:nvPr/>
        </p:nvSpPr>
        <p:spPr>
          <a:xfrm>
            <a:off x="3520440" y="2560320"/>
            <a:ext cx="2423160" cy="274320"/>
          </a:xfrm>
          <a:prstGeom prst="rect">
            <a:avLst/>
          </a:prstGeom>
          <a:noFill/>
        </p:spPr>
        <p:txBody>
          <a:bodyPr wrap="square" lIns="0" rIns="0" tIns="0" bIns="0" anchor="t">
            <a:spAutoFit/>
          </a:bodyPr>
          <a:lstStyle/>
          <a:p>
            <a:pPr algn="l"/>
            <a:r>
              <a:rPr sz="850" b="0" i="0">
                <a:solidFill>
                  <a:srgbClr val="6E7783"/>
                </a:solidFill>
                <a:latin typeface="Aptos"/>
                <a:ea typeface="Yu Gothic"/>
                <a:cs typeface="Aptos"/>
              </a:rPr>
              <a:t>全国比約6.0%</a:t>
            </a:r>
          </a:p>
        </p:txBody>
      </p:sp>
      <p:sp>
        <p:nvSpPr>
          <p:cNvPr id="17" name="Rectangle 16"/>
          <p:cNvSpPr/>
          <p:nvPr/>
        </p:nvSpPr>
        <p:spPr>
          <a:xfrm>
            <a:off x="6217920" y="1828800"/>
            <a:ext cx="2697480" cy="1143000"/>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080" y="1993392"/>
            <a:ext cx="2423160" cy="274320"/>
          </a:xfrm>
          <a:prstGeom prst="rect">
            <a:avLst/>
          </a:prstGeom>
          <a:noFill/>
        </p:spPr>
        <p:txBody>
          <a:bodyPr wrap="square" lIns="0" rIns="0" tIns="0" bIns="0" anchor="t">
            <a:spAutoFit/>
          </a:bodyPr>
          <a:lstStyle/>
          <a:p>
            <a:pPr algn="l"/>
            <a:r>
              <a:rPr sz="850" b="1" i="0" spc="180">
                <a:solidFill>
                  <a:srgbClr val="6E7783"/>
                </a:solidFill>
                <a:latin typeface="Aptos"/>
                <a:ea typeface="Yu Gothic"/>
                <a:cs typeface="Aptos"/>
              </a:rPr>
              <a:t>STARTUP FUNDING SHARE</a:t>
            </a:r>
          </a:p>
        </p:txBody>
      </p:sp>
      <p:sp>
        <p:nvSpPr>
          <p:cNvPr id="19" name="TextBox 18"/>
          <p:cNvSpPr txBox="1"/>
          <p:nvPr/>
        </p:nvSpPr>
        <p:spPr>
          <a:xfrm>
            <a:off x="6355080" y="2286000"/>
            <a:ext cx="2423160" cy="502920"/>
          </a:xfrm>
          <a:prstGeom prst="rect">
            <a:avLst/>
          </a:prstGeom>
          <a:noFill/>
        </p:spPr>
        <p:txBody>
          <a:bodyPr wrap="square" lIns="0" rIns="0" tIns="0" bIns="0" anchor="t">
            <a:spAutoFit/>
          </a:bodyPr>
          <a:lstStyle/>
          <a:p>
            <a:pPr algn="l"/>
            <a:r>
              <a:rPr sz="2200" b="1" i="0">
                <a:solidFill>
                  <a:srgbClr val="0F2747"/>
                </a:solidFill>
                <a:latin typeface="Aptos"/>
                <a:ea typeface="Yu Gothic"/>
                <a:cs typeface="Aptos"/>
              </a:rPr>
              <a:t>1–2 %</a:t>
            </a:r>
          </a:p>
        </p:txBody>
      </p:sp>
      <p:sp>
        <p:nvSpPr>
          <p:cNvPr id="20" name="TextBox 19"/>
          <p:cNvSpPr txBox="1"/>
          <p:nvPr/>
        </p:nvSpPr>
        <p:spPr>
          <a:xfrm>
            <a:off x="6355080" y="2560320"/>
            <a:ext cx="2423160" cy="274320"/>
          </a:xfrm>
          <a:prstGeom prst="rect">
            <a:avLst/>
          </a:prstGeom>
          <a:noFill/>
        </p:spPr>
        <p:txBody>
          <a:bodyPr wrap="square" lIns="0" rIns="0" tIns="0" bIns="0" anchor="t">
            <a:spAutoFit/>
          </a:bodyPr>
          <a:lstStyle/>
          <a:p>
            <a:pPr algn="l"/>
            <a:r>
              <a:rPr sz="850" b="0" i="0">
                <a:solidFill>
                  <a:srgbClr val="6E7783"/>
                </a:solidFill>
                <a:latin typeface="Aptos"/>
                <a:ea typeface="Yu Gothic"/>
                <a:cs typeface="Aptos"/>
              </a:rPr>
              <a:t>全国調達総額対比（過少）</a:t>
            </a:r>
          </a:p>
        </p:txBody>
      </p:sp>
      <p:sp>
        <p:nvSpPr>
          <p:cNvPr id="21" name="Rectangle 20"/>
          <p:cNvSpPr/>
          <p:nvPr/>
        </p:nvSpPr>
        <p:spPr>
          <a:xfrm>
            <a:off x="9052560" y="1828800"/>
            <a:ext cx="2606040" cy="1143000"/>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89720" y="1993392"/>
            <a:ext cx="2331720" cy="274320"/>
          </a:xfrm>
          <a:prstGeom prst="rect">
            <a:avLst/>
          </a:prstGeom>
          <a:noFill/>
        </p:spPr>
        <p:txBody>
          <a:bodyPr wrap="square" lIns="0" rIns="0" tIns="0" bIns="0" anchor="t">
            <a:spAutoFit/>
          </a:bodyPr>
          <a:lstStyle/>
          <a:p>
            <a:pPr algn="l"/>
            <a:r>
              <a:rPr sz="850" b="1" i="0" spc="180">
                <a:solidFill>
                  <a:srgbClr val="6E7783"/>
                </a:solidFill>
                <a:latin typeface="Aptos"/>
                <a:ea typeface="Yu Gothic"/>
                <a:cs typeface="Aptos"/>
              </a:rPr>
              <a:t>AGING RATIO (65+)</a:t>
            </a:r>
          </a:p>
        </p:txBody>
      </p:sp>
      <p:sp>
        <p:nvSpPr>
          <p:cNvPr id="23" name="TextBox 22"/>
          <p:cNvSpPr txBox="1"/>
          <p:nvPr/>
        </p:nvSpPr>
        <p:spPr>
          <a:xfrm>
            <a:off x="9189720" y="2286000"/>
            <a:ext cx="2331720" cy="502920"/>
          </a:xfrm>
          <a:prstGeom prst="rect">
            <a:avLst/>
          </a:prstGeom>
          <a:noFill/>
        </p:spPr>
        <p:txBody>
          <a:bodyPr wrap="square" lIns="0" rIns="0" tIns="0" bIns="0" anchor="t">
            <a:spAutoFit/>
          </a:bodyPr>
          <a:lstStyle/>
          <a:p>
            <a:pPr algn="l"/>
            <a:r>
              <a:rPr sz="2200" b="1" i="0">
                <a:solidFill>
                  <a:srgbClr val="0F2747"/>
                </a:solidFill>
                <a:latin typeface="Aptos"/>
                <a:ea typeface="Yu Gothic"/>
                <a:cs typeface="Aptos"/>
              </a:rPr>
              <a:t>33 %</a:t>
            </a:r>
          </a:p>
        </p:txBody>
      </p:sp>
      <p:sp>
        <p:nvSpPr>
          <p:cNvPr id="24" name="TextBox 23"/>
          <p:cNvSpPr txBox="1"/>
          <p:nvPr/>
        </p:nvSpPr>
        <p:spPr>
          <a:xfrm>
            <a:off x="9189720" y="2560320"/>
            <a:ext cx="2331720" cy="274320"/>
          </a:xfrm>
          <a:prstGeom prst="rect">
            <a:avLst/>
          </a:prstGeom>
          <a:noFill/>
        </p:spPr>
        <p:txBody>
          <a:bodyPr wrap="square" lIns="0" rIns="0" tIns="0" bIns="0" anchor="t">
            <a:spAutoFit/>
          </a:bodyPr>
          <a:lstStyle/>
          <a:p>
            <a:pPr algn="l"/>
            <a:r>
              <a:rPr sz="850" b="0" i="0">
                <a:solidFill>
                  <a:srgbClr val="6E7783"/>
                </a:solidFill>
                <a:latin typeface="Aptos"/>
                <a:ea typeface="Yu Gothic"/>
                <a:cs typeface="Aptos"/>
              </a:rPr>
              <a:t>全国平均を上回る</a:t>
            </a:r>
          </a:p>
        </p:txBody>
      </p:sp>
      <p:sp>
        <p:nvSpPr>
          <p:cNvPr id="25" name="TextBox 24"/>
          <p:cNvSpPr txBox="1"/>
          <p:nvPr/>
        </p:nvSpPr>
        <p:spPr>
          <a:xfrm>
            <a:off x="548640" y="3246120"/>
            <a:ext cx="5577840" cy="320040"/>
          </a:xfrm>
          <a:prstGeom prst="rect">
            <a:avLst/>
          </a:prstGeom>
          <a:noFill/>
        </p:spPr>
        <p:txBody>
          <a:bodyPr wrap="square" lIns="0" rIns="0" tIns="0" bIns="0" anchor="t">
            <a:spAutoFit/>
          </a:bodyPr>
          <a:lstStyle/>
          <a:p>
            <a:pPr algn="l"/>
            <a:r>
              <a:rPr sz="1000" b="1" i="0" spc="200">
                <a:solidFill>
                  <a:srgbClr val="5FA8D3"/>
                </a:solidFill>
                <a:latin typeface="Aptos"/>
                <a:ea typeface="Yu Gothic"/>
                <a:cs typeface="Aptos"/>
              </a:rPr>
              <a:t>STRUCTURAL DRIVERS</a:t>
            </a:r>
          </a:p>
        </p:txBody>
      </p:sp>
      <p:sp>
        <p:nvSpPr>
          <p:cNvPr id="26" name="TextBox 25"/>
          <p:cNvSpPr txBox="1"/>
          <p:nvPr/>
        </p:nvSpPr>
        <p:spPr>
          <a:xfrm>
            <a:off x="548640" y="3611880"/>
            <a:ext cx="5577840" cy="2743200"/>
          </a:xfrm>
          <a:prstGeom prst="rect">
            <a:avLst/>
          </a:prstGeom>
          <a:noFill/>
        </p:spPr>
        <p:txBody>
          <a:bodyPr wrap="square" lIns="0" rIns="0" tIns="0" bIns="0">
            <a:spAutoFit/>
          </a:bodyPr>
          <a:lstStyle/>
          <a:p>
            <a:pPr algn="l">
              <a:lnSpc>
                <a:spcPct val="135000"/>
              </a:lnSpc>
              <a:spcAft>
                <a:spcPts val="300"/>
              </a:spcAft>
            </a:pPr>
            <a:r>
              <a:rPr sz="950" b="1" i="0">
                <a:solidFill>
                  <a:srgbClr val="5FA8D3"/>
                </a:solidFill>
                <a:latin typeface="Aptos"/>
                <a:ea typeface="Yu Gothic"/>
                <a:cs typeface="Aptos"/>
              </a:rPr>
              <a:t>■ </a:t>
            </a:r>
            <a:r>
              <a:rPr sz="1150" b="1" i="0">
                <a:solidFill>
                  <a:srgbClr val="0F2747"/>
                </a:solidFill>
                <a:latin typeface="Aptos"/>
                <a:ea typeface="Yu Gothic"/>
                <a:cs typeface="Aptos"/>
              </a:rPr>
              <a:t>法定雇用率の段階引き上げ </a:t>
            </a:r>
            <a:r>
              <a:rPr sz="1150" b="0" i="0">
                <a:solidFill>
                  <a:srgbClr val="1F1F1F"/>
                </a:solidFill>
                <a:latin typeface="Aptos"/>
                <a:ea typeface="Yu Gothic"/>
                <a:cs typeface="Aptos"/>
              </a:rPr>
              <a:t>  2.3%→2.5%（2024/4）→2.7%（2026/7）。障害者就労支援への構造的需要拡大。</a:t>
            </a:r>
          </a:p>
          <a:p>
            <a:pPr algn="l">
              <a:lnSpc>
                <a:spcPct val="135000"/>
              </a:lnSpc>
              <a:spcAft>
                <a:spcPts val="300"/>
              </a:spcAft>
            </a:pPr>
            <a:r>
              <a:rPr sz="950" b="1" i="0">
                <a:solidFill>
                  <a:srgbClr val="5FA8D3"/>
                </a:solidFill>
                <a:latin typeface="Aptos"/>
                <a:ea typeface="Yu Gothic"/>
                <a:cs typeface="Aptos"/>
              </a:rPr>
              <a:t>■ </a:t>
            </a:r>
            <a:r>
              <a:rPr sz="1150" b="1" i="0">
                <a:solidFill>
                  <a:srgbClr val="0F2747"/>
                </a:solidFill>
                <a:latin typeface="Aptos"/>
                <a:ea typeface="Yu Gothic"/>
                <a:cs typeface="Aptos"/>
              </a:rPr>
              <a:t>超高齢社会の最前線 </a:t>
            </a:r>
            <a:r>
              <a:rPr sz="1150" b="0" i="0">
                <a:solidFill>
                  <a:srgbClr val="1F1F1F"/>
                </a:solidFill>
                <a:latin typeface="Aptos"/>
                <a:ea typeface="Yu Gothic"/>
                <a:cs typeface="Aptos"/>
              </a:rPr>
              <a:t>  高齢化率は全国平均を上回り、介護・在宅医療・地域包括ケアのDX余地が大きい。</a:t>
            </a:r>
          </a:p>
          <a:p>
            <a:pPr algn="l">
              <a:lnSpc>
                <a:spcPct val="135000"/>
              </a:lnSpc>
              <a:spcAft>
                <a:spcPts val="300"/>
              </a:spcAft>
            </a:pPr>
            <a:r>
              <a:rPr sz="950" b="1" i="0">
                <a:solidFill>
                  <a:srgbClr val="5FA8D3"/>
                </a:solidFill>
                <a:latin typeface="Aptos"/>
                <a:ea typeface="Yu Gothic"/>
                <a:cs typeface="Aptos"/>
              </a:rPr>
              <a:t>■ </a:t>
            </a:r>
            <a:r>
              <a:rPr sz="1150" b="1" i="0">
                <a:solidFill>
                  <a:srgbClr val="0F2747"/>
                </a:solidFill>
                <a:latin typeface="Aptos"/>
                <a:ea typeface="Yu Gothic"/>
                <a:cs typeface="Aptos"/>
              </a:rPr>
              <a:t>一次産業の高度化 </a:t>
            </a:r>
            <a:r>
              <a:rPr sz="1150" b="0" i="0">
                <a:solidFill>
                  <a:srgbClr val="1F1F1F"/>
                </a:solidFill>
                <a:latin typeface="Aptos"/>
                <a:ea typeface="Yu Gothic"/>
                <a:cs typeface="Aptos"/>
              </a:rPr>
              <a:t>  三陸水産、東北米穀、林業——アグリ・水産テックの実装フィールド。</a:t>
            </a:r>
          </a:p>
          <a:p>
            <a:pPr algn="l">
              <a:lnSpc>
                <a:spcPct val="135000"/>
              </a:lnSpc>
              <a:spcAft>
                <a:spcPts val="300"/>
              </a:spcAft>
            </a:pPr>
            <a:r>
              <a:rPr sz="950" b="1" i="0">
                <a:solidFill>
                  <a:srgbClr val="5FA8D3"/>
                </a:solidFill>
                <a:latin typeface="Aptos"/>
                <a:ea typeface="Yu Gothic"/>
                <a:cs typeface="Aptos"/>
              </a:rPr>
              <a:t>■ </a:t>
            </a:r>
            <a:r>
              <a:rPr sz="1150" b="1" i="0">
                <a:solidFill>
                  <a:srgbClr val="0F2747"/>
                </a:solidFill>
                <a:latin typeface="Aptos"/>
                <a:ea typeface="Yu Gothic"/>
                <a:cs typeface="Aptos"/>
              </a:rPr>
              <a:t>レジリエンス・人口流出 </a:t>
            </a:r>
            <a:r>
              <a:rPr sz="1150" b="0" i="0">
                <a:solidFill>
                  <a:srgbClr val="1F1F1F"/>
                </a:solidFill>
                <a:latin typeface="Aptos"/>
                <a:ea typeface="Yu Gothic"/>
                <a:cs typeface="Aptos"/>
              </a:rPr>
              <a:t>  防災・気候・人材流出対策の事業機会が、政策資金と民間ニーズの双方で増大。</a:t>
            </a:r>
          </a:p>
        </p:txBody>
      </p:sp>
      <p:sp>
        <p:nvSpPr>
          <p:cNvPr id="27" name="TextBox 26"/>
          <p:cNvSpPr txBox="1"/>
          <p:nvPr/>
        </p:nvSpPr>
        <p:spPr>
          <a:xfrm>
            <a:off x="6400800" y="3246120"/>
            <a:ext cx="5212080" cy="320040"/>
          </a:xfrm>
          <a:prstGeom prst="rect">
            <a:avLst/>
          </a:prstGeom>
          <a:noFill/>
        </p:spPr>
        <p:txBody>
          <a:bodyPr wrap="square" lIns="0" rIns="0" tIns="0" bIns="0" anchor="t">
            <a:spAutoFit/>
          </a:bodyPr>
          <a:lstStyle/>
          <a:p>
            <a:pPr algn="l"/>
            <a:r>
              <a:rPr sz="1000" b="1" i="0" spc="200">
                <a:solidFill>
                  <a:srgbClr val="5FA8D3"/>
                </a:solidFill>
                <a:latin typeface="Aptos"/>
                <a:ea typeface="Yu Gothic"/>
                <a:cs typeface="Aptos"/>
              </a:rPr>
              <a:t>CAPITAL GAP</a:t>
            </a:r>
          </a:p>
        </p:txBody>
      </p:sp>
      <p:sp>
        <p:nvSpPr>
          <p:cNvPr id="28" name="TextBox 27"/>
          <p:cNvSpPr txBox="1"/>
          <p:nvPr/>
        </p:nvSpPr>
        <p:spPr>
          <a:xfrm>
            <a:off x="6400800" y="3611880"/>
            <a:ext cx="5212080" cy="2743200"/>
          </a:xfrm>
          <a:prstGeom prst="rect">
            <a:avLst/>
          </a:prstGeom>
          <a:noFill/>
        </p:spPr>
        <p:txBody>
          <a:bodyPr wrap="square" lIns="0" rIns="0" tIns="0" bIns="0">
            <a:spAutoFit/>
          </a:bodyPr>
          <a:lstStyle/>
          <a:p>
            <a:pPr algn="l">
              <a:lnSpc>
                <a:spcPct val="135000"/>
              </a:lnSpc>
              <a:spcAft>
                <a:spcPts val="300"/>
              </a:spcAft>
            </a:pPr>
            <a:r>
              <a:rPr sz="950" b="1" i="0">
                <a:solidFill>
                  <a:srgbClr val="5FA8D3"/>
                </a:solidFill>
                <a:latin typeface="Aptos"/>
                <a:ea typeface="Yu Gothic"/>
                <a:cs typeface="Aptos"/>
              </a:rPr>
              <a:t>■ </a:t>
            </a:r>
            <a:r>
              <a:rPr sz="1150" b="1" i="0">
                <a:solidFill>
                  <a:srgbClr val="0F2747"/>
                </a:solidFill>
                <a:latin typeface="Aptos"/>
                <a:ea typeface="Yu Gothic"/>
                <a:cs typeface="Aptos"/>
              </a:rPr>
              <a:t>過少な成長資本 </a:t>
            </a:r>
            <a:r>
              <a:rPr sz="1150" b="0" i="0">
                <a:solidFill>
                  <a:srgbClr val="1F1F1F"/>
                </a:solidFill>
                <a:latin typeface="Aptos"/>
                <a:ea typeface="Yu Gothic"/>
                <a:cs typeface="Aptos"/>
              </a:rPr>
              <a:t>  国内VC調達の東京一極集中。東北のシード〜シリーズBで機関投資家規律の資本が不足。</a:t>
            </a:r>
          </a:p>
          <a:p>
            <a:pPr algn="l">
              <a:lnSpc>
                <a:spcPct val="135000"/>
              </a:lnSpc>
              <a:spcAft>
                <a:spcPts val="300"/>
              </a:spcAft>
            </a:pPr>
            <a:r>
              <a:rPr sz="950" b="1" i="0">
                <a:solidFill>
                  <a:srgbClr val="5FA8D3"/>
                </a:solidFill>
                <a:latin typeface="Aptos"/>
                <a:ea typeface="Yu Gothic"/>
                <a:cs typeface="Aptos"/>
              </a:rPr>
              <a:t>■ </a:t>
            </a:r>
            <a:r>
              <a:rPr sz="1150" b="1" i="0">
                <a:solidFill>
                  <a:srgbClr val="0F2747"/>
                </a:solidFill>
                <a:latin typeface="Aptos"/>
                <a:ea typeface="Yu Gothic"/>
                <a:cs typeface="Aptos"/>
              </a:rPr>
              <a:t>公的支援との接続 </a:t>
            </a:r>
            <a:r>
              <a:rPr sz="1150" b="0" i="0">
                <a:solidFill>
                  <a:srgbClr val="1F1F1F"/>
                </a:solidFill>
                <a:latin typeface="Aptos"/>
                <a:ea typeface="Yu Gothic"/>
                <a:cs typeface="Aptos"/>
              </a:rPr>
              <a:t>  仙台未来創造企業、J-Startup TOHOKU、スタートアップ・エコシステム拠点都市等の制度との接続余地。</a:t>
            </a:r>
          </a:p>
          <a:p>
            <a:pPr algn="l">
              <a:lnSpc>
                <a:spcPct val="135000"/>
              </a:lnSpc>
              <a:spcAft>
                <a:spcPts val="300"/>
              </a:spcAft>
            </a:pPr>
            <a:r>
              <a:rPr sz="950" b="1" i="0">
                <a:solidFill>
                  <a:srgbClr val="5FA8D3"/>
                </a:solidFill>
                <a:latin typeface="Aptos"/>
                <a:ea typeface="Yu Gothic"/>
                <a:cs typeface="Aptos"/>
              </a:rPr>
              <a:t>■ </a:t>
            </a:r>
            <a:r>
              <a:rPr sz="1150" b="1" i="0">
                <a:solidFill>
                  <a:srgbClr val="0F2747"/>
                </a:solidFill>
                <a:latin typeface="Aptos"/>
                <a:ea typeface="Yu Gothic"/>
                <a:cs typeface="Aptos"/>
              </a:rPr>
              <a:t>地方銀行との協調 </a:t>
            </a:r>
            <a:r>
              <a:rPr sz="1150" b="0" i="0">
                <a:solidFill>
                  <a:srgbClr val="1F1F1F"/>
                </a:solidFill>
                <a:latin typeface="Aptos"/>
                <a:ea typeface="Yu Gothic"/>
                <a:cs typeface="Aptos"/>
              </a:rPr>
              <a:t>  七十七・東邦・岩手・青森・荘内銀行等との案件創出・デット併用エクイティ提供。</a:t>
            </a:r>
          </a:p>
          <a:p>
            <a:pPr algn="l">
              <a:lnSpc>
                <a:spcPct val="135000"/>
              </a:lnSpc>
              <a:spcAft>
                <a:spcPts val="300"/>
              </a:spcAft>
            </a:pPr>
            <a:r>
              <a:rPr sz="950" b="1" i="0">
                <a:solidFill>
                  <a:srgbClr val="5FA8D3"/>
                </a:solidFill>
                <a:latin typeface="Aptos"/>
                <a:ea typeface="Yu Gothic"/>
                <a:cs typeface="Aptos"/>
              </a:rPr>
              <a:t>■ </a:t>
            </a:r>
            <a:r>
              <a:rPr sz="1150" b="1" i="0">
                <a:solidFill>
                  <a:srgbClr val="0F2747"/>
                </a:solidFill>
                <a:latin typeface="Aptos"/>
                <a:ea typeface="Yu Gothic"/>
                <a:cs typeface="Aptos"/>
              </a:rPr>
              <a:t>Exit経路の未整備 </a:t>
            </a:r>
            <a:r>
              <a:rPr sz="1150" b="0" i="0">
                <a:solidFill>
                  <a:srgbClr val="1F1F1F"/>
                </a:solidFill>
                <a:latin typeface="Aptos"/>
                <a:ea typeface="Yu Gothic"/>
                <a:cs typeface="Aptos"/>
              </a:rPr>
              <a:t>  TOKYO PRO Marketからの一般市場ステップアップ、上場前M&amp;A——GP関与が出口価値を左右。</a:t>
            </a:r>
          </a:p>
        </p:txBody>
      </p:sp>
      <p:sp>
        <p:nvSpPr>
          <p:cNvPr id="29" name="TextBox 28"/>
          <p:cNvSpPr txBox="1"/>
          <p:nvPr/>
        </p:nvSpPr>
        <p:spPr>
          <a:xfrm>
            <a:off x="548640" y="5989320"/>
            <a:ext cx="11091672" cy="274320"/>
          </a:xfrm>
          <a:prstGeom prst="rect">
            <a:avLst/>
          </a:prstGeom>
          <a:noFill/>
        </p:spPr>
        <p:txBody>
          <a:bodyPr wrap="square" lIns="0" rIns="0" tIns="0" bIns="0" anchor="t">
            <a:spAutoFit/>
          </a:bodyPr>
          <a:lstStyle/>
          <a:p>
            <a:pPr algn="l"/>
            <a:r>
              <a:rPr sz="800" b="0" i="1">
                <a:solidFill>
                  <a:srgbClr val="6E7783"/>
                </a:solidFill>
                <a:latin typeface="Aptos"/>
                <a:ea typeface="Yu Gothic"/>
                <a:cs typeface="Aptos"/>
              </a:rPr>
              <a:t>Source: Cabinet Office (Regional Economy), MIC Population Estimates, MHLW Disability Employment, INITIAL/STARTUP DB.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7315200" cy="274320"/>
          </a:xfrm>
          <a:prstGeom prst="rect">
            <a:avLst/>
          </a:prstGeom>
          <a:noFill/>
        </p:spPr>
        <p:txBody>
          <a:bodyPr wrap="square" lIns="0" rIns="0" tIns="0" bIns="0" anchor="t">
            <a:spAutoFit/>
          </a:bodyPr>
          <a:lstStyle/>
          <a:p>
            <a:pPr algn="l"/>
            <a:r>
              <a:rPr sz="900" b="1" i="0" spc="200">
                <a:solidFill>
                  <a:srgbClr val="5FA8D3"/>
                </a:solidFill>
                <a:latin typeface="Aptos"/>
                <a:ea typeface="Yu Gothic"/>
                <a:cs typeface="Aptos"/>
              </a:rPr>
              <a:t>STARTUP ECOSYSTEM</a:t>
            </a:r>
          </a:p>
        </p:txBody>
      </p:sp>
      <p:sp>
        <p:nvSpPr>
          <p:cNvPr id="3" name="TextBox 2"/>
          <p:cNvSpPr txBox="1"/>
          <p:nvPr/>
        </p:nvSpPr>
        <p:spPr>
          <a:xfrm>
            <a:off x="5029200" y="411480"/>
            <a:ext cx="6583680" cy="274320"/>
          </a:xfrm>
          <a:prstGeom prst="rect">
            <a:avLst/>
          </a:prstGeom>
          <a:noFill/>
        </p:spPr>
        <p:txBody>
          <a:bodyPr wrap="square" lIns="0" rIns="0" tIns="0" bIns="0" anchor="t">
            <a:spAutoFit/>
          </a:bodyPr>
          <a:lstStyle/>
          <a:p>
            <a:pPr algn="r"/>
            <a:r>
              <a:rPr sz="850" b="1" i="0" spc="150">
                <a:solidFill>
                  <a:srgbClr val="6E7783"/>
                </a:solidFill>
                <a:latin typeface="Aptos"/>
                <a:ea typeface="Yu Gothic"/>
                <a:cs typeface="Aptos"/>
              </a:rPr>
              <a:t>TOHOKU FRONTIER IMPACT CAPITAL</a:t>
            </a:r>
          </a:p>
        </p:txBody>
      </p:sp>
      <p:sp>
        <p:nvSpPr>
          <p:cNvPr id="4" name="TextBox 3"/>
          <p:cNvSpPr txBox="1"/>
          <p:nvPr/>
        </p:nvSpPr>
        <p:spPr>
          <a:xfrm>
            <a:off x="548640" y="713232"/>
            <a:ext cx="11091672" cy="777240"/>
          </a:xfrm>
          <a:prstGeom prst="rect">
            <a:avLst/>
          </a:prstGeom>
          <a:noFill/>
        </p:spPr>
        <p:txBody>
          <a:bodyPr wrap="square" lIns="0" rIns="0" tIns="0" bIns="0" anchor="t">
            <a:spAutoFit/>
          </a:bodyPr>
          <a:lstStyle/>
          <a:p>
            <a:pPr algn="l"/>
            <a:r>
              <a:rPr sz="2600" b="1" i="0">
                <a:solidFill>
                  <a:srgbClr val="0F2747"/>
                </a:solidFill>
                <a:latin typeface="Aptos"/>
                <a:ea typeface="Yu Gothic"/>
                <a:cs typeface="Aptos"/>
              </a:rPr>
              <a:t>東北スタートアップ・エコシステム：三位一体の構造</a:t>
            </a:r>
          </a:p>
        </p:txBody>
      </p:sp>
      <p:sp>
        <p:nvSpPr>
          <p:cNvPr id="5" name="Rectangle 4"/>
          <p:cNvSpPr/>
          <p:nvPr/>
        </p:nvSpPr>
        <p:spPr>
          <a:xfrm>
            <a:off x="548640" y="1536192"/>
            <a:ext cx="731520" cy="31750"/>
          </a:xfrm>
          <a:prstGeom prst="rect">
            <a:avLst/>
          </a:prstGeom>
          <a:solidFill>
            <a:srgbClr val="5FA8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364224"/>
            <a:ext cx="11091672" cy="10972"/>
          </a:xfrm>
          <a:prstGeom prst="rect">
            <a:avLst/>
          </a:prstGeom>
          <a:solidFill>
            <a:srgbClr val="CF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46520"/>
            <a:ext cx="5486400" cy="274320"/>
          </a:xfrm>
          <a:prstGeom prst="rect">
            <a:avLst/>
          </a:prstGeom>
          <a:noFill/>
        </p:spPr>
        <p:txBody>
          <a:bodyPr wrap="square" lIns="0" rIns="0" tIns="0" bIns="0" anchor="t">
            <a:spAutoFit/>
          </a:bodyPr>
          <a:lstStyle/>
          <a:p>
            <a:pPr algn="l"/>
            <a:r>
              <a:rPr sz="750" b="1" i="0" spc="180">
                <a:solidFill>
                  <a:srgbClr val="6E7783"/>
                </a:solidFill>
                <a:latin typeface="Aptos"/>
                <a:ea typeface="Yu Gothic"/>
                <a:cs typeface="Aptos"/>
              </a:rPr>
              <a:t>STRICTLY PRIVATE &amp; CONFIDENTIAL  |  FOR DISCUSSION PURPOSES ONLY</a:t>
            </a:r>
          </a:p>
        </p:txBody>
      </p:sp>
      <p:sp>
        <p:nvSpPr>
          <p:cNvPr id="8" name="TextBox 7"/>
          <p:cNvSpPr txBox="1"/>
          <p:nvPr/>
        </p:nvSpPr>
        <p:spPr>
          <a:xfrm>
            <a:off x="8229600" y="6446520"/>
            <a:ext cx="3410712" cy="274320"/>
          </a:xfrm>
          <a:prstGeom prst="rect">
            <a:avLst/>
          </a:prstGeom>
          <a:noFill/>
        </p:spPr>
        <p:txBody>
          <a:bodyPr wrap="square" lIns="0" rIns="0" tIns="0" bIns="0" anchor="t">
            <a:spAutoFit/>
          </a:bodyPr>
          <a:lstStyle/>
          <a:p>
            <a:pPr algn="r"/>
            <a:r>
              <a:rPr sz="800" b="1" i="0" spc="120">
                <a:solidFill>
                  <a:srgbClr val="0F2747"/>
                </a:solidFill>
                <a:latin typeface="Aptos"/>
                <a:ea typeface="Yu Gothic"/>
                <a:cs typeface="Aptos"/>
              </a:rPr>
              <a:t>05 / 16</a:t>
            </a:r>
          </a:p>
        </p:txBody>
      </p:sp>
      <p:sp>
        <p:nvSpPr>
          <p:cNvPr id="9" name="Rectangle 8"/>
          <p:cNvSpPr/>
          <p:nvPr/>
        </p:nvSpPr>
        <p:spPr>
          <a:xfrm>
            <a:off x="548640" y="1828800"/>
            <a:ext cx="3657600" cy="502920"/>
          </a:xfrm>
          <a:prstGeom prst="rect">
            <a:avLst/>
          </a:prstGeom>
          <a:solidFill>
            <a:srgbClr val="0F27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874519"/>
            <a:ext cx="3383280" cy="182880"/>
          </a:xfrm>
          <a:prstGeom prst="rect">
            <a:avLst/>
          </a:prstGeom>
          <a:noFill/>
        </p:spPr>
        <p:txBody>
          <a:bodyPr wrap="square" lIns="0" rIns="0" tIns="0" bIns="0" anchor="t">
            <a:spAutoFit/>
          </a:bodyPr>
          <a:lstStyle/>
          <a:p>
            <a:pPr algn="l"/>
            <a:r>
              <a:rPr sz="850" b="1" i="0" spc="250">
                <a:solidFill>
                  <a:srgbClr val="5FA8D3"/>
                </a:solidFill>
                <a:latin typeface="Aptos"/>
                <a:ea typeface="Yu Gothic"/>
                <a:cs typeface="Aptos"/>
              </a:rPr>
              <a:t>PUBLIC</a:t>
            </a:r>
          </a:p>
        </p:txBody>
      </p:sp>
      <p:sp>
        <p:nvSpPr>
          <p:cNvPr id="11" name="TextBox 10"/>
          <p:cNvSpPr txBox="1"/>
          <p:nvPr/>
        </p:nvSpPr>
        <p:spPr>
          <a:xfrm>
            <a:off x="685800" y="2075688"/>
            <a:ext cx="3383280" cy="274320"/>
          </a:xfrm>
          <a:prstGeom prst="rect">
            <a:avLst/>
          </a:prstGeom>
          <a:noFill/>
        </p:spPr>
        <p:txBody>
          <a:bodyPr wrap="square" lIns="0" rIns="0" tIns="0" bIns="0" anchor="t">
            <a:spAutoFit/>
          </a:bodyPr>
          <a:lstStyle/>
          <a:p>
            <a:pPr algn="l"/>
            <a:r>
              <a:rPr sz="1400" b="1" i="0">
                <a:solidFill>
                  <a:srgbClr val="FFFFFF"/>
                </a:solidFill>
                <a:latin typeface="Aptos"/>
                <a:ea typeface="Yu Gothic"/>
                <a:cs typeface="Aptos"/>
              </a:rPr>
              <a:t>公的セクター</a:t>
            </a:r>
          </a:p>
        </p:txBody>
      </p:sp>
      <p:sp>
        <p:nvSpPr>
          <p:cNvPr id="12" name="Rectangle 11"/>
          <p:cNvSpPr/>
          <p:nvPr/>
        </p:nvSpPr>
        <p:spPr>
          <a:xfrm>
            <a:off x="548640" y="2331720"/>
            <a:ext cx="3657600" cy="3657600"/>
          </a:xfrm>
          <a:prstGeom prst="rect">
            <a:avLst/>
          </a:prstGeom>
          <a:solidFill>
            <a:srgbClr val="FFFFFF"/>
          </a:solidFill>
          <a:ln w="6350">
            <a:solidFill>
              <a:srgbClr val="CF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2468880"/>
            <a:ext cx="3328416" cy="3429000"/>
          </a:xfrm>
          <a:prstGeom prst="rect">
            <a:avLst/>
          </a:prstGeom>
          <a:noFill/>
        </p:spPr>
        <p:txBody>
          <a:bodyPr wrap="square" lIns="0" rIns="0" tIns="0" bIns="0">
            <a:spAutoFit/>
          </a:bodyPr>
          <a:lstStyle/>
          <a:p>
            <a:pPr algn="l">
              <a:lnSpc>
                <a:spcPct val="140000"/>
              </a:lnSpc>
              <a:spcAft>
                <a:spcPts val="300"/>
              </a:spcAft>
            </a:pPr>
            <a:r>
              <a:rPr sz="850" b="1" i="0">
                <a:solidFill>
                  <a:srgbClr val="5FA8D3"/>
                </a:solidFill>
                <a:latin typeface="Aptos"/>
                <a:ea typeface="Yu Gothic"/>
                <a:cs typeface="Aptos"/>
              </a:rPr>
              <a:t>■ </a:t>
            </a:r>
            <a:r>
              <a:rPr sz="1050" b="0" i="0">
                <a:solidFill>
                  <a:srgbClr val="1F1F1F"/>
                </a:solidFill>
                <a:latin typeface="Aptos"/>
                <a:ea typeface="Yu Gothic"/>
                <a:cs typeface="Aptos"/>
              </a:rPr>
              <a:t>仙台市「仙台未来創造企業創出プログラム」</a:t>
            </a:r>
          </a:p>
          <a:p>
            <a:pPr algn="l">
              <a:lnSpc>
                <a:spcPct val="140000"/>
              </a:lnSpc>
              <a:spcAft>
                <a:spcPts val="300"/>
              </a:spcAft>
            </a:pPr>
            <a:r>
              <a:rPr sz="850" b="1" i="0">
                <a:solidFill>
                  <a:srgbClr val="5FA8D3"/>
                </a:solidFill>
                <a:latin typeface="Aptos"/>
                <a:ea typeface="Yu Gothic"/>
                <a:cs typeface="Aptos"/>
              </a:rPr>
              <a:t>■ </a:t>
            </a:r>
            <a:r>
              <a:rPr sz="1050" b="0" i="0">
                <a:solidFill>
                  <a:srgbClr val="1F1F1F"/>
                </a:solidFill>
                <a:latin typeface="Aptos"/>
                <a:ea typeface="Yu Gothic"/>
                <a:cs typeface="Aptos"/>
              </a:rPr>
              <a:t>J-Startup TOHOKU（経済産業省）</a:t>
            </a:r>
          </a:p>
          <a:p>
            <a:pPr algn="l">
              <a:lnSpc>
                <a:spcPct val="140000"/>
              </a:lnSpc>
              <a:spcAft>
                <a:spcPts val="300"/>
              </a:spcAft>
            </a:pPr>
            <a:r>
              <a:rPr sz="850" b="1" i="0">
                <a:solidFill>
                  <a:srgbClr val="5FA8D3"/>
                </a:solidFill>
                <a:latin typeface="Aptos"/>
                <a:ea typeface="Yu Gothic"/>
                <a:cs typeface="Aptos"/>
              </a:rPr>
              <a:t>■ </a:t>
            </a:r>
            <a:r>
              <a:rPr sz="1050" b="0" i="0">
                <a:solidFill>
                  <a:srgbClr val="1F1F1F"/>
                </a:solidFill>
                <a:latin typeface="Aptos"/>
                <a:ea typeface="Yu Gothic"/>
                <a:cs typeface="Aptos"/>
              </a:rPr>
              <a:t>スタートアップ・エコシステム拠点都市（仙台市）</a:t>
            </a:r>
          </a:p>
          <a:p>
            <a:pPr algn="l">
              <a:lnSpc>
                <a:spcPct val="140000"/>
              </a:lnSpc>
              <a:spcAft>
                <a:spcPts val="300"/>
              </a:spcAft>
            </a:pPr>
            <a:r>
              <a:rPr sz="850" b="1" i="0">
                <a:solidFill>
                  <a:srgbClr val="5FA8D3"/>
                </a:solidFill>
                <a:latin typeface="Aptos"/>
                <a:ea typeface="Yu Gothic"/>
                <a:cs typeface="Aptos"/>
              </a:rPr>
              <a:t>■ </a:t>
            </a:r>
            <a:r>
              <a:rPr sz="1050" b="0" i="0">
                <a:solidFill>
                  <a:srgbClr val="1F1F1F"/>
                </a:solidFill>
                <a:latin typeface="Aptos"/>
                <a:ea typeface="Yu Gothic"/>
                <a:cs typeface="Aptos"/>
              </a:rPr>
              <a:t>地方銀行ファンド・東北経済産業局支援</a:t>
            </a:r>
          </a:p>
          <a:p>
            <a:pPr algn="l">
              <a:lnSpc>
                <a:spcPct val="140000"/>
              </a:lnSpc>
              <a:spcAft>
                <a:spcPts val="300"/>
              </a:spcAft>
            </a:pPr>
            <a:r>
              <a:rPr sz="850" b="1" i="0">
                <a:solidFill>
                  <a:srgbClr val="5FA8D3"/>
                </a:solidFill>
                <a:latin typeface="Aptos"/>
                <a:ea typeface="Yu Gothic"/>
                <a:cs typeface="Aptos"/>
              </a:rPr>
              <a:t>■ </a:t>
            </a:r>
            <a:r>
              <a:rPr sz="1050" b="0" i="0">
                <a:solidFill>
                  <a:srgbClr val="1F1F1F"/>
                </a:solidFill>
                <a:latin typeface="Aptos"/>
                <a:ea typeface="Yu Gothic"/>
                <a:cs typeface="Aptos"/>
              </a:rPr>
              <a:t>復興・地域活性化交付金</a:t>
            </a:r>
          </a:p>
        </p:txBody>
      </p:sp>
      <p:sp>
        <p:nvSpPr>
          <p:cNvPr id="14" name="Rectangle 13"/>
          <p:cNvSpPr/>
          <p:nvPr/>
        </p:nvSpPr>
        <p:spPr>
          <a:xfrm>
            <a:off x="4325112" y="1828800"/>
            <a:ext cx="3657600" cy="502920"/>
          </a:xfrm>
          <a:prstGeom prst="rect">
            <a:avLst/>
          </a:prstGeom>
          <a:solidFill>
            <a:srgbClr val="0F27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62272" y="1874519"/>
            <a:ext cx="3383280" cy="182880"/>
          </a:xfrm>
          <a:prstGeom prst="rect">
            <a:avLst/>
          </a:prstGeom>
          <a:noFill/>
        </p:spPr>
        <p:txBody>
          <a:bodyPr wrap="square" lIns="0" rIns="0" tIns="0" bIns="0" anchor="t">
            <a:spAutoFit/>
          </a:bodyPr>
          <a:lstStyle/>
          <a:p>
            <a:pPr algn="l"/>
            <a:r>
              <a:rPr sz="850" b="1" i="0" spc="250">
                <a:solidFill>
                  <a:srgbClr val="5FA8D3"/>
                </a:solidFill>
                <a:latin typeface="Aptos"/>
                <a:ea typeface="Yu Gothic"/>
                <a:cs typeface="Aptos"/>
              </a:rPr>
              <a:t>ACADEMIA</a:t>
            </a:r>
          </a:p>
        </p:txBody>
      </p:sp>
      <p:sp>
        <p:nvSpPr>
          <p:cNvPr id="16" name="TextBox 15"/>
          <p:cNvSpPr txBox="1"/>
          <p:nvPr/>
        </p:nvSpPr>
        <p:spPr>
          <a:xfrm>
            <a:off x="4462272" y="2075688"/>
            <a:ext cx="3383280" cy="274320"/>
          </a:xfrm>
          <a:prstGeom prst="rect">
            <a:avLst/>
          </a:prstGeom>
          <a:noFill/>
        </p:spPr>
        <p:txBody>
          <a:bodyPr wrap="square" lIns="0" rIns="0" tIns="0" bIns="0" anchor="t">
            <a:spAutoFit/>
          </a:bodyPr>
          <a:lstStyle/>
          <a:p>
            <a:pPr algn="l"/>
            <a:r>
              <a:rPr sz="1400" b="1" i="0">
                <a:solidFill>
                  <a:srgbClr val="FFFFFF"/>
                </a:solidFill>
                <a:latin typeface="Aptos"/>
                <a:ea typeface="Yu Gothic"/>
                <a:cs typeface="Aptos"/>
              </a:rPr>
              <a:t>アカデミア</a:t>
            </a:r>
          </a:p>
        </p:txBody>
      </p:sp>
      <p:sp>
        <p:nvSpPr>
          <p:cNvPr id="17" name="Rectangle 16"/>
          <p:cNvSpPr/>
          <p:nvPr/>
        </p:nvSpPr>
        <p:spPr>
          <a:xfrm>
            <a:off x="4325112" y="2331720"/>
            <a:ext cx="3657600" cy="3657600"/>
          </a:xfrm>
          <a:prstGeom prst="rect">
            <a:avLst/>
          </a:prstGeom>
          <a:solidFill>
            <a:srgbClr val="FFFFFF"/>
          </a:solidFill>
          <a:ln w="6350">
            <a:solidFill>
              <a:srgbClr val="CF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9703" y="2468880"/>
            <a:ext cx="3328416" cy="3429000"/>
          </a:xfrm>
          <a:prstGeom prst="rect">
            <a:avLst/>
          </a:prstGeom>
          <a:noFill/>
        </p:spPr>
        <p:txBody>
          <a:bodyPr wrap="square" lIns="0" rIns="0" tIns="0" bIns="0">
            <a:spAutoFit/>
          </a:bodyPr>
          <a:lstStyle/>
          <a:p>
            <a:pPr algn="l">
              <a:lnSpc>
                <a:spcPct val="140000"/>
              </a:lnSpc>
              <a:spcAft>
                <a:spcPts val="300"/>
              </a:spcAft>
            </a:pPr>
            <a:r>
              <a:rPr sz="850" b="1" i="0">
                <a:solidFill>
                  <a:srgbClr val="5FA8D3"/>
                </a:solidFill>
                <a:latin typeface="Aptos"/>
                <a:ea typeface="Yu Gothic"/>
                <a:cs typeface="Aptos"/>
              </a:rPr>
              <a:t>■ </a:t>
            </a:r>
            <a:r>
              <a:rPr sz="1050" b="0" i="0">
                <a:solidFill>
                  <a:srgbClr val="1F1F1F"/>
                </a:solidFill>
                <a:latin typeface="Aptos"/>
                <a:ea typeface="Yu Gothic"/>
                <a:cs typeface="Aptos"/>
              </a:rPr>
              <a:t>東北大学（指定国立大学／国際卓越）</a:t>
            </a:r>
          </a:p>
          <a:p>
            <a:pPr algn="l">
              <a:lnSpc>
                <a:spcPct val="140000"/>
              </a:lnSpc>
              <a:spcAft>
                <a:spcPts val="300"/>
              </a:spcAft>
            </a:pPr>
            <a:r>
              <a:rPr sz="850" b="1" i="0">
                <a:solidFill>
                  <a:srgbClr val="5FA8D3"/>
                </a:solidFill>
                <a:latin typeface="Aptos"/>
                <a:ea typeface="Yu Gothic"/>
                <a:cs typeface="Aptos"/>
              </a:rPr>
              <a:t>■ </a:t>
            </a:r>
            <a:r>
              <a:rPr sz="1050" b="0" i="0">
                <a:solidFill>
                  <a:srgbClr val="1F1F1F"/>
                </a:solidFill>
                <a:latin typeface="Aptos"/>
                <a:ea typeface="Yu Gothic"/>
                <a:cs typeface="Aptos"/>
              </a:rPr>
              <a:t>東北大未来科学技術共同研究センター</a:t>
            </a:r>
          </a:p>
          <a:p>
            <a:pPr algn="l">
              <a:lnSpc>
                <a:spcPct val="140000"/>
              </a:lnSpc>
              <a:spcAft>
                <a:spcPts val="300"/>
              </a:spcAft>
            </a:pPr>
            <a:r>
              <a:rPr sz="850" b="1" i="0">
                <a:solidFill>
                  <a:srgbClr val="5FA8D3"/>
                </a:solidFill>
                <a:latin typeface="Aptos"/>
                <a:ea typeface="Yu Gothic"/>
                <a:cs typeface="Aptos"/>
              </a:rPr>
              <a:t>■ </a:t>
            </a:r>
            <a:r>
              <a:rPr sz="1050" b="0" i="0">
                <a:solidFill>
                  <a:srgbClr val="1F1F1F"/>
                </a:solidFill>
                <a:latin typeface="Aptos"/>
                <a:ea typeface="Yu Gothic"/>
                <a:cs typeface="Aptos"/>
              </a:rPr>
              <a:t>東北大ベンチャー・パートナーズ</a:t>
            </a:r>
          </a:p>
          <a:p>
            <a:pPr algn="l">
              <a:lnSpc>
                <a:spcPct val="140000"/>
              </a:lnSpc>
              <a:spcAft>
                <a:spcPts val="300"/>
              </a:spcAft>
            </a:pPr>
            <a:r>
              <a:rPr sz="850" b="1" i="0">
                <a:solidFill>
                  <a:srgbClr val="5FA8D3"/>
                </a:solidFill>
                <a:latin typeface="Aptos"/>
                <a:ea typeface="Yu Gothic"/>
                <a:cs typeface="Aptos"/>
              </a:rPr>
              <a:t>■ </a:t>
            </a:r>
            <a:r>
              <a:rPr sz="1050" b="0" i="0">
                <a:solidFill>
                  <a:srgbClr val="1F1F1F"/>
                </a:solidFill>
                <a:latin typeface="Aptos"/>
                <a:ea typeface="Yu Gothic"/>
                <a:cs typeface="Aptos"/>
              </a:rPr>
              <a:t>山形・岩手・福島大の地域連携</a:t>
            </a:r>
          </a:p>
          <a:p>
            <a:pPr algn="l">
              <a:lnSpc>
                <a:spcPct val="140000"/>
              </a:lnSpc>
              <a:spcAft>
                <a:spcPts val="300"/>
              </a:spcAft>
            </a:pPr>
            <a:r>
              <a:rPr sz="850" b="1" i="0">
                <a:solidFill>
                  <a:srgbClr val="5FA8D3"/>
                </a:solidFill>
                <a:latin typeface="Aptos"/>
                <a:ea typeface="Yu Gothic"/>
                <a:cs typeface="Aptos"/>
              </a:rPr>
              <a:t>■ </a:t>
            </a:r>
            <a:r>
              <a:rPr sz="1050" b="0" i="0">
                <a:solidFill>
                  <a:srgbClr val="1F1F1F"/>
                </a:solidFill>
                <a:latin typeface="Aptos"/>
                <a:ea typeface="Yu Gothic"/>
                <a:cs typeface="Aptos"/>
              </a:rPr>
              <a:t>高専ネットワーク（東北6県）</a:t>
            </a:r>
          </a:p>
        </p:txBody>
      </p:sp>
      <p:sp>
        <p:nvSpPr>
          <p:cNvPr id="19" name="Rectangle 18"/>
          <p:cNvSpPr/>
          <p:nvPr/>
        </p:nvSpPr>
        <p:spPr>
          <a:xfrm>
            <a:off x="8101583" y="1828800"/>
            <a:ext cx="3657600" cy="502920"/>
          </a:xfrm>
          <a:prstGeom prst="rect">
            <a:avLst/>
          </a:prstGeom>
          <a:solidFill>
            <a:srgbClr val="0F27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38744" y="1874519"/>
            <a:ext cx="3383280" cy="182880"/>
          </a:xfrm>
          <a:prstGeom prst="rect">
            <a:avLst/>
          </a:prstGeom>
          <a:noFill/>
        </p:spPr>
        <p:txBody>
          <a:bodyPr wrap="square" lIns="0" rIns="0" tIns="0" bIns="0" anchor="t">
            <a:spAutoFit/>
          </a:bodyPr>
          <a:lstStyle/>
          <a:p>
            <a:pPr algn="l"/>
            <a:r>
              <a:rPr sz="850" b="1" i="0" spc="250">
                <a:solidFill>
                  <a:srgbClr val="5FA8D3"/>
                </a:solidFill>
                <a:latin typeface="Aptos"/>
                <a:ea typeface="Yu Gothic"/>
                <a:cs typeface="Aptos"/>
              </a:rPr>
              <a:t>INDUSTRY</a:t>
            </a:r>
          </a:p>
        </p:txBody>
      </p:sp>
      <p:sp>
        <p:nvSpPr>
          <p:cNvPr id="21" name="TextBox 20"/>
          <p:cNvSpPr txBox="1"/>
          <p:nvPr/>
        </p:nvSpPr>
        <p:spPr>
          <a:xfrm>
            <a:off x="8238744" y="2075688"/>
            <a:ext cx="3383280" cy="274320"/>
          </a:xfrm>
          <a:prstGeom prst="rect">
            <a:avLst/>
          </a:prstGeom>
          <a:noFill/>
        </p:spPr>
        <p:txBody>
          <a:bodyPr wrap="square" lIns="0" rIns="0" tIns="0" bIns="0" anchor="t">
            <a:spAutoFit/>
          </a:bodyPr>
          <a:lstStyle/>
          <a:p>
            <a:pPr algn="l"/>
            <a:r>
              <a:rPr sz="1400" b="1" i="0">
                <a:solidFill>
                  <a:srgbClr val="FFFFFF"/>
                </a:solidFill>
                <a:latin typeface="Aptos"/>
                <a:ea typeface="Yu Gothic"/>
                <a:cs typeface="Aptos"/>
              </a:rPr>
              <a:t>産業・コミュニティ</a:t>
            </a:r>
          </a:p>
        </p:txBody>
      </p:sp>
      <p:sp>
        <p:nvSpPr>
          <p:cNvPr id="22" name="Rectangle 21"/>
          <p:cNvSpPr/>
          <p:nvPr/>
        </p:nvSpPr>
        <p:spPr>
          <a:xfrm>
            <a:off x="8101583" y="2331720"/>
            <a:ext cx="3657600" cy="3657600"/>
          </a:xfrm>
          <a:prstGeom prst="rect">
            <a:avLst/>
          </a:prstGeom>
          <a:solidFill>
            <a:srgbClr val="FFFFFF"/>
          </a:solidFill>
          <a:ln w="6350">
            <a:solidFill>
              <a:srgbClr val="CF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66175" y="2468880"/>
            <a:ext cx="3328416" cy="3429000"/>
          </a:xfrm>
          <a:prstGeom prst="rect">
            <a:avLst/>
          </a:prstGeom>
          <a:noFill/>
        </p:spPr>
        <p:txBody>
          <a:bodyPr wrap="square" lIns="0" rIns="0" tIns="0" bIns="0">
            <a:spAutoFit/>
          </a:bodyPr>
          <a:lstStyle/>
          <a:p>
            <a:pPr algn="l">
              <a:lnSpc>
                <a:spcPct val="140000"/>
              </a:lnSpc>
              <a:spcAft>
                <a:spcPts val="300"/>
              </a:spcAft>
            </a:pPr>
            <a:r>
              <a:rPr sz="850" b="1" i="0">
                <a:solidFill>
                  <a:srgbClr val="5FA8D3"/>
                </a:solidFill>
                <a:latin typeface="Aptos"/>
                <a:ea typeface="Yu Gothic"/>
                <a:cs typeface="Aptos"/>
              </a:rPr>
              <a:t>■ </a:t>
            </a:r>
            <a:r>
              <a:rPr sz="1050" b="0" i="0">
                <a:solidFill>
                  <a:srgbClr val="1F1F1F"/>
                </a:solidFill>
                <a:latin typeface="Aptos"/>
                <a:ea typeface="Yu Gothic"/>
                <a:cs typeface="Aptos"/>
              </a:rPr>
              <a:t>TPM上場の地域シンボル企業（manaby 等）</a:t>
            </a:r>
          </a:p>
          <a:p>
            <a:pPr algn="l">
              <a:lnSpc>
                <a:spcPct val="140000"/>
              </a:lnSpc>
              <a:spcAft>
                <a:spcPts val="300"/>
              </a:spcAft>
            </a:pPr>
            <a:r>
              <a:rPr sz="850" b="1" i="0">
                <a:solidFill>
                  <a:srgbClr val="5FA8D3"/>
                </a:solidFill>
                <a:latin typeface="Aptos"/>
                <a:ea typeface="Yu Gothic"/>
                <a:cs typeface="Aptos"/>
              </a:rPr>
              <a:t>■ </a:t>
            </a:r>
            <a:r>
              <a:rPr sz="1050" b="0" i="0">
                <a:solidFill>
                  <a:srgbClr val="1F1F1F"/>
                </a:solidFill>
                <a:latin typeface="Aptos"/>
                <a:ea typeface="Yu Gothic"/>
                <a:cs typeface="Aptos"/>
              </a:rPr>
              <a:t>東北電力グループ／NTT東日本</a:t>
            </a:r>
          </a:p>
          <a:p>
            <a:pPr algn="l">
              <a:lnSpc>
                <a:spcPct val="140000"/>
              </a:lnSpc>
              <a:spcAft>
                <a:spcPts val="300"/>
              </a:spcAft>
            </a:pPr>
            <a:r>
              <a:rPr sz="850" b="1" i="0">
                <a:solidFill>
                  <a:srgbClr val="5FA8D3"/>
                </a:solidFill>
                <a:latin typeface="Aptos"/>
                <a:ea typeface="Yu Gothic"/>
                <a:cs typeface="Aptos"/>
              </a:rPr>
              <a:t>■ </a:t>
            </a:r>
            <a:r>
              <a:rPr sz="1050" b="0" i="0">
                <a:solidFill>
                  <a:srgbClr val="1F1F1F"/>
                </a:solidFill>
                <a:latin typeface="Aptos"/>
                <a:ea typeface="Yu Gothic"/>
                <a:cs typeface="Aptos"/>
              </a:rPr>
              <a:t>INTILAQ・SENDAI INC・Co-Lab.等の支援拠点</a:t>
            </a:r>
          </a:p>
          <a:p>
            <a:pPr algn="l">
              <a:lnSpc>
                <a:spcPct val="140000"/>
              </a:lnSpc>
              <a:spcAft>
                <a:spcPts val="300"/>
              </a:spcAft>
            </a:pPr>
            <a:r>
              <a:rPr sz="850" b="1" i="0">
                <a:solidFill>
                  <a:srgbClr val="5FA8D3"/>
                </a:solidFill>
                <a:latin typeface="Aptos"/>
                <a:ea typeface="Yu Gothic"/>
                <a:cs typeface="Aptos"/>
              </a:rPr>
              <a:t>■ </a:t>
            </a:r>
            <a:r>
              <a:rPr sz="1050" b="0" i="0">
                <a:solidFill>
                  <a:srgbClr val="1F1F1F"/>
                </a:solidFill>
                <a:latin typeface="Aptos"/>
                <a:ea typeface="Yu Gothic"/>
                <a:cs typeface="Aptos"/>
              </a:rPr>
              <a:t>東北6県の地場大手・特例子会社</a:t>
            </a:r>
          </a:p>
          <a:p>
            <a:pPr algn="l">
              <a:lnSpc>
                <a:spcPct val="140000"/>
              </a:lnSpc>
              <a:spcAft>
                <a:spcPts val="300"/>
              </a:spcAft>
            </a:pPr>
            <a:r>
              <a:rPr sz="850" b="1" i="0">
                <a:solidFill>
                  <a:srgbClr val="5FA8D3"/>
                </a:solidFill>
                <a:latin typeface="Aptos"/>
                <a:ea typeface="Yu Gothic"/>
                <a:cs typeface="Aptos"/>
              </a:rPr>
              <a:t>■ </a:t>
            </a:r>
            <a:r>
              <a:rPr sz="1050" b="0" i="0">
                <a:solidFill>
                  <a:srgbClr val="1F1F1F"/>
                </a:solidFill>
                <a:latin typeface="Aptos"/>
                <a:ea typeface="Yu Gothic"/>
                <a:cs typeface="Aptos"/>
              </a:rPr>
              <a:t>外資・首都圏VCの地域ハブ</a:t>
            </a:r>
          </a:p>
        </p:txBody>
      </p:sp>
      <p:sp>
        <p:nvSpPr>
          <p:cNvPr id="24" name="Rectangle 23"/>
          <p:cNvSpPr/>
          <p:nvPr/>
        </p:nvSpPr>
        <p:spPr>
          <a:xfrm>
            <a:off x="548640" y="6080760"/>
            <a:ext cx="11091672" cy="25400"/>
          </a:xfrm>
          <a:prstGeom prst="rect">
            <a:avLst/>
          </a:prstGeom>
          <a:solidFill>
            <a:srgbClr val="5FA8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6172200"/>
            <a:ext cx="11091672" cy="228600"/>
          </a:xfrm>
          <a:prstGeom prst="rect">
            <a:avLst/>
          </a:prstGeom>
          <a:noFill/>
        </p:spPr>
        <p:txBody>
          <a:bodyPr wrap="square" lIns="0" rIns="0" tIns="0" bIns="0" anchor="t">
            <a:spAutoFit/>
          </a:bodyPr>
          <a:lstStyle/>
          <a:p>
            <a:pPr algn="l"/>
            <a:r>
              <a:rPr sz="1000" b="0" i="1">
                <a:solidFill>
                  <a:srgbClr val="3A6EA5"/>
                </a:solidFill>
                <a:latin typeface="Aptos"/>
                <a:ea typeface="Yu Gothic"/>
                <a:cs typeface="Aptos"/>
              </a:rPr>
              <a:t>Fund acts as the connective tissue — sourcing across all three pillars, structuring capital, and compounding regional value.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7315200" cy="274320"/>
          </a:xfrm>
          <a:prstGeom prst="rect">
            <a:avLst/>
          </a:prstGeom>
          <a:noFill/>
        </p:spPr>
        <p:txBody>
          <a:bodyPr wrap="square" lIns="0" rIns="0" tIns="0" bIns="0" anchor="t">
            <a:spAutoFit/>
          </a:bodyPr>
          <a:lstStyle/>
          <a:p>
            <a:pPr algn="l"/>
            <a:r>
              <a:rPr sz="900" b="1" i="0" spc="200">
                <a:solidFill>
                  <a:srgbClr val="5FA8D3"/>
                </a:solidFill>
                <a:latin typeface="Aptos"/>
                <a:ea typeface="Yu Gothic"/>
                <a:cs typeface="Aptos"/>
              </a:rPr>
              <a:t>FUND STRATEGY</a:t>
            </a:r>
          </a:p>
        </p:txBody>
      </p:sp>
      <p:sp>
        <p:nvSpPr>
          <p:cNvPr id="3" name="TextBox 2"/>
          <p:cNvSpPr txBox="1"/>
          <p:nvPr/>
        </p:nvSpPr>
        <p:spPr>
          <a:xfrm>
            <a:off x="5029200" y="411480"/>
            <a:ext cx="6583680" cy="274320"/>
          </a:xfrm>
          <a:prstGeom prst="rect">
            <a:avLst/>
          </a:prstGeom>
          <a:noFill/>
        </p:spPr>
        <p:txBody>
          <a:bodyPr wrap="square" lIns="0" rIns="0" tIns="0" bIns="0" anchor="t">
            <a:spAutoFit/>
          </a:bodyPr>
          <a:lstStyle/>
          <a:p>
            <a:pPr algn="r"/>
            <a:r>
              <a:rPr sz="850" b="1" i="0" spc="150">
                <a:solidFill>
                  <a:srgbClr val="6E7783"/>
                </a:solidFill>
                <a:latin typeface="Aptos"/>
                <a:ea typeface="Yu Gothic"/>
                <a:cs typeface="Aptos"/>
              </a:rPr>
              <a:t>TOHOKU FRONTIER IMPACT CAPITAL</a:t>
            </a:r>
          </a:p>
        </p:txBody>
      </p:sp>
      <p:sp>
        <p:nvSpPr>
          <p:cNvPr id="4" name="TextBox 3"/>
          <p:cNvSpPr txBox="1"/>
          <p:nvPr/>
        </p:nvSpPr>
        <p:spPr>
          <a:xfrm>
            <a:off x="548640" y="713232"/>
            <a:ext cx="11091672" cy="777240"/>
          </a:xfrm>
          <a:prstGeom prst="rect">
            <a:avLst/>
          </a:prstGeom>
          <a:noFill/>
        </p:spPr>
        <p:txBody>
          <a:bodyPr wrap="square" lIns="0" rIns="0" tIns="0" bIns="0" anchor="t">
            <a:spAutoFit/>
          </a:bodyPr>
          <a:lstStyle/>
          <a:p>
            <a:pPr algn="l"/>
            <a:r>
              <a:rPr sz="2600" b="1" i="0">
                <a:solidFill>
                  <a:srgbClr val="0F2747"/>
                </a:solidFill>
                <a:latin typeface="Aptos"/>
                <a:ea typeface="Yu Gothic"/>
                <a:cs typeface="Aptos"/>
              </a:rPr>
              <a:t>戦略：4テーマ × 規律ある集中投資</a:t>
            </a:r>
          </a:p>
        </p:txBody>
      </p:sp>
      <p:sp>
        <p:nvSpPr>
          <p:cNvPr id="5" name="Rectangle 4"/>
          <p:cNvSpPr/>
          <p:nvPr/>
        </p:nvSpPr>
        <p:spPr>
          <a:xfrm>
            <a:off x="548640" y="1536192"/>
            <a:ext cx="731520" cy="31750"/>
          </a:xfrm>
          <a:prstGeom prst="rect">
            <a:avLst/>
          </a:prstGeom>
          <a:solidFill>
            <a:srgbClr val="5FA8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364224"/>
            <a:ext cx="11091672" cy="10972"/>
          </a:xfrm>
          <a:prstGeom prst="rect">
            <a:avLst/>
          </a:prstGeom>
          <a:solidFill>
            <a:srgbClr val="CF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46520"/>
            <a:ext cx="5486400" cy="274320"/>
          </a:xfrm>
          <a:prstGeom prst="rect">
            <a:avLst/>
          </a:prstGeom>
          <a:noFill/>
        </p:spPr>
        <p:txBody>
          <a:bodyPr wrap="square" lIns="0" rIns="0" tIns="0" bIns="0" anchor="t">
            <a:spAutoFit/>
          </a:bodyPr>
          <a:lstStyle/>
          <a:p>
            <a:pPr algn="l"/>
            <a:r>
              <a:rPr sz="750" b="1" i="0" spc="180">
                <a:solidFill>
                  <a:srgbClr val="6E7783"/>
                </a:solidFill>
                <a:latin typeface="Aptos"/>
                <a:ea typeface="Yu Gothic"/>
                <a:cs typeface="Aptos"/>
              </a:rPr>
              <a:t>STRICTLY PRIVATE &amp; CONFIDENTIAL  |  FOR DISCUSSION PURPOSES ONLY</a:t>
            </a:r>
          </a:p>
        </p:txBody>
      </p:sp>
      <p:sp>
        <p:nvSpPr>
          <p:cNvPr id="8" name="TextBox 7"/>
          <p:cNvSpPr txBox="1"/>
          <p:nvPr/>
        </p:nvSpPr>
        <p:spPr>
          <a:xfrm>
            <a:off x="8229600" y="6446520"/>
            <a:ext cx="3410712" cy="274320"/>
          </a:xfrm>
          <a:prstGeom prst="rect">
            <a:avLst/>
          </a:prstGeom>
          <a:noFill/>
        </p:spPr>
        <p:txBody>
          <a:bodyPr wrap="square" lIns="0" rIns="0" tIns="0" bIns="0" anchor="t">
            <a:spAutoFit/>
          </a:bodyPr>
          <a:lstStyle/>
          <a:p>
            <a:pPr algn="r"/>
            <a:r>
              <a:rPr sz="800" b="1" i="0" spc="120">
                <a:solidFill>
                  <a:srgbClr val="0F2747"/>
                </a:solidFill>
                <a:latin typeface="Aptos"/>
                <a:ea typeface="Yu Gothic"/>
                <a:cs typeface="Aptos"/>
              </a:rPr>
              <a:t>06 / 16</a:t>
            </a:r>
          </a:p>
        </p:txBody>
      </p:sp>
      <p:sp>
        <p:nvSpPr>
          <p:cNvPr id="9" name="TextBox 8"/>
          <p:cNvSpPr txBox="1"/>
          <p:nvPr/>
        </p:nvSpPr>
        <p:spPr>
          <a:xfrm>
            <a:off x="548640" y="1828800"/>
            <a:ext cx="5577840" cy="274320"/>
          </a:xfrm>
          <a:prstGeom prst="rect">
            <a:avLst/>
          </a:prstGeom>
          <a:noFill/>
        </p:spPr>
        <p:txBody>
          <a:bodyPr wrap="square" lIns="0" rIns="0" tIns="0" bIns="0" anchor="t">
            <a:spAutoFit/>
          </a:bodyPr>
          <a:lstStyle/>
          <a:p>
            <a:pPr algn="l"/>
            <a:r>
              <a:rPr sz="1000" b="1" i="0" spc="200">
                <a:solidFill>
                  <a:srgbClr val="5FA8D3"/>
                </a:solidFill>
                <a:latin typeface="Aptos"/>
                <a:ea typeface="Yu Gothic"/>
                <a:cs typeface="Aptos"/>
              </a:rPr>
              <a:t>INVESTMENT THEMES</a:t>
            </a:r>
          </a:p>
        </p:txBody>
      </p:sp>
      <p:graphicFrame>
        <p:nvGraphicFramePr>
          <p:cNvPr id="10" name="Table 9"/>
          <p:cNvGraphicFramePr>
            <a:graphicFrameLocks noGrp="1"/>
          </p:cNvGraphicFramePr>
          <p:nvPr/>
        </p:nvGraphicFramePr>
        <p:xfrm>
          <a:off x="548640" y="2148840"/>
          <a:ext cx="5577838" cy="2743200"/>
        </p:xfrm>
        <a:graphic>
          <a:graphicData uri="http://schemas.openxmlformats.org/drawingml/2006/table">
            <a:tbl>
              <a:tblPr firstRow="1" bandRow="1">
                <a:tableStyleId>{5C22544A-7EE6-4342-B048-85BDC9FD1C3A}</a:tableStyleId>
              </a:tblPr>
              <a:tblGrid>
                <a:gridCol w="1770742"/>
                <a:gridCol w="1770742"/>
                <a:gridCol w="2036354"/>
              </a:tblGrid>
              <a:tr h="548640">
                <a:tc>
                  <a:txBody>
                    <a:bodyPr lIns="73152" rIns="73152" wrap="square"/>
                    <a:lstStyle/>
                    <a:p>
                      <a:pPr algn="l"/>
                      <a:r>
                        <a:rPr sz="950" b="1" i="0">
                          <a:solidFill>
                            <a:srgbClr val="FFFFFF"/>
                          </a:solidFill>
                          <a:latin typeface="Aptos"/>
                          <a:ea typeface="Yu Gothic"/>
                          <a:cs typeface="Aptos"/>
                        </a:rPr>
                        <a:t>テーマ</a:t>
                      </a:r>
                    </a:p>
                  </a:txBody>
                  <a:tcPr marL="91440" marR="91440" marT="45720" marB="45720">
                    <a:solidFill>
                      <a:srgbClr val="0F2747"/>
                    </a:solidFill>
                  </a:tcPr>
                </a:tc>
                <a:tc>
                  <a:txBody>
                    <a:bodyPr lIns="73152" rIns="73152" wrap="square"/>
                    <a:lstStyle/>
                    <a:p>
                      <a:pPr algn="l"/>
                      <a:r>
                        <a:rPr sz="950" b="1" i="0">
                          <a:solidFill>
                            <a:srgbClr val="FFFFFF"/>
                          </a:solidFill>
                          <a:latin typeface="Aptos"/>
                          <a:ea typeface="Yu Gothic"/>
                          <a:cs typeface="Aptos"/>
                        </a:rPr>
                        <a:t>領域例</a:t>
                      </a:r>
                    </a:p>
                  </a:txBody>
                  <a:tcPr marL="91440" marR="91440" marT="45720" marB="45720">
                    <a:solidFill>
                      <a:srgbClr val="0F2747"/>
                    </a:solidFill>
                  </a:tcPr>
                </a:tc>
                <a:tc>
                  <a:txBody>
                    <a:bodyPr lIns="73152" rIns="73152" wrap="square"/>
                    <a:lstStyle/>
                    <a:p>
                      <a:pPr algn="l"/>
                      <a:r>
                        <a:rPr sz="950" b="1" i="0">
                          <a:solidFill>
                            <a:srgbClr val="FFFFFF"/>
                          </a:solidFill>
                          <a:latin typeface="Aptos"/>
                          <a:ea typeface="Yu Gothic"/>
                          <a:cs typeface="Aptos"/>
                        </a:rPr>
                        <a:t>代表的論点</a:t>
                      </a:r>
                    </a:p>
                  </a:txBody>
                  <a:tcPr marL="91440" marR="91440" marT="45720" marB="45720">
                    <a:solidFill>
                      <a:srgbClr val="0F2747"/>
                    </a:solidFill>
                  </a:tcPr>
                </a:tc>
              </a:tr>
              <a:tr h="548640">
                <a:tc>
                  <a:txBody>
                    <a:bodyPr lIns="73152" rIns="73152" wrap="square"/>
                    <a:lstStyle/>
                    <a:p>
                      <a:pPr algn="l"/>
                      <a:r>
                        <a:rPr sz="950" b="1" i="0">
                          <a:solidFill>
                            <a:srgbClr val="1F1F1F"/>
                          </a:solidFill>
                          <a:latin typeface="Aptos"/>
                          <a:ea typeface="Yu Gothic"/>
                          <a:cs typeface="Aptos"/>
                        </a:rPr>
                        <a:t>① ヘルスケア・障害福祉DX</a:t>
                      </a:r>
                    </a:p>
                  </a:txBody>
                  <a:tcPr marL="91440" marR="91440" marT="45720" marB="45720">
                    <a:solidFill>
                      <a:srgbClr val="FFFFFF"/>
                    </a:solidFill>
                  </a:tcPr>
                </a:tc>
                <a:tc>
                  <a:txBody>
                    <a:bodyPr lIns="73152" rIns="73152" wrap="square"/>
                    <a:lstStyle/>
                    <a:p>
                      <a:pPr algn="l"/>
                      <a:r>
                        <a:rPr sz="950" b="0" i="0">
                          <a:solidFill>
                            <a:srgbClr val="1F1F1F"/>
                          </a:solidFill>
                          <a:latin typeface="Aptos"/>
                          <a:ea typeface="Yu Gothic"/>
                          <a:cs typeface="Aptos"/>
                        </a:rPr>
                        <a:t>就労支援、在宅医療、リハビリ、福祉SaaS</a:t>
                      </a:r>
                    </a:p>
                  </a:txBody>
                  <a:tcPr marL="91440" marR="91440" marT="45720" marB="45720">
                    <a:solidFill>
                      <a:srgbClr val="FFFFFF"/>
                    </a:solidFill>
                  </a:tcPr>
                </a:tc>
                <a:tc>
                  <a:txBody>
                    <a:bodyPr lIns="73152" rIns="73152" wrap="square"/>
                    <a:lstStyle/>
                    <a:p>
                      <a:pPr algn="l"/>
                      <a:r>
                        <a:rPr sz="950" b="0" i="0">
                          <a:solidFill>
                            <a:srgbClr val="1F1F1F"/>
                          </a:solidFill>
                          <a:latin typeface="Aptos"/>
                          <a:ea typeface="Yu Gothic"/>
                          <a:cs typeface="Aptos"/>
                        </a:rPr>
                        <a:t>公定報酬+定着実績、ストック比率</a:t>
                      </a:r>
                    </a:p>
                  </a:txBody>
                  <a:tcPr marL="91440" marR="91440" marT="45720" marB="45720">
                    <a:solidFill>
                      <a:srgbClr val="FFFFFF"/>
                    </a:solidFill>
                  </a:tcPr>
                </a:tc>
              </a:tr>
              <a:tr h="548640">
                <a:tc>
                  <a:txBody>
                    <a:bodyPr lIns="73152" rIns="73152" wrap="square"/>
                    <a:lstStyle/>
                    <a:p>
                      <a:pPr algn="l"/>
                      <a:r>
                        <a:rPr sz="950" b="1" i="0">
                          <a:solidFill>
                            <a:srgbClr val="1F1F1F"/>
                          </a:solidFill>
                          <a:latin typeface="Aptos"/>
                          <a:ea typeface="Yu Gothic"/>
                          <a:cs typeface="Aptos"/>
                        </a:rPr>
                        <a:t>② 地域DX・公共サービス</a:t>
                      </a:r>
                    </a:p>
                  </a:txBody>
                  <a:tcPr marL="91440" marR="91440" marT="45720" marB="45720">
                    <a:solidFill>
                      <a:srgbClr val="E9EDF2"/>
                    </a:solidFill>
                  </a:tcPr>
                </a:tc>
                <a:tc>
                  <a:txBody>
                    <a:bodyPr lIns="73152" rIns="73152" wrap="square"/>
                    <a:lstStyle/>
                    <a:p>
                      <a:pPr algn="l"/>
                      <a:r>
                        <a:rPr sz="950" b="0" i="0">
                          <a:solidFill>
                            <a:srgbClr val="1F1F1F"/>
                          </a:solidFill>
                          <a:latin typeface="Aptos"/>
                          <a:ea typeface="Yu Gothic"/>
                          <a:cs typeface="Aptos"/>
                        </a:rPr>
                        <a:t>自治体DX、観光、モビリティ、防災</a:t>
                      </a:r>
                    </a:p>
                  </a:txBody>
                  <a:tcPr marL="91440" marR="91440" marT="45720" marB="45720">
                    <a:solidFill>
                      <a:srgbClr val="E9EDF2"/>
                    </a:solidFill>
                  </a:tcPr>
                </a:tc>
                <a:tc>
                  <a:txBody>
                    <a:bodyPr lIns="73152" rIns="73152" wrap="square"/>
                    <a:lstStyle/>
                    <a:p>
                      <a:pPr algn="l"/>
                      <a:r>
                        <a:rPr sz="950" b="0" i="0">
                          <a:solidFill>
                            <a:srgbClr val="1F1F1F"/>
                          </a:solidFill>
                          <a:latin typeface="Aptos"/>
                          <a:ea typeface="Yu Gothic"/>
                          <a:cs typeface="Aptos"/>
                        </a:rPr>
                        <a:t>公共調達、地方銀行連携</a:t>
                      </a:r>
                    </a:p>
                  </a:txBody>
                  <a:tcPr marL="91440" marR="91440" marT="45720" marB="45720">
                    <a:solidFill>
                      <a:srgbClr val="E9EDF2"/>
                    </a:solidFill>
                  </a:tcPr>
                </a:tc>
              </a:tr>
              <a:tr h="548640">
                <a:tc>
                  <a:txBody>
                    <a:bodyPr lIns="73152" rIns="73152" wrap="square"/>
                    <a:lstStyle/>
                    <a:p>
                      <a:pPr algn="l"/>
                      <a:r>
                        <a:rPr sz="950" b="1" i="0">
                          <a:solidFill>
                            <a:srgbClr val="1F1F1F"/>
                          </a:solidFill>
                          <a:latin typeface="Aptos"/>
                          <a:ea typeface="Yu Gothic"/>
                          <a:cs typeface="Aptos"/>
                        </a:rPr>
                        <a:t>③ アグリ・水産・林業テック</a:t>
                      </a:r>
                    </a:p>
                  </a:txBody>
                  <a:tcPr marL="91440" marR="91440" marT="45720" marB="45720">
                    <a:solidFill>
                      <a:srgbClr val="FFFFFF"/>
                    </a:solidFill>
                  </a:tcPr>
                </a:tc>
                <a:tc>
                  <a:txBody>
                    <a:bodyPr lIns="73152" rIns="73152" wrap="square"/>
                    <a:lstStyle/>
                    <a:p>
                      <a:pPr algn="l"/>
                      <a:r>
                        <a:rPr sz="950" b="0" i="0">
                          <a:solidFill>
                            <a:srgbClr val="1F1F1F"/>
                          </a:solidFill>
                          <a:latin typeface="Aptos"/>
                          <a:ea typeface="Yu Gothic"/>
                          <a:cs typeface="Aptos"/>
                        </a:rPr>
                        <a:t>養殖DX、トレーサビリティ、スマート農業</a:t>
                      </a:r>
                    </a:p>
                  </a:txBody>
                  <a:tcPr marL="91440" marR="91440" marT="45720" marB="45720">
                    <a:solidFill>
                      <a:srgbClr val="FFFFFF"/>
                    </a:solidFill>
                  </a:tcPr>
                </a:tc>
                <a:tc>
                  <a:txBody>
                    <a:bodyPr lIns="73152" rIns="73152" wrap="square"/>
                    <a:lstStyle/>
                    <a:p>
                      <a:pPr algn="l"/>
                      <a:r>
                        <a:rPr sz="950" b="0" i="0">
                          <a:solidFill>
                            <a:srgbClr val="1F1F1F"/>
                          </a:solidFill>
                          <a:latin typeface="Aptos"/>
                          <a:ea typeface="Yu Gothic"/>
                          <a:cs typeface="Aptos"/>
                        </a:rPr>
                        <a:t>GHG・トレーサ規制、輸出</a:t>
                      </a:r>
                    </a:p>
                  </a:txBody>
                  <a:tcPr marL="91440" marR="91440" marT="45720" marB="45720">
                    <a:solidFill>
                      <a:srgbClr val="FFFFFF"/>
                    </a:solidFill>
                  </a:tcPr>
                </a:tc>
              </a:tr>
              <a:tr h="548640">
                <a:tc>
                  <a:txBody>
                    <a:bodyPr lIns="73152" rIns="73152" wrap="square"/>
                    <a:lstStyle/>
                    <a:p>
                      <a:pPr algn="l"/>
                      <a:r>
                        <a:rPr sz="950" b="1" i="0">
                          <a:solidFill>
                            <a:srgbClr val="1F1F1F"/>
                          </a:solidFill>
                          <a:latin typeface="Aptos"/>
                          <a:ea typeface="Yu Gothic"/>
                          <a:cs typeface="Aptos"/>
                        </a:rPr>
                        <a:t>④ 教育・人的資本</a:t>
                      </a:r>
                    </a:p>
                  </a:txBody>
                  <a:tcPr marL="91440" marR="91440" marT="45720" marB="45720">
                    <a:solidFill>
                      <a:srgbClr val="E9EDF2"/>
                    </a:solidFill>
                  </a:tcPr>
                </a:tc>
                <a:tc>
                  <a:txBody>
                    <a:bodyPr lIns="73152" rIns="73152" wrap="square"/>
                    <a:lstStyle/>
                    <a:p>
                      <a:pPr algn="l"/>
                      <a:r>
                        <a:rPr sz="950" b="0" i="0">
                          <a:solidFill>
                            <a:srgbClr val="1F1F1F"/>
                          </a:solidFill>
                          <a:latin typeface="Aptos"/>
                          <a:ea typeface="Yu Gothic"/>
                          <a:cs typeface="Aptos"/>
                        </a:rPr>
                        <a:t>eラーニング、リスキリング、特別支援教育</a:t>
                      </a:r>
                    </a:p>
                  </a:txBody>
                  <a:tcPr marL="91440" marR="91440" marT="45720" marB="45720">
                    <a:solidFill>
                      <a:srgbClr val="E9EDF2"/>
                    </a:solidFill>
                  </a:tcPr>
                </a:tc>
                <a:tc>
                  <a:txBody>
                    <a:bodyPr lIns="73152" rIns="73152" wrap="square"/>
                    <a:lstStyle/>
                    <a:p>
                      <a:pPr algn="l"/>
                      <a:r>
                        <a:rPr sz="950" b="0" i="0">
                          <a:solidFill>
                            <a:srgbClr val="1F1F1F"/>
                          </a:solidFill>
                          <a:latin typeface="Aptos"/>
                          <a:ea typeface="Yu Gothic"/>
                          <a:cs typeface="Aptos"/>
                        </a:rPr>
                        <a:t>労働力減少、リテンション経済</a:t>
                      </a:r>
                    </a:p>
                  </a:txBody>
                  <a:tcPr marL="91440" marR="91440" marT="45720" marB="45720">
                    <a:solidFill>
                      <a:srgbClr val="E9EDF2"/>
                    </a:solidFill>
                  </a:tcPr>
                </a:tc>
              </a:tr>
            </a:tbl>
          </a:graphicData>
        </a:graphic>
      </p:graphicFrame>
      <p:sp>
        <p:nvSpPr>
          <p:cNvPr id="11" name="TextBox 10"/>
          <p:cNvSpPr txBox="1"/>
          <p:nvPr/>
        </p:nvSpPr>
        <p:spPr>
          <a:xfrm>
            <a:off x="6400800" y="1828800"/>
            <a:ext cx="5212080" cy="274320"/>
          </a:xfrm>
          <a:prstGeom prst="rect">
            <a:avLst/>
          </a:prstGeom>
          <a:noFill/>
        </p:spPr>
        <p:txBody>
          <a:bodyPr wrap="square" lIns="0" rIns="0" tIns="0" bIns="0" anchor="t">
            <a:spAutoFit/>
          </a:bodyPr>
          <a:lstStyle/>
          <a:p>
            <a:pPr algn="l"/>
            <a:r>
              <a:rPr sz="1000" b="1" i="0" spc="200">
                <a:solidFill>
                  <a:srgbClr val="5FA8D3"/>
                </a:solidFill>
                <a:latin typeface="Aptos"/>
                <a:ea typeface="Yu Gothic"/>
                <a:cs typeface="Aptos"/>
              </a:rPr>
              <a:t>INVESTMENT PARAMETERS</a:t>
            </a:r>
          </a:p>
        </p:txBody>
      </p:sp>
      <p:graphicFrame>
        <p:nvGraphicFramePr>
          <p:cNvPr id="12" name="Table 11"/>
          <p:cNvGraphicFramePr>
            <a:graphicFrameLocks noGrp="1"/>
          </p:cNvGraphicFramePr>
          <p:nvPr/>
        </p:nvGraphicFramePr>
        <p:xfrm>
          <a:off x="6400800" y="2148840"/>
          <a:ext cx="5212079" cy="2743200"/>
        </p:xfrm>
        <a:graphic>
          <a:graphicData uri="http://schemas.openxmlformats.org/drawingml/2006/table">
            <a:tbl>
              <a:tblPr firstRow="1" bandRow="1">
                <a:tableStyleId>{5C22544A-7EE6-4342-B048-85BDC9FD1C3A}</a:tableStyleId>
              </a:tblPr>
              <a:tblGrid>
                <a:gridCol w="1586285"/>
                <a:gridCol w="3625794"/>
              </a:tblGrid>
              <a:tr h="342900">
                <a:tc>
                  <a:txBody>
                    <a:bodyPr lIns="73152" rIns="73152" wrap="square"/>
                    <a:lstStyle/>
                    <a:p>
                      <a:pPr algn="l"/>
                      <a:r>
                        <a:rPr sz="1000" b="1" i="0">
                          <a:solidFill>
                            <a:srgbClr val="FFFFFF"/>
                          </a:solidFill>
                          <a:latin typeface="Aptos"/>
                          <a:ea typeface="Yu Gothic"/>
                          <a:cs typeface="Aptos"/>
                        </a:rPr>
                        <a:t>項目</a:t>
                      </a:r>
                    </a:p>
                  </a:txBody>
                  <a:tcPr marL="91440" marR="91440" marT="45720" marB="45720">
                    <a:solidFill>
                      <a:srgbClr val="0F2747"/>
                    </a:solidFill>
                  </a:tcPr>
                </a:tc>
                <a:tc>
                  <a:txBody>
                    <a:bodyPr lIns="73152" rIns="73152" wrap="square"/>
                    <a:lstStyle/>
                    <a:p>
                      <a:pPr algn="l"/>
                      <a:r>
                        <a:rPr sz="1000" b="1" i="0">
                          <a:solidFill>
                            <a:srgbClr val="FFFFFF"/>
                          </a:solidFill>
                          <a:latin typeface="Aptos"/>
                          <a:ea typeface="Yu Gothic"/>
                          <a:cs typeface="Aptos"/>
                        </a:rPr>
                        <a:t>方針</a:t>
                      </a:r>
                    </a:p>
                  </a:txBody>
                  <a:tcPr marL="91440" marR="91440" marT="45720" marB="45720">
                    <a:solidFill>
                      <a:srgbClr val="0F2747"/>
                    </a:solidFill>
                  </a:tcPr>
                </a:tc>
              </a:tr>
              <a:tr h="342900">
                <a:tc>
                  <a:txBody>
                    <a:bodyPr lIns="73152" rIns="73152" wrap="square"/>
                    <a:lstStyle/>
                    <a:p>
                      <a:pPr algn="l"/>
                      <a:r>
                        <a:rPr sz="1000" b="1" i="0">
                          <a:solidFill>
                            <a:srgbClr val="1F1F1F"/>
                          </a:solidFill>
                          <a:latin typeface="Aptos"/>
                          <a:ea typeface="Yu Gothic"/>
                          <a:cs typeface="Aptos"/>
                        </a:rPr>
                        <a:t>ステージ</a:t>
                      </a:r>
                    </a:p>
                  </a:txBody>
                  <a:tcPr marL="91440" marR="91440" marT="45720" marB="45720">
                    <a:solidFill>
                      <a:srgbClr val="FFFFFF"/>
                    </a:solidFill>
                  </a:tcPr>
                </a:tc>
                <a:tc>
                  <a:txBody>
                    <a:bodyPr lIns="73152" rIns="73152" wrap="square"/>
                    <a:lstStyle/>
                    <a:p>
                      <a:pPr algn="l"/>
                      <a:r>
                        <a:rPr sz="1000" b="0" i="0">
                          <a:solidFill>
                            <a:srgbClr val="1F1F1F"/>
                          </a:solidFill>
                          <a:latin typeface="Aptos"/>
                          <a:ea typeface="Yu Gothic"/>
                          <a:cs typeface="Aptos"/>
                        </a:rPr>
                        <a:t>Series A〜B 中核（Pre-A/グロースは選別）</a:t>
                      </a:r>
                    </a:p>
                  </a:txBody>
                  <a:tcPr marL="91440" marR="91440" marT="45720" marB="45720">
                    <a:solidFill>
                      <a:srgbClr val="FFFFFF"/>
                    </a:solidFill>
                  </a:tcPr>
                </a:tc>
              </a:tr>
              <a:tr h="342900">
                <a:tc>
                  <a:txBody>
                    <a:bodyPr lIns="73152" rIns="73152" wrap="square"/>
                    <a:lstStyle/>
                    <a:p>
                      <a:pPr algn="l"/>
                      <a:r>
                        <a:rPr sz="1000" b="1" i="0">
                          <a:solidFill>
                            <a:srgbClr val="1F1F1F"/>
                          </a:solidFill>
                          <a:latin typeface="Aptos"/>
                          <a:ea typeface="Yu Gothic"/>
                          <a:cs typeface="Aptos"/>
                        </a:rPr>
                        <a:t>チケットサイズ</a:t>
                      </a:r>
                    </a:p>
                  </a:txBody>
                  <a:tcPr marL="91440" marR="91440" marT="45720" marB="45720">
                    <a:solidFill>
                      <a:srgbClr val="E9EDF2"/>
                    </a:solidFill>
                  </a:tcPr>
                </a:tc>
                <a:tc>
                  <a:txBody>
                    <a:bodyPr lIns="73152" rIns="73152" wrap="square"/>
                    <a:lstStyle/>
                    <a:p>
                      <a:pPr algn="l"/>
                      <a:r>
                        <a:rPr sz="1000" b="0" i="0">
                          <a:solidFill>
                            <a:srgbClr val="1F1F1F"/>
                          </a:solidFill>
                          <a:latin typeface="Aptos"/>
                          <a:ea typeface="Yu Gothic"/>
                          <a:cs typeface="Aptos"/>
                        </a:rPr>
                        <a:t>¥3 – 10億円 / 案件、フォロー枠を確保</a:t>
                      </a:r>
                    </a:p>
                  </a:txBody>
                  <a:tcPr marL="91440" marR="91440" marT="45720" marB="45720">
                    <a:solidFill>
                      <a:srgbClr val="E9EDF2"/>
                    </a:solidFill>
                  </a:tcPr>
                </a:tc>
              </a:tr>
              <a:tr h="342900">
                <a:tc>
                  <a:txBody>
                    <a:bodyPr lIns="73152" rIns="73152" wrap="square"/>
                    <a:lstStyle/>
                    <a:p>
                      <a:pPr algn="l"/>
                      <a:r>
                        <a:rPr sz="1000" b="1" i="0">
                          <a:solidFill>
                            <a:srgbClr val="1F1F1F"/>
                          </a:solidFill>
                          <a:latin typeface="Aptos"/>
                          <a:ea typeface="Yu Gothic"/>
                          <a:cs typeface="Aptos"/>
                        </a:rPr>
                        <a:t>地理</a:t>
                      </a:r>
                    </a:p>
                  </a:txBody>
                  <a:tcPr marL="91440" marR="91440" marT="45720" marB="45720">
                    <a:solidFill>
                      <a:srgbClr val="FFFFFF"/>
                    </a:solidFill>
                  </a:tcPr>
                </a:tc>
                <a:tc>
                  <a:txBody>
                    <a:bodyPr lIns="73152" rIns="73152" wrap="square"/>
                    <a:lstStyle/>
                    <a:p>
                      <a:pPr algn="l"/>
                      <a:r>
                        <a:rPr sz="1000" b="0" i="0">
                          <a:solidFill>
                            <a:srgbClr val="1F1F1F"/>
                          </a:solidFill>
                          <a:latin typeface="Aptos"/>
                          <a:ea typeface="Yu Gothic"/>
                          <a:cs typeface="Aptos"/>
                        </a:rPr>
                        <a:t>東北6県を本社・主要拠点とする企業</a:t>
                      </a:r>
                    </a:p>
                  </a:txBody>
                  <a:tcPr marL="91440" marR="91440" marT="45720" marB="45720">
                    <a:solidFill>
                      <a:srgbClr val="FFFFFF"/>
                    </a:solidFill>
                  </a:tcPr>
                </a:tc>
              </a:tr>
              <a:tr h="342900">
                <a:tc>
                  <a:txBody>
                    <a:bodyPr lIns="73152" rIns="73152" wrap="square"/>
                    <a:lstStyle/>
                    <a:p>
                      <a:pPr algn="l"/>
                      <a:r>
                        <a:rPr sz="1000" b="1" i="0">
                          <a:solidFill>
                            <a:srgbClr val="1F1F1F"/>
                          </a:solidFill>
                          <a:latin typeface="Aptos"/>
                          <a:ea typeface="Yu Gothic"/>
                          <a:cs typeface="Aptos"/>
                        </a:rPr>
                        <a:t>持株比率</a:t>
                      </a:r>
                    </a:p>
                  </a:txBody>
                  <a:tcPr marL="91440" marR="91440" marT="45720" marB="45720">
                    <a:solidFill>
                      <a:srgbClr val="E9EDF2"/>
                    </a:solidFill>
                  </a:tcPr>
                </a:tc>
                <a:tc>
                  <a:txBody>
                    <a:bodyPr lIns="73152" rIns="73152" wrap="square"/>
                    <a:lstStyle/>
                    <a:p>
                      <a:pPr algn="l"/>
                      <a:r>
                        <a:rPr sz="1000" b="0" i="0">
                          <a:solidFill>
                            <a:srgbClr val="1F1F1F"/>
                          </a:solidFill>
                          <a:latin typeface="Aptos"/>
                          <a:ea typeface="Yu Gothic"/>
                          <a:cs typeface="Aptos"/>
                        </a:rPr>
                        <a:t>10〜25%（リード／コリード前提）</a:t>
                      </a:r>
                    </a:p>
                  </a:txBody>
                  <a:tcPr marL="91440" marR="91440" marT="45720" marB="45720">
                    <a:solidFill>
                      <a:srgbClr val="E9EDF2"/>
                    </a:solidFill>
                  </a:tcPr>
                </a:tc>
              </a:tr>
              <a:tr h="342900">
                <a:tc>
                  <a:txBody>
                    <a:bodyPr lIns="73152" rIns="73152" wrap="square"/>
                    <a:lstStyle/>
                    <a:p>
                      <a:pPr algn="l"/>
                      <a:r>
                        <a:rPr sz="1000" b="1" i="0">
                          <a:solidFill>
                            <a:srgbClr val="1F1F1F"/>
                          </a:solidFill>
                          <a:latin typeface="Aptos"/>
                          <a:ea typeface="Yu Gothic"/>
                          <a:cs typeface="Aptos"/>
                        </a:rPr>
                        <a:t>投資件数</a:t>
                      </a:r>
                    </a:p>
                  </a:txBody>
                  <a:tcPr marL="91440" marR="91440" marT="45720" marB="45720">
                    <a:solidFill>
                      <a:srgbClr val="FFFFFF"/>
                    </a:solidFill>
                  </a:tcPr>
                </a:tc>
                <a:tc>
                  <a:txBody>
                    <a:bodyPr lIns="73152" rIns="73152" wrap="square"/>
                    <a:lstStyle/>
                    <a:p>
                      <a:pPr algn="l"/>
                      <a:r>
                        <a:rPr sz="1000" b="0" i="0">
                          <a:solidFill>
                            <a:srgbClr val="1F1F1F"/>
                          </a:solidFill>
                          <a:latin typeface="Aptos"/>
                          <a:ea typeface="Yu Gothic"/>
                          <a:cs typeface="Aptos"/>
                        </a:rPr>
                        <a:t>12〜15社（Fund I）</a:t>
                      </a:r>
                    </a:p>
                  </a:txBody>
                  <a:tcPr marL="91440" marR="91440" marT="45720" marB="45720">
                    <a:solidFill>
                      <a:srgbClr val="FFFFFF"/>
                    </a:solidFill>
                  </a:tcPr>
                </a:tc>
              </a:tr>
              <a:tr h="342900">
                <a:tc>
                  <a:txBody>
                    <a:bodyPr lIns="73152" rIns="73152" wrap="square"/>
                    <a:lstStyle/>
                    <a:p>
                      <a:pPr algn="l"/>
                      <a:r>
                        <a:rPr sz="1000" b="1" i="0">
                          <a:solidFill>
                            <a:srgbClr val="1F1F1F"/>
                          </a:solidFill>
                          <a:latin typeface="Aptos"/>
                          <a:ea typeface="Yu Gothic"/>
                          <a:cs typeface="Aptos"/>
                        </a:rPr>
                        <a:t>保有期間</a:t>
                      </a:r>
                    </a:p>
                  </a:txBody>
                  <a:tcPr marL="91440" marR="91440" marT="45720" marB="45720">
                    <a:solidFill>
                      <a:srgbClr val="E9EDF2"/>
                    </a:solidFill>
                  </a:tcPr>
                </a:tc>
                <a:tc>
                  <a:txBody>
                    <a:bodyPr lIns="73152" rIns="73152" wrap="square"/>
                    <a:lstStyle/>
                    <a:p>
                      <a:pPr algn="l"/>
                      <a:r>
                        <a:rPr sz="1000" b="0" i="0">
                          <a:solidFill>
                            <a:srgbClr val="1F1F1F"/>
                          </a:solidFill>
                          <a:latin typeface="Aptos"/>
                          <a:ea typeface="Yu Gothic"/>
                          <a:cs typeface="Aptos"/>
                        </a:rPr>
                        <a:t>概ね 4〜7年</a:t>
                      </a:r>
                    </a:p>
                  </a:txBody>
                  <a:tcPr marL="91440" marR="91440" marT="45720" marB="45720">
                    <a:solidFill>
                      <a:srgbClr val="E9EDF2"/>
                    </a:solidFill>
                  </a:tcPr>
                </a:tc>
              </a:tr>
              <a:tr h="342900">
                <a:tc>
                  <a:txBody>
                    <a:bodyPr lIns="73152" rIns="73152" wrap="square"/>
                    <a:lstStyle/>
                    <a:p>
                      <a:pPr algn="l"/>
                      <a:r>
                        <a:rPr sz="1000" b="1" i="0">
                          <a:solidFill>
                            <a:srgbClr val="1F1F1F"/>
                          </a:solidFill>
                          <a:latin typeface="Aptos"/>
                          <a:ea typeface="Yu Gothic"/>
                          <a:cs typeface="Aptos"/>
                        </a:rPr>
                        <a:t>出口</a:t>
                      </a:r>
                    </a:p>
                  </a:txBody>
                  <a:tcPr marL="91440" marR="91440" marT="45720" marB="45720">
                    <a:solidFill>
                      <a:srgbClr val="FFFFFF"/>
                    </a:solidFill>
                  </a:tcPr>
                </a:tc>
                <a:tc>
                  <a:txBody>
                    <a:bodyPr lIns="73152" rIns="73152" wrap="square"/>
                    <a:lstStyle/>
                    <a:p>
                      <a:pPr algn="l"/>
                      <a:r>
                        <a:rPr sz="1000" b="0" i="0">
                          <a:solidFill>
                            <a:srgbClr val="1F1F1F"/>
                          </a:solidFill>
                          <a:latin typeface="Aptos"/>
                          <a:ea typeface="Yu Gothic"/>
                          <a:cs typeface="Aptos"/>
                        </a:rPr>
                        <a:t>IPO（プライム／グロース／TPMステップアップ）／戦略売却</a:t>
                      </a:r>
                    </a:p>
                  </a:txBody>
                  <a:tcPr marL="91440" marR="91440" marT="45720" marB="45720">
                    <a:solidFill>
                      <a:srgbClr val="FFFFFF"/>
                    </a:solidFill>
                  </a:tcPr>
                </a:tc>
              </a:tr>
            </a:tbl>
          </a:graphicData>
        </a:graphic>
      </p:graphicFrame>
      <p:sp>
        <p:nvSpPr>
          <p:cNvPr id="13" name="TextBox 12"/>
          <p:cNvSpPr txBox="1"/>
          <p:nvPr/>
        </p:nvSpPr>
        <p:spPr>
          <a:xfrm>
            <a:off x="548640" y="5166360"/>
            <a:ext cx="11091672" cy="274320"/>
          </a:xfrm>
          <a:prstGeom prst="rect">
            <a:avLst/>
          </a:prstGeom>
          <a:noFill/>
        </p:spPr>
        <p:txBody>
          <a:bodyPr wrap="square" lIns="0" rIns="0" tIns="0" bIns="0" anchor="t">
            <a:spAutoFit/>
          </a:bodyPr>
          <a:lstStyle/>
          <a:p>
            <a:pPr algn="l"/>
            <a:r>
              <a:rPr sz="1000" b="1" i="0" spc="200">
                <a:solidFill>
                  <a:srgbClr val="5FA8D3"/>
                </a:solidFill>
                <a:latin typeface="Aptos"/>
                <a:ea typeface="Yu Gothic"/>
                <a:cs typeface="Aptos"/>
              </a:rPr>
              <a:t>PORTFOLIO CONSTRUCTION  ·  ポートフォリオ構築</a:t>
            </a:r>
          </a:p>
        </p:txBody>
      </p:sp>
      <p:sp>
        <p:nvSpPr>
          <p:cNvPr id="14" name="TextBox 13"/>
          <p:cNvSpPr txBox="1"/>
          <p:nvPr/>
        </p:nvSpPr>
        <p:spPr>
          <a:xfrm>
            <a:off x="548640" y="5486400"/>
            <a:ext cx="11091672" cy="914400"/>
          </a:xfrm>
          <a:prstGeom prst="rect">
            <a:avLst/>
          </a:prstGeom>
          <a:noFill/>
        </p:spPr>
        <p:txBody>
          <a:bodyPr wrap="square" lIns="0" rIns="0" tIns="0" bIns="0">
            <a:spAutoFit/>
          </a:bodyPr>
          <a:lstStyle/>
          <a:p>
            <a:pPr algn="l">
              <a:lnSpc>
                <a:spcPct val="135000"/>
              </a:lnSpc>
              <a:spcAft>
                <a:spcPts val="300"/>
              </a:spcAft>
            </a:pPr>
            <a:r>
              <a:rPr sz="900" b="1" i="0">
                <a:solidFill>
                  <a:srgbClr val="5FA8D3"/>
                </a:solidFill>
                <a:latin typeface="Aptos"/>
                <a:ea typeface="Yu Gothic"/>
                <a:cs typeface="Aptos"/>
              </a:rPr>
              <a:t>■ </a:t>
            </a:r>
            <a:r>
              <a:rPr sz="1100" b="1" i="0">
                <a:solidFill>
                  <a:srgbClr val="0F2747"/>
                </a:solidFill>
                <a:latin typeface="Aptos"/>
                <a:ea typeface="Yu Gothic"/>
                <a:cs typeface="Aptos"/>
              </a:rPr>
              <a:t>集中×分散の両立 </a:t>
            </a:r>
            <a:r>
              <a:rPr sz="1100" b="0" i="0">
                <a:solidFill>
                  <a:srgbClr val="1F1F1F"/>
                </a:solidFill>
                <a:latin typeface="Aptos"/>
                <a:ea typeface="Yu Gothic"/>
                <a:cs typeface="Aptos"/>
              </a:rPr>
              <a:t>  12〜15社で4テーマ・地理・ステージを分散。1社あたり初期投資は総コミットメントの5〜8%上限。</a:t>
            </a:r>
          </a:p>
          <a:p>
            <a:pPr algn="l">
              <a:lnSpc>
                <a:spcPct val="135000"/>
              </a:lnSpc>
              <a:spcAft>
                <a:spcPts val="300"/>
              </a:spcAft>
            </a:pPr>
            <a:r>
              <a:rPr sz="900" b="1" i="0">
                <a:solidFill>
                  <a:srgbClr val="5FA8D3"/>
                </a:solidFill>
                <a:latin typeface="Aptos"/>
                <a:ea typeface="Yu Gothic"/>
                <a:cs typeface="Aptos"/>
              </a:rPr>
              <a:t>■ </a:t>
            </a:r>
            <a:r>
              <a:rPr sz="1100" b="1" i="0">
                <a:solidFill>
                  <a:srgbClr val="0F2747"/>
                </a:solidFill>
                <a:latin typeface="Aptos"/>
                <a:ea typeface="Yu Gothic"/>
                <a:cs typeface="Aptos"/>
              </a:rPr>
              <a:t>Reserve ratio </a:t>
            </a:r>
            <a:r>
              <a:rPr sz="1100" b="0" i="0">
                <a:solidFill>
                  <a:srgbClr val="1F1F1F"/>
                </a:solidFill>
                <a:latin typeface="Aptos"/>
                <a:ea typeface="Yu Gothic"/>
                <a:cs typeface="Aptos"/>
              </a:rPr>
              <a:t>  First-checkに対しフォローオン1.0〜1.5×を留保。優良案件への追加投資を可能化。</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7315200" cy="274320"/>
          </a:xfrm>
          <a:prstGeom prst="rect">
            <a:avLst/>
          </a:prstGeom>
          <a:noFill/>
        </p:spPr>
        <p:txBody>
          <a:bodyPr wrap="square" lIns="0" rIns="0" tIns="0" bIns="0" anchor="t">
            <a:spAutoFit/>
          </a:bodyPr>
          <a:lstStyle/>
          <a:p>
            <a:pPr algn="l"/>
            <a:r>
              <a:rPr sz="900" b="1" i="0" spc="200">
                <a:solidFill>
                  <a:srgbClr val="5FA8D3"/>
                </a:solidFill>
                <a:latin typeface="Aptos"/>
                <a:ea typeface="Yu Gothic"/>
                <a:cs typeface="Aptos"/>
              </a:rPr>
              <a:t>VALUE CREATION PLATFORM</a:t>
            </a:r>
          </a:p>
        </p:txBody>
      </p:sp>
      <p:sp>
        <p:nvSpPr>
          <p:cNvPr id="3" name="TextBox 2"/>
          <p:cNvSpPr txBox="1"/>
          <p:nvPr/>
        </p:nvSpPr>
        <p:spPr>
          <a:xfrm>
            <a:off x="5029200" y="411480"/>
            <a:ext cx="6583680" cy="274320"/>
          </a:xfrm>
          <a:prstGeom prst="rect">
            <a:avLst/>
          </a:prstGeom>
          <a:noFill/>
        </p:spPr>
        <p:txBody>
          <a:bodyPr wrap="square" lIns="0" rIns="0" tIns="0" bIns="0" anchor="t">
            <a:spAutoFit/>
          </a:bodyPr>
          <a:lstStyle/>
          <a:p>
            <a:pPr algn="r"/>
            <a:r>
              <a:rPr sz="850" b="1" i="0" spc="150">
                <a:solidFill>
                  <a:srgbClr val="6E7783"/>
                </a:solidFill>
                <a:latin typeface="Aptos"/>
                <a:ea typeface="Yu Gothic"/>
                <a:cs typeface="Aptos"/>
              </a:rPr>
              <a:t>TOHOKU FRONTIER IMPACT CAPITAL</a:t>
            </a:r>
          </a:p>
        </p:txBody>
      </p:sp>
      <p:sp>
        <p:nvSpPr>
          <p:cNvPr id="4" name="TextBox 3"/>
          <p:cNvSpPr txBox="1"/>
          <p:nvPr/>
        </p:nvSpPr>
        <p:spPr>
          <a:xfrm>
            <a:off x="548640" y="713232"/>
            <a:ext cx="11091672" cy="777240"/>
          </a:xfrm>
          <a:prstGeom prst="rect">
            <a:avLst/>
          </a:prstGeom>
          <a:noFill/>
        </p:spPr>
        <p:txBody>
          <a:bodyPr wrap="square" lIns="0" rIns="0" tIns="0" bIns="0" anchor="t">
            <a:spAutoFit/>
          </a:bodyPr>
          <a:lstStyle/>
          <a:p>
            <a:pPr algn="l"/>
            <a:r>
              <a:rPr sz="2600" b="1" i="0">
                <a:solidFill>
                  <a:srgbClr val="0F2747"/>
                </a:solidFill>
                <a:latin typeface="Aptos"/>
                <a:ea typeface="Yu Gothic"/>
                <a:cs typeface="Aptos"/>
              </a:rPr>
              <a:t>Value Creation Platform：投資後の実行支援</a:t>
            </a:r>
          </a:p>
        </p:txBody>
      </p:sp>
      <p:sp>
        <p:nvSpPr>
          <p:cNvPr id="5" name="Rectangle 4"/>
          <p:cNvSpPr/>
          <p:nvPr/>
        </p:nvSpPr>
        <p:spPr>
          <a:xfrm>
            <a:off x="548640" y="1536192"/>
            <a:ext cx="731520" cy="31750"/>
          </a:xfrm>
          <a:prstGeom prst="rect">
            <a:avLst/>
          </a:prstGeom>
          <a:solidFill>
            <a:srgbClr val="5FA8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364224"/>
            <a:ext cx="11091672" cy="10972"/>
          </a:xfrm>
          <a:prstGeom prst="rect">
            <a:avLst/>
          </a:prstGeom>
          <a:solidFill>
            <a:srgbClr val="CF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46520"/>
            <a:ext cx="5486400" cy="274320"/>
          </a:xfrm>
          <a:prstGeom prst="rect">
            <a:avLst/>
          </a:prstGeom>
          <a:noFill/>
        </p:spPr>
        <p:txBody>
          <a:bodyPr wrap="square" lIns="0" rIns="0" tIns="0" bIns="0" anchor="t">
            <a:spAutoFit/>
          </a:bodyPr>
          <a:lstStyle/>
          <a:p>
            <a:pPr algn="l"/>
            <a:r>
              <a:rPr sz="750" b="1" i="0" spc="180">
                <a:solidFill>
                  <a:srgbClr val="6E7783"/>
                </a:solidFill>
                <a:latin typeface="Aptos"/>
                <a:ea typeface="Yu Gothic"/>
                <a:cs typeface="Aptos"/>
              </a:rPr>
              <a:t>STRICTLY PRIVATE &amp; CONFIDENTIAL  |  FOR DISCUSSION PURPOSES ONLY</a:t>
            </a:r>
          </a:p>
        </p:txBody>
      </p:sp>
      <p:sp>
        <p:nvSpPr>
          <p:cNvPr id="8" name="TextBox 7"/>
          <p:cNvSpPr txBox="1"/>
          <p:nvPr/>
        </p:nvSpPr>
        <p:spPr>
          <a:xfrm>
            <a:off x="8229600" y="6446520"/>
            <a:ext cx="3410712" cy="274320"/>
          </a:xfrm>
          <a:prstGeom prst="rect">
            <a:avLst/>
          </a:prstGeom>
          <a:noFill/>
        </p:spPr>
        <p:txBody>
          <a:bodyPr wrap="square" lIns="0" rIns="0" tIns="0" bIns="0" anchor="t">
            <a:spAutoFit/>
          </a:bodyPr>
          <a:lstStyle/>
          <a:p>
            <a:pPr algn="r"/>
            <a:r>
              <a:rPr sz="800" b="1" i="0" spc="120">
                <a:solidFill>
                  <a:srgbClr val="0F2747"/>
                </a:solidFill>
                <a:latin typeface="Aptos"/>
                <a:ea typeface="Yu Gothic"/>
                <a:cs typeface="Aptos"/>
              </a:rPr>
              <a:t>07 / 16</a:t>
            </a:r>
          </a:p>
        </p:txBody>
      </p:sp>
      <p:sp>
        <p:nvSpPr>
          <p:cNvPr id="9" name="Rectangle 8"/>
          <p:cNvSpPr/>
          <p:nvPr/>
        </p:nvSpPr>
        <p:spPr>
          <a:xfrm>
            <a:off x="548640" y="1828800"/>
            <a:ext cx="5486400" cy="1874519"/>
          </a:xfrm>
          <a:prstGeom prst="rect">
            <a:avLst/>
          </a:prstGeom>
          <a:solidFill>
            <a:srgbClr val="FFFFFF"/>
          </a:solidFill>
          <a:ln w="6350">
            <a:solidFill>
              <a:srgbClr val="CF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28800"/>
            <a:ext cx="91440" cy="1874519"/>
          </a:xfrm>
          <a:prstGeom prst="rect">
            <a:avLst/>
          </a:prstGeom>
          <a:solidFill>
            <a:srgbClr val="5FA8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1965960"/>
            <a:ext cx="5120640" cy="274320"/>
          </a:xfrm>
          <a:prstGeom prst="rect">
            <a:avLst/>
          </a:prstGeom>
          <a:noFill/>
        </p:spPr>
        <p:txBody>
          <a:bodyPr wrap="square" lIns="0" rIns="0" tIns="0" bIns="0" anchor="t">
            <a:spAutoFit/>
          </a:bodyPr>
          <a:lstStyle/>
          <a:p>
            <a:pPr algn="l"/>
            <a:r>
              <a:rPr sz="900" b="1" i="0" spc="200">
                <a:solidFill>
                  <a:srgbClr val="5FA8D3"/>
                </a:solidFill>
                <a:latin typeface="Aptos"/>
                <a:ea typeface="Yu Gothic"/>
                <a:cs typeface="Aptos"/>
              </a:rPr>
              <a:t>GOVERNANCE</a:t>
            </a:r>
          </a:p>
        </p:txBody>
      </p:sp>
      <p:sp>
        <p:nvSpPr>
          <p:cNvPr id="12" name="TextBox 11"/>
          <p:cNvSpPr txBox="1"/>
          <p:nvPr/>
        </p:nvSpPr>
        <p:spPr>
          <a:xfrm>
            <a:off x="822959" y="2194560"/>
            <a:ext cx="5120640" cy="411480"/>
          </a:xfrm>
          <a:prstGeom prst="rect">
            <a:avLst/>
          </a:prstGeom>
          <a:noFill/>
        </p:spPr>
        <p:txBody>
          <a:bodyPr wrap="square" lIns="0" rIns="0" tIns="0" bIns="0" anchor="t">
            <a:spAutoFit/>
          </a:bodyPr>
          <a:lstStyle/>
          <a:p>
            <a:pPr algn="l"/>
            <a:r>
              <a:rPr sz="1500" b="1" i="0">
                <a:solidFill>
                  <a:srgbClr val="0F2747"/>
                </a:solidFill>
                <a:latin typeface="Aptos"/>
                <a:ea typeface="Yu Gothic"/>
                <a:cs typeface="Aptos"/>
              </a:rPr>
              <a:t>ガバナンス強化</a:t>
            </a:r>
          </a:p>
        </p:txBody>
      </p:sp>
      <p:sp>
        <p:nvSpPr>
          <p:cNvPr id="13" name="TextBox 12"/>
          <p:cNvSpPr txBox="1"/>
          <p:nvPr/>
        </p:nvSpPr>
        <p:spPr>
          <a:xfrm>
            <a:off x="822959" y="2697480"/>
            <a:ext cx="5120640" cy="914399"/>
          </a:xfrm>
          <a:prstGeom prst="rect">
            <a:avLst/>
          </a:prstGeom>
          <a:noFill/>
        </p:spPr>
        <p:txBody>
          <a:bodyPr wrap="square" lIns="0" rIns="0" tIns="0" bIns="0" anchor="t">
            <a:spAutoFit/>
          </a:bodyPr>
          <a:lstStyle/>
          <a:p>
            <a:pPr algn="l"/>
            <a:r>
              <a:rPr sz="1100" b="0" i="0">
                <a:solidFill>
                  <a:srgbClr val="1F1F1F"/>
                </a:solidFill>
                <a:latin typeface="Aptos"/>
                <a:ea typeface="Yu Gothic"/>
                <a:cs typeface="Aptos"/>
              </a:rPr>
              <a:t>独立社外取締役の招聘、IC・経営会議の規律、KPI・予実管理、内部統制の高度化。</a:t>
            </a:r>
          </a:p>
        </p:txBody>
      </p:sp>
      <p:sp>
        <p:nvSpPr>
          <p:cNvPr id="14" name="Rectangle 13"/>
          <p:cNvSpPr/>
          <p:nvPr/>
        </p:nvSpPr>
        <p:spPr>
          <a:xfrm>
            <a:off x="6172200" y="1828800"/>
            <a:ext cx="5486400" cy="1874519"/>
          </a:xfrm>
          <a:prstGeom prst="rect">
            <a:avLst/>
          </a:prstGeom>
          <a:solidFill>
            <a:srgbClr val="FFFFFF"/>
          </a:solidFill>
          <a:ln w="6350">
            <a:solidFill>
              <a:srgbClr val="CF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72200" y="1828800"/>
            <a:ext cx="91440" cy="1874519"/>
          </a:xfrm>
          <a:prstGeom prst="rect">
            <a:avLst/>
          </a:prstGeom>
          <a:solidFill>
            <a:srgbClr val="5FA8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1965960"/>
            <a:ext cx="5120640" cy="274320"/>
          </a:xfrm>
          <a:prstGeom prst="rect">
            <a:avLst/>
          </a:prstGeom>
          <a:noFill/>
        </p:spPr>
        <p:txBody>
          <a:bodyPr wrap="square" lIns="0" rIns="0" tIns="0" bIns="0" anchor="t">
            <a:spAutoFit/>
          </a:bodyPr>
          <a:lstStyle/>
          <a:p>
            <a:pPr algn="l"/>
            <a:r>
              <a:rPr sz="900" b="1" i="0" spc="200">
                <a:solidFill>
                  <a:srgbClr val="5FA8D3"/>
                </a:solidFill>
                <a:latin typeface="Aptos"/>
                <a:ea typeface="Yu Gothic"/>
                <a:cs typeface="Aptos"/>
              </a:rPr>
              <a:t>CAPITAL STRATEGY</a:t>
            </a:r>
          </a:p>
        </p:txBody>
      </p:sp>
      <p:sp>
        <p:nvSpPr>
          <p:cNvPr id="17" name="TextBox 16"/>
          <p:cNvSpPr txBox="1"/>
          <p:nvPr/>
        </p:nvSpPr>
        <p:spPr>
          <a:xfrm>
            <a:off x="6446520" y="2194560"/>
            <a:ext cx="5120640" cy="411480"/>
          </a:xfrm>
          <a:prstGeom prst="rect">
            <a:avLst/>
          </a:prstGeom>
          <a:noFill/>
        </p:spPr>
        <p:txBody>
          <a:bodyPr wrap="square" lIns="0" rIns="0" tIns="0" bIns="0" anchor="t">
            <a:spAutoFit/>
          </a:bodyPr>
          <a:lstStyle/>
          <a:p>
            <a:pPr algn="l"/>
            <a:r>
              <a:rPr sz="1500" b="1" i="0">
                <a:solidFill>
                  <a:srgbClr val="0F2747"/>
                </a:solidFill>
                <a:latin typeface="Aptos"/>
                <a:ea typeface="Yu Gothic"/>
                <a:cs typeface="Aptos"/>
              </a:rPr>
              <a:t>キャピタル戦略</a:t>
            </a:r>
          </a:p>
        </p:txBody>
      </p:sp>
      <p:sp>
        <p:nvSpPr>
          <p:cNvPr id="18" name="TextBox 17"/>
          <p:cNvSpPr txBox="1"/>
          <p:nvPr/>
        </p:nvSpPr>
        <p:spPr>
          <a:xfrm>
            <a:off x="6446520" y="2697480"/>
            <a:ext cx="5120640" cy="914399"/>
          </a:xfrm>
          <a:prstGeom prst="rect">
            <a:avLst/>
          </a:prstGeom>
          <a:noFill/>
        </p:spPr>
        <p:txBody>
          <a:bodyPr wrap="square" lIns="0" rIns="0" tIns="0" bIns="0" anchor="t">
            <a:spAutoFit/>
          </a:bodyPr>
          <a:lstStyle/>
          <a:p>
            <a:pPr algn="l"/>
            <a:r>
              <a:rPr sz="1100" b="0" i="0">
                <a:solidFill>
                  <a:srgbClr val="1F1F1F"/>
                </a:solidFill>
                <a:latin typeface="Aptos"/>
                <a:ea typeface="Yu Gothic"/>
                <a:cs typeface="Aptos"/>
              </a:rPr>
              <a:t>デット組成、第三者割当、TPM→グロース等のステップアップ上場、M&amp;Aによる規模化を設計・実行。</a:t>
            </a:r>
          </a:p>
        </p:txBody>
      </p:sp>
      <p:sp>
        <p:nvSpPr>
          <p:cNvPr id="19" name="Rectangle 18"/>
          <p:cNvSpPr/>
          <p:nvPr/>
        </p:nvSpPr>
        <p:spPr>
          <a:xfrm>
            <a:off x="548640" y="3867912"/>
            <a:ext cx="5486400" cy="1874519"/>
          </a:xfrm>
          <a:prstGeom prst="rect">
            <a:avLst/>
          </a:prstGeom>
          <a:solidFill>
            <a:srgbClr val="FFFFFF"/>
          </a:solidFill>
          <a:ln w="6350">
            <a:solidFill>
              <a:srgbClr val="CF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867912"/>
            <a:ext cx="91440" cy="1874519"/>
          </a:xfrm>
          <a:prstGeom prst="rect">
            <a:avLst/>
          </a:prstGeom>
          <a:solidFill>
            <a:srgbClr val="5FA8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59" y="4005072"/>
            <a:ext cx="5120640" cy="274320"/>
          </a:xfrm>
          <a:prstGeom prst="rect">
            <a:avLst/>
          </a:prstGeom>
          <a:noFill/>
        </p:spPr>
        <p:txBody>
          <a:bodyPr wrap="square" lIns="0" rIns="0" tIns="0" bIns="0" anchor="t">
            <a:spAutoFit/>
          </a:bodyPr>
          <a:lstStyle/>
          <a:p>
            <a:pPr algn="l"/>
            <a:r>
              <a:rPr sz="900" b="1" i="0" spc="200">
                <a:solidFill>
                  <a:srgbClr val="5FA8D3"/>
                </a:solidFill>
                <a:latin typeface="Aptos"/>
                <a:ea typeface="Yu Gothic"/>
                <a:cs typeface="Aptos"/>
              </a:rPr>
              <a:t>TALENT &amp; ORG</a:t>
            </a:r>
          </a:p>
        </p:txBody>
      </p:sp>
      <p:sp>
        <p:nvSpPr>
          <p:cNvPr id="22" name="TextBox 21"/>
          <p:cNvSpPr txBox="1"/>
          <p:nvPr/>
        </p:nvSpPr>
        <p:spPr>
          <a:xfrm>
            <a:off x="822959" y="4233672"/>
            <a:ext cx="5120640" cy="411480"/>
          </a:xfrm>
          <a:prstGeom prst="rect">
            <a:avLst/>
          </a:prstGeom>
          <a:noFill/>
        </p:spPr>
        <p:txBody>
          <a:bodyPr wrap="square" lIns="0" rIns="0" tIns="0" bIns="0" anchor="t">
            <a:spAutoFit/>
          </a:bodyPr>
          <a:lstStyle/>
          <a:p>
            <a:pPr algn="l"/>
            <a:r>
              <a:rPr sz="1500" b="1" i="0">
                <a:solidFill>
                  <a:srgbClr val="0F2747"/>
                </a:solidFill>
                <a:latin typeface="Aptos"/>
                <a:ea typeface="Yu Gothic"/>
                <a:cs typeface="Aptos"/>
              </a:rPr>
              <a:t>人材・組織</a:t>
            </a:r>
          </a:p>
        </p:txBody>
      </p:sp>
      <p:sp>
        <p:nvSpPr>
          <p:cNvPr id="23" name="TextBox 22"/>
          <p:cNvSpPr txBox="1"/>
          <p:nvPr/>
        </p:nvSpPr>
        <p:spPr>
          <a:xfrm>
            <a:off x="822959" y="4736592"/>
            <a:ext cx="5120640" cy="914399"/>
          </a:xfrm>
          <a:prstGeom prst="rect">
            <a:avLst/>
          </a:prstGeom>
          <a:noFill/>
        </p:spPr>
        <p:txBody>
          <a:bodyPr wrap="square" lIns="0" rIns="0" tIns="0" bIns="0" anchor="t">
            <a:spAutoFit/>
          </a:bodyPr>
          <a:lstStyle/>
          <a:p>
            <a:pPr algn="l"/>
            <a:r>
              <a:rPr sz="1100" b="0" i="0">
                <a:solidFill>
                  <a:srgbClr val="1F1F1F"/>
                </a:solidFill>
                <a:latin typeface="Aptos"/>
                <a:ea typeface="Yu Gothic"/>
                <a:cs typeface="Aptos"/>
              </a:rPr>
              <a:t>CFO/COO/CTO等の経営層送り込み、報酬設計、Stock Option、HRBP、福祉・医療人材の採用ネットワーク。</a:t>
            </a:r>
          </a:p>
        </p:txBody>
      </p:sp>
      <p:sp>
        <p:nvSpPr>
          <p:cNvPr id="24" name="Rectangle 23"/>
          <p:cNvSpPr/>
          <p:nvPr/>
        </p:nvSpPr>
        <p:spPr>
          <a:xfrm>
            <a:off x="6172200" y="3867912"/>
            <a:ext cx="5486400" cy="1874519"/>
          </a:xfrm>
          <a:prstGeom prst="rect">
            <a:avLst/>
          </a:prstGeom>
          <a:solidFill>
            <a:srgbClr val="FFFFFF"/>
          </a:solidFill>
          <a:ln w="6350">
            <a:solidFill>
              <a:srgbClr val="CF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72200" y="3867912"/>
            <a:ext cx="91440" cy="1874519"/>
          </a:xfrm>
          <a:prstGeom prst="rect">
            <a:avLst/>
          </a:prstGeom>
          <a:solidFill>
            <a:srgbClr val="5FA8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46520" y="4005072"/>
            <a:ext cx="5120640" cy="274320"/>
          </a:xfrm>
          <a:prstGeom prst="rect">
            <a:avLst/>
          </a:prstGeom>
          <a:noFill/>
        </p:spPr>
        <p:txBody>
          <a:bodyPr wrap="square" lIns="0" rIns="0" tIns="0" bIns="0" anchor="t">
            <a:spAutoFit/>
          </a:bodyPr>
          <a:lstStyle/>
          <a:p>
            <a:pPr algn="l"/>
            <a:r>
              <a:rPr sz="900" b="1" i="0" spc="200">
                <a:solidFill>
                  <a:srgbClr val="5FA8D3"/>
                </a:solidFill>
                <a:latin typeface="Aptos"/>
                <a:ea typeface="Yu Gothic"/>
                <a:cs typeface="Aptos"/>
              </a:rPr>
              <a:t>IMPACT &amp; ESG</a:t>
            </a:r>
          </a:p>
        </p:txBody>
      </p:sp>
      <p:sp>
        <p:nvSpPr>
          <p:cNvPr id="27" name="TextBox 26"/>
          <p:cNvSpPr txBox="1"/>
          <p:nvPr/>
        </p:nvSpPr>
        <p:spPr>
          <a:xfrm>
            <a:off x="6446520" y="4233672"/>
            <a:ext cx="5120640" cy="411480"/>
          </a:xfrm>
          <a:prstGeom prst="rect">
            <a:avLst/>
          </a:prstGeom>
          <a:noFill/>
        </p:spPr>
        <p:txBody>
          <a:bodyPr wrap="square" lIns="0" rIns="0" tIns="0" bIns="0" anchor="t">
            <a:spAutoFit/>
          </a:bodyPr>
          <a:lstStyle/>
          <a:p>
            <a:pPr algn="l"/>
            <a:r>
              <a:rPr sz="1500" b="1" i="0">
                <a:solidFill>
                  <a:srgbClr val="0F2747"/>
                </a:solidFill>
                <a:latin typeface="Aptos"/>
                <a:ea typeface="Yu Gothic"/>
                <a:cs typeface="Aptos"/>
              </a:rPr>
              <a:t>インパクト・ESG</a:t>
            </a:r>
          </a:p>
        </p:txBody>
      </p:sp>
      <p:sp>
        <p:nvSpPr>
          <p:cNvPr id="28" name="TextBox 27"/>
          <p:cNvSpPr txBox="1"/>
          <p:nvPr/>
        </p:nvSpPr>
        <p:spPr>
          <a:xfrm>
            <a:off x="6446520" y="4736592"/>
            <a:ext cx="5120640" cy="914399"/>
          </a:xfrm>
          <a:prstGeom prst="rect">
            <a:avLst/>
          </a:prstGeom>
          <a:noFill/>
        </p:spPr>
        <p:txBody>
          <a:bodyPr wrap="square" lIns="0" rIns="0" tIns="0" bIns="0" anchor="t">
            <a:spAutoFit/>
          </a:bodyPr>
          <a:lstStyle/>
          <a:p>
            <a:pPr algn="l"/>
            <a:r>
              <a:rPr sz="1100" b="0" i="0">
                <a:solidFill>
                  <a:srgbClr val="1F1F1F"/>
                </a:solidFill>
                <a:latin typeface="Aptos"/>
                <a:ea typeface="Yu Gothic"/>
                <a:cs typeface="Aptos"/>
              </a:rPr>
              <a:t>IMP/SDGsへのマッピング、KPI設定、第三者検証、年次インパクトレポート、ESGデューデリ。</a:t>
            </a:r>
          </a:p>
        </p:txBody>
      </p:sp>
      <p:sp>
        <p:nvSpPr>
          <p:cNvPr id="29" name="Rectangle 28"/>
          <p:cNvSpPr/>
          <p:nvPr/>
        </p:nvSpPr>
        <p:spPr>
          <a:xfrm>
            <a:off x="548640" y="5897880"/>
            <a:ext cx="11091672" cy="25400"/>
          </a:xfrm>
          <a:prstGeom prst="rect">
            <a:avLst/>
          </a:prstGeom>
          <a:solidFill>
            <a:srgbClr val="5FA8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640" y="5989320"/>
            <a:ext cx="11091672" cy="274320"/>
          </a:xfrm>
          <a:prstGeom prst="rect">
            <a:avLst/>
          </a:prstGeom>
          <a:noFill/>
        </p:spPr>
        <p:txBody>
          <a:bodyPr wrap="square" lIns="0" rIns="0" tIns="0" bIns="0" anchor="t">
            <a:spAutoFit/>
          </a:bodyPr>
          <a:lstStyle/>
          <a:p>
            <a:pPr algn="l"/>
            <a:r>
              <a:rPr sz="1050" b="0" i="1">
                <a:solidFill>
                  <a:srgbClr val="3A6EA5"/>
                </a:solidFill>
                <a:latin typeface="Aptos"/>
                <a:ea typeface="Yu Gothic"/>
                <a:cs typeface="Aptos"/>
              </a:rPr>
              <a:t>Operating Partners（業界経験者）と Senior Advisory Council によりプラットフォームを補強。</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7315200" cy="274320"/>
          </a:xfrm>
          <a:prstGeom prst="rect">
            <a:avLst/>
          </a:prstGeom>
          <a:noFill/>
        </p:spPr>
        <p:txBody>
          <a:bodyPr wrap="square" lIns="0" rIns="0" tIns="0" bIns="0" anchor="t">
            <a:spAutoFit/>
          </a:bodyPr>
          <a:lstStyle/>
          <a:p>
            <a:pPr algn="l"/>
            <a:r>
              <a:rPr sz="900" b="1" i="0" spc="200">
                <a:solidFill>
                  <a:srgbClr val="5FA8D3"/>
                </a:solidFill>
                <a:latin typeface="Aptos"/>
                <a:ea typeface="Yu Gothic"/>
                <a:cs typeface="Aptos"/>
              </a:rPr>
              <a:t>ANCHOR CASE 01</a:t>
            </a:r>
          </a:p>
        </p:txBody>
      </p:sp>
      <p:sp>
        <p:nvSpPr>
          <p:cNvPr id="3" name="TextBox 2"/>
          <p:cNvSpPr txBox="1"/>
          <p:nvPr/>
        </p:nvSpPr>
        <p:spPr>
          <a:xfrm>
            <a:off x="5029200" y="411480"/>
            <a:ext cx="6583680" cy="274320"/>
          </a:xfrm>
          <a:prstGeom prst="rect">
            <a:avLst/>
          </a:prstGeom>
          <a:noFill/>
        </p:spPr>
        <p:txBody>
          <a:bodyPr wrap="square" lIns="0" rIns="0" tIns="0" bIns="0" anchor="t">
            <a:spAutoFit/>
          </a:bodyPr>
          <a:lstStyle/>
          <a:p>
            <a:pPr algn="r"/>
            <a:r>
              <a:rPr sz="850" b="1" i="0" spc="150">
                <a:solidFill>
                  <a:srgbClr val="6E7783"/>
                </a:solidFill>
                <a:latin typeface="Aptos"/>
                <a:ea typeface="Yu Gothic"/>
                <a:cs typeface="Aptos"/>
              </a:rPr>
              <a:t>TOHOKU FRONTIER IMPACT CAPITAL</a:t>
            </a:r>
          </a:p>
        </p:txBody>
      </p:sp>
      <p:sp>
        <p:nvSpPr>
          <p:cNvPr id="4" name="TextBox 3"/>
          <p:cNvSpPr txBox="1"/>
          <p:nvPr/>
        </p:nvSpPr>
        <p:spPr>
          <a:xfrm>
            <a:off x="548640" y="713232"/>
            <a:ext cx="11091672" cy="777240"/>
          </a:xfrm>
          <a:prstGeom prst="rect">
            <a:avLst/>
          </a:prstGeom>
          <a:noFill/>
        </p:spPr>
        <p:txBody>
          <a:bodyPr wrap="square" lIns="0" rIns="0" tIns="0" bIns="0" anchor="t">
            <a:spAutoFit/>
          </a:bodyPr>
          <a:lstStyle/>
          <a:p>
            <a:pPr algn="l"/>
            <a:r>
              <a:rPr sz="2600" b="1" i="0">
                <a:solidFill>
                  <a:srgbClr val="0F2747"/>
                </a:solidFill>
                <a:latin typeface="Aptos"/>
                <a:ea typeface="Yu Gothic"/>
                <a:cs typeface="Aptos"/>
              </a:rPr>
              <a:t>株式会社manaby（東証TPM: 9222）：事業・KPI</a:t>
            </a:r>
          </a:p>
        </p:txBody>
      </p:sp>
      <p:sp>
        <p:nvSpPr>
          <p:cNvPr id="5" name="Rectangle 4"/>
          <p:cNvSpPr/>
          <p:nvPr/>
        </p:nvSpPr>
        <p:spPr>
          <a:xfrm>
            <a:off x="548640" y="1536192"/>
            <a:ext cx="731520" cy="31750"/>
          </a:xfrm>
          <a:prstGeom prst="rect">
            <a:avLst/>
          </a:prstGeom>
          <a:solidFill>
            <a:srgbClr val="5FA8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364224"/>
            <a:ext cx="11091672" cy="10972"/>
          </a:xfrm>
          <a:prstGeom prst="rect">
            <a:avLst/>
          </a:prstGeom>
          <a:solidFill>
            <a:srgbClr val="CF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46520"/>
            <a:ext cx="5486400" cy="274320"/>
          </a:xfrm>
          <a:prstGeom prst="rect">
            <a:avLst/>
          </a:prstGeom>
          <a:noFill/>
        </p:spPr>
        <p:txBody>
          <a:bodyPr wrap="square" lIns="0" rIns="0" tIns="0" bIns="0" anchor="t">
            <a:spAutoFit/>
          </a:bodyPr>
          <a:lstStyle/>
          <a:p>
            <a:pPr algn="l"/>
            <a:r>
              <a:rPr sz="750" b="1" i="0" spc="180">
                <a:solidFill>
                  <a:srgbClr val="6E7783"/>
                </a:solidFill>
                <a:latin typeface="Aptos"/>
                <a:ea typeface="Yu Gothic"/>
                <a:cs typeface="Aptos"/>
              </a:rPr>
              <a:t>STRICTLY PRIVATE &amp; CONFIDENTIAL  |  FOR DISCUSSION PURPOSES ONLY</a:t>
            </a:r>
          </a:p>
        </p:txBody>
      </p:sp>
      <p:sp>
        <p:nvSpPr>
          <p:cNvPr id="8" name="TextBox 7"/>
          <p:cNvSpPr txBox="1"/>
          <p:nvPr/>
        </p:nvSpPr>
        <p:spPr>
          <a:xfrm>
            <a:off x="8229600" y="6446520"/>
            <a:ext cx="3410712" cy="274320"/>
          </a:xfrm>
          <a:prstGeom prst="rect">
            <a:avLst/>
          </a:prstGeom>
          <a:noFill/>
        </p:spPr>
        <p:txBody>
          <a:bodyPr wrap="square" lIns="0" rIns="0" tIns="0" bIns="0" anchor="t">
            <a:spAutoFit/>
          </a:bodyPr>
          <a:lstStyle/>
          <a:p>
            <a:pPr algn="r"/>
            <a:r>
              <a:rPr sz="800" b="1" i="0" spc="120">
                <a:solidFill>
                  <a:srgbClr val="0F2747"/>
                </a:solidFill>
                <a:latin typeface="Aptos"/>
                <a:ea typeface="Yu Gothic"/>
                <a:cs typeface="Aptos"/>
              </a:rPr>
              <a:t>08 / 16</a:t>
            </a:r>
          </a:p>
        </p:txBody>
      </p:sp>
      <p:sp>
        <p:nvSpPr>
          <p:cNvPr id="9" name="TextBox 8"/>
          <p:cNvSpPr txBox="1"/>
          <p:nvPr/>
        </p:nvSpPr>
        <p:spPr>
          <a:xfrm>
            <a:off x="548640" y="1828800"/>
            <a:ext cx="6583680" cy="274320"/>
          </a:xfrm>
          <a:prstGeom prst="rect">
            <a:avLst/>
          </a:prstGeom>
          <a:noFill/>
        </p:spPr>
        <p:txBody>
          <a:bodyPr wrap="square" lIns="0" rIns="0" tIns="0" bIns="0" anchor="t">
            <a:spAutoFit/>
          </a:bodyPr>
          <a:lstStyle/>
          <a:p>
            <a:pPr algn="l"/>
            <a:r>
              <a:rPr sz="1000" b="1" i="0" spc="200">
                <a:solidFill>
                  <a:srgbClr val="5FA8D3"/>
                </a:solidFill>
                <a:latin typeface="Aptos"/>
                <a:ea typeface="Yu Gothic"/>
                <a:cs typeface="Aptos"/>
              </a:rPr>
              <a:t>BUSINESS PROFILE</a:t>
            </a:r>
          </a:p>
        </p:txBody>
      </p:sp>
      <p:sp>
        <p:nvSpPr>
          <p:cNvPr id="10" name="TextBox 9"/>
          <p:cNvSpPr txBox="1"/>
          <p:nvPr/>
        </p:nvSpPr>
        <p:spPr>
          <a:xfrm>
            <a:off x="548640" y="2148840"/>
            <a:ext cx="6583680" cy="3474720"/>
          </a:xfrm>
          <a:prstGeom prst="rect">
            <a:avLst/>
          </a:prstGeom>
          <a:noFill/>
        </p:spPr>
        <p:txBody>
          <a:bodyPr wrap="square" lIns="0" rIns="0" tIns="0" bIns="0">
            <a:spAutoFit/>
          </a:bodyPr>
          <a:lstStyle/>
          <a:p>
            <a:pPr algn="l">
              <a:lnSpc>
                <a:spcPct val="135000"/>
              </a:lnSpc>
              <a:spcAft>
                <a:spcPts val="300"/>
              </a:spcAft>
            </a:pPr>
            <a:r>
              <a:rPr sz="900" b="1" i="0">
                <a:solidFill>
                  <a:srgbClr val="5FA8D3"/>
                </a:solidFill>
                <a:latin typeface="Aptos"/>
                <a:ea typeface="Yu Gothic"/>
                <a:cs typeface="Aptos"/>
              </a:rPr>
              <a:t>■ </a:t>
            </a:r>
            <a:r>
              <a:rPr sz="1100" b="1" i="0">
                <a:solidFill>
                  <a:srgbClr val="0F2747"/>
                </a:solidFill>
                <a:latin typeface="Aptos"/>
                <a:ea typeface="Yu Gothic"/>
                <a:cs typeface="Aptos"/>
              </a:rPr>
              <a:t>ミッション</a:t>
            </a:r>
            <a:r>
              <a:rPr sz="1100" b="0" i="0">
                <a:solidFill>
                  <a:srgbClr val="1F1F1F"/>
                </a:solidFill>
                <a:latin typeface="Aptos"/>
                <a:ea typeface="Yu Gothic"/>
                <a:cs typeface="Aptos"/>
              </a:rPr>
              <a:t>  「一人ひとりが自分らしく働ける社会をつくる」（2016年仙台創業）。</a:t>
            </a:r>
          </a:p>
          <a:p>
            <a:pPr algn="l">
              <a:lnSpc>
                <a:spcPct val="135000"/>
              </a:lnSpc>
              <a:spcAft>
                <a:spcPts val="300"/>
              </a:spcAft>
            </a:pPr>
            <a:r>
              <a:rPr sz="900" b="1" i="0">
                <a:solidFill>
                  <a:srgbClr val="5FA8D3"/>
                </a:solidFill>
                <a:latin typeface="Aptos"/>
                <a:ea typeface="Yu Gothic"/>
                <a:cs typeface="Aptos"/>
              </a:rPr>
              <a:t>■ </a:t>
            </a:r>
            <a:r>
              <a:rPr sz="1100" b="1" i="0">
                <a:solidFill>
                  <a:srgbClr val="0F2747"/>
                </a:solidFill>
                <a:latin typeface="Aptos"/>
                <a:ea typeface="Yu Gothic"/>
                <a:cs typeface="Aptos"/>
              </a:rPr>
              <a:t>コアサービス</a:t>
            </a:r>
            <a:r>
              <a:rPr sz="1100" b="0" i="0">
                <a:solidFill>
                  <a:srgbClr val="1F1F1F"/>
                </a:solidFill>
                <a:latin typeface="Aptos"/>
                <a:ea typeface="Yu Gothic"/>
                <a:cs typeface="Aptos"/>
              </a:rPr>
              <a:t>  就労移行支援「manaby」、就労継続B「CREATORS」、サブスク「WORKS」、SES「TECHNO」、児童通所、eラーニング外販「マナe」。</a:t>
            </a:r>
          </a:p>
          <a:p>
            <a:pPr algn="l">
              <a:lnSpc>
                <a:spcPct val="135000"/>
              </a:lnSpc>
              <a:spcAft>
                <a:spcPts val="300"/>
              </a:spcAft>
            </a:pPr>
            <a:r>
              <a:rPr sz="900" b="1" i="0">
                <a:solidFill>
                  <a:srgbClr val="5FA8D3"/>
                </a:solidFill>
                <a:latin typeface="Aptos"/>
                <a:ea typeface="Yu Gothic"/>
                <a:cs typeface="Aptos"/>
              </a:rPr>
              <a:t>■ </a:t>
            </a:r>
            <a:r>
              <a:rPr sz="1100" b="1" i="0">
                <a:solidFill>
                  <a:srgbClr val="0F2747"/>
                </a:solidFill>
                <a:latin typeface="Aptos"/>
                <a:ea typeface="Yu Gothic"/>
                <a:cs typeface="Aptos"/>
              </a:rPr>
              <a:t>差別化</a:t>
            </a:r>
            <a:r>
              <a:rPr sz="1100" b="0" i="0">
                <a:solidFill>
                  <a:srgbClr val="1F1F1F"/>
                </a:solidFill>
                <a:latin typeface="Aptos"/>
                <a:ea typeface="Yu Gothic"/>
                <a:cs typeface="Aptos"/>
              </a:rPr>
              <a:t>  独自eラーニング × 在宅就労ノウハウ。就職者の21.4%が在宅就労を実現。</a:t>
            </a:r>
          </a:p>
          <a:p>
            <a:pPr algn="l">
              <a:lnSpc>
                <a:spcPct val="135000"/>
              </a:lnSpc>
              <a:spcAft>
                <a:spcPts val="300"/>
              </a:spcAft>
            </a:pPr>
            <a:r>
              <a:rPr sz="900" b="1" i="0">
                <a:solidFill>
                  <a:srgbClr val="5FA8D3"/>
                </a:solidFill>
                <a:latin typeface="Aptos"/>
                <a:ea typeface="Yu Gothic"/>
                <a:cs typeface="Aptos"/>
              </a:rPr>
              <a:t>■ </a:t>
            </a:r>
            <a:r>
              <a:rPr sz="1100" b="1" i="0">
                <a:solidFill>
                  <a:srgbClr val="0F2747"/>
                </a:solidFill>
                <a:latin typeface="Aptos"/>
                <a:ea typeface="Yu Gothic"/>
                <a:cs typeface="Aptos"/>
              </a:rPr>
              <a:t>拠点</a:t>
            </a:r>
            <a:r>
              <a:rPr sz="1100" b="0" i="0">
                <a:solidFill>
                  <a:srgbClr val="1F1F1F"/>
                </a:solidFill>
                <a:latin typeface="Aptos"/>
                <a:ea typeface="Yu Gothic"/>
                <a:cs typeface="Aptos"/>
              </a:rPr>
              <a:t>  直営＋独自FC「CSP」で約42拠点（2025年・創業10年目）。</a:t>
            </a:r>
          </a:p>
          <a:p>
            <a:pPr algn="l">
              <a:lnSpc>
                <a:spcPct val="135000"/>
              </a:lnSpc>
              <a:spcAft>
                <a:spcPts val="300"/>
              </a:spcAft>
            </a:pPr>
            <a:r>
              <a:rPr sz="900" b="1" i="0">
                <a:solidFill>
                  <a:srgbClr val="5FA8D3"/>
                </a:solidFill>
                <a:latin typeface="Aptos"/>
                <a:ea typeface="Yu Gothic"/>
                <a:cs typeface="Aptos"/>
              </a:rPr>
              <a:t>■ </a:t>
            </a:r>
            <a:r>
              <a:rPr sz="1100" b="1" i="0">
                <a:solidFill>
                  <a:srgbClr val="0F2747"/>
                </a:solidFill>
                <a:latin typeface="Aptos"/>
                <a:ea typeface="Yu Gothic"/>
                <a:cs typeface="Aptos"/>
              </a:rPr>
              <a:t>上場</a:t>
            </a:r>
            <a:r>
              <a:rPr sz="1100" b="0" i="0">
                <a:solidFill>
                  <a:srgbClr val="1F1F1F"/>
                </a:solidFill>
                <a:latin typeface="Aptos"/>
                <a:ea typeface="Yu Gothic"/>
                <a:cs typeface="Aptos"/>
              </a:rPr>
              <a:t>  2022年4月 TOKYO PRO Market（J-Adviser：日本M&amp;Aセンター、仙台未来創造企業認定）。</a:t>
            </a:r>
          </a:p>
        </p:txBody>
      </p:sp>
      <p:sp>
        <p:nvSpPr>
          <p:cNvPr id="11" name="TextBox 10"/>
          <p:cNvSpPr txBox="1"/>
          <p:nvPr/>
        </p:nvSpPr>
        <p:spPr>
          <a:xfrm>
            <a:off x="7315200" y="1828800"/>
            <a:ext cx="4297680" cy="274320"/>
          </a:xfrm>
          <a:prstGeom prst="rect">
            <a:avLst/>
          </a:prstGeom>
          <a:noFill/>
        </p:spPr>
        <p:txBody>
          <a:bodyPr wrap="square" lIns="0" rIns="0" tIns="0" bIns="0" anchor="t">
            <a:spAutoFit/>
          </a:bodyPr>
          <a:lstStyle/>
          <a:p>
            <a:pPr algn="l"/>
            <a:r>
              <a:rPr sz="1000" b="1" i="0" spc="200">
                <a:solidFill>
                  <a:srgbClr val="5FA8D3"/>
                </a:solidFill>
                <a:latin typeface="Aptos"/>
                <a:ea typeface="Yu Gothic"/>
                <a:cs typeface="Aptos"/>
              </a:rPr>
              <a:t>KEY METRICS  ·  FY2025</a:t>
            </a:r>
          </a:p>
        </p:txBody>
      </p:sp>
      <p:sp>
        <p:nvSpPr>
          <p:cNvPr id="12" name="Rectangle 11"/>
          <p:cNvSpPr/>
          <p:nvPr/>
        </p:nvSpPr>
        <p:spPr>
          <a:xfrm>
            <a:off x="7315200" y="2148840"/>
            <a:ext cx="2103120" cy="1005840"/>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52360" y="2313432"/>
            <a:ext cx="1828799" cy="274320"/>
          </a:xfrm>
          <a:prstGeom prst="rect">
            <a:avLst/>
          </a:prstGeom>
          <a:noFill/>
        </p:spPr>
        <p:txBody>
          <a:bodyPr wrap="square" lIns="0" rIns="0" tIns="0" bIns="0" anchor="t">
            <a:spAutoFit/>
          </a:bodyPr>
          <a:lstStyle/>
          <a:p>
            <a:pPr algn="l"/>
            <a:r>
              <a:rPr sz="850" b="1" i="0" spc="180">
                <a:solidFill>
                  <a:srgbClr val="6E7783"/>
                </a:solidFill>
                <a:latin typeface="Aptos"/>
                <a:ea typeface="Yu Gothic"/>
                <a:cs typeface="Aptos"/>
              </a:rPr>
              <a:t>REVENUE</a:t>
            </a:r>
          </a:p>
        </p:txBody>
      </p:sp>
      <p:sp>
        <p:nvSpPr>
          <p:cNvPr id="14" name="TextBox 13"/>
          <p:cNvSpPr txBox="1"/>
          <p:nvPr/>
        </p:nvSpPr>
        <p:spPr>
          <a:xfrm>
            <a:off x="7452360" y="2606040"/>
            <a:ext cx="1828799" cy="365760"/>
          </a:xfrm>
          <a:prstGeom prst="rect">
            <a:avLst/>
          </a:prstGeom>
          <a:noFill/>
        </p:spPr>
        <p:txBody>
          <a:bodyPr wrap="square" lIns="0" rIns="0" tIns="0" bIns="0" anchor="t">
            <a:spAutoFit/>
          </a:bodyPr>
          <a:lstStyle/>
          <a:p>
            <a:pPr algn="l"/>
            <a:r>
              <a:rPr sz="2200" b="1" i="0">
                <a:solidFill>
                  <a:srgbClr val="0F2747"/>
                </a:solidFill>
                <a:latin typeface="Aptos"/>
                <a:ea typeface="Yu Gothic"/>
                <a:cs typeface="Aptos"/>
              </a:rPr>
              <a:t>¥1.02 BN</a:t>
            </a:r>
          </a:p>
        </p:txBody>
      </p:sp>
      <p:sp>
        <p:nvSpPr>
          <p:cNvPr id="15" name="TextBox 14"/>
          <p:cNvSpPr txBox="1"/>
          <p:nvPr/>
        </p:nvSpPr>
        <p:spPr>
          <a:xfrm>
            <a:off x="7452360" y="2743200"/>
            <a:ext cx="1828799" cy="274320"/>
          </a:xfrm>
          <a:prstGeom prst="rect">
            <a:avLst/>
          </a:prstGeom>
          <a:noFill/>
        </p:spPr>
        <p:txBody>
          <a:bodyPr wrap="square" lIns="0" rIns="0" tIns="0" bIns="0" anchor="t">
            <a:spAutoFit/>
          </a:bodyPr>
          <a:lstStyle/>
          <a:p>
            <a:pPr algn="l"/>
            <a:r>
              <a:rPr sz="850" b="0" i="0">
                <a:solidFill>
                  <a:srgbClr val="6E7783"/>
                </a:solidFill>
                <a:latin typeface="Aptos"/>
                <a:ea typeface="Yu Gothic"/>
                <a:cs typeface="Aptos"/>
              </a:rPr>
              <a:t>+18.2% YoY</a:t>
            </a:r>
          </a:p>
        </p:txBody>
      </p:sp>
      <p:sp>
        <p:nvSpPr>
          <p:cNvPr id="16" name="Rectangle 15"/>
          <p:cNvSpPr/>
          <p:nvPr/>
        </p:nvSpPr>
        <p:spPr>
          <a:xfrm>
            <a:off x="9509760" y="2148840"/>
            <a:ext cx="2103120" cy="1005840"/>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46920" y="2313432"/>
            <a:ext cx="1828799" cy="274320"/>
          </a:xfrm>
          <a:prstGeom prst="rect">
            <a:avLst/>
          </a:prstGeom>
          <a:noFill/>
        </p:spPr>
        <p:txBody>
          <a:bodyPr wrap="square" lIns="0" rIns="0" tIns="0" bIns="0" anchor="t">
            <a:spAutoFit/>
          </a:bodyPr>
          <a:lstStyle/>
          <a:p>
            <a:pPr algn="l"/>
            <a:r>
              <a:rPr sz="850" b="1" i="0" spc="180">
                <a:solidFill>
                  <a:srgbClr val="6E7783"/>
                </a:solidFill>
                <a:latin typeface="Aptos"/>
                <a:ea typeface="Yu Gothic"/>
                <a:cs typeface="Aptos"/>
              </a:rPr>
              <a:t>LOCATIONS</a:t>
            </a:r>
          </a:p>
        </p:txBody>
      </p:sp>
      <p:sp>
        <p:nvSpPr>
          <p:cNvPr id="18" name="TextBox 17"/>
          <p:cNvSpPr txBox="1"/>
          <p:nvPr/>
        </p:nvSpPr>
        <p:spPr>
          <a:xfrm>
            <a:off x="9646920" y="2606040"/>
            <a:ext cx="1828799" cy="365760"/>
          </a:xfrm>
          <a:prstGeom prst="rect">
            <a:avLst/>
          </a:prstGeom>
          <a:noFill/>
        </p:spPr>
        <p:txBody>
          <a:bodyPr wrap="square" lIns="0" rIns="0" tIns="0" bIns="0" anchor="t">
            <a:spAutoFit/>
          </a:bodyPr>
          <a:lstStyle/>
          <a:p>
            <a:pPr algn="l"/>
            <a:r>
              <a:rPr sz="2200" b="1" i="0">
                <a:solidFill>
                  <a:srgbClr val="0F2747"/>
                </a:solidFill>
                <a:latin typeface="Aptos"/>
                <a:ea typeface="Yu Gothic"/>
                <a:cs typeface="Aptos"/>
              </a:rPr>
              <a:t>~42</a:t>
            </a:r>
          </a:p>
        </p:txBody>
      </p:sp>
      <p:sp>
        <p:nvSpPr>
          <p:cNvPr id="19" name="TextBox 18"/>
          <p:cNvSpPr txBox="1"/>
          <p:nvPr/>
        </p:nvSpPr>
        <p:spPr>
          <a:xfrm>
            <a:off x="9646920" y="2743200"/>
            <a:ext cx="1828799" cy="274320"/>
          </a:xfrm>
          <a:prstGeom prst="rect">
            <a:avLst/>
          </a:prstGeom>
          <a:noFill/>
        </p:spPr>
        <p:txBody>
          <a:bodyPr wrap="square" lIns="0" rIns="0" tIns="0" bIns="0" anchor="t">
            <a:spAutoFit/>
          </a:bodyPr>
          <a:lstStyle/>
          <a:p>
            <a:pPr algn="l"/>
            <a:r>
              <a:rPr sz="850" b="0" i="0">
                <a:solidFill>
                  <a:srgbClr val="6E7783"/>
                </a:solidFill>
                <a:latin typeface="Aptos"/>
                <a:ea typeface="Yu Gothic"/>
                <a:cs typeface="Aptos"/>
              </a:rPr>
              <a:t>Direct + CSP</a:t>
            </a:r>
          </a:p>
        </p:txBody>
      </p:sp>
      <p:sp>
        <p:nvSpPr>
          <p:cNvPr id="20" name="Rectangle 19"/>
          <p:cNvSpPr/>
          <p:nvPr/>
        </p:nvSpPr>
        <p:spPr>
          <a:xfrm>
            <a:off x="7315200" y="3246120"/>
            <a:ext cx="2103120" cy="1005840"/>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52360" y="3410712"/>
            <a:ext cx="1828799" cy="274320"/>
          </a:xfrm>
          <a:prstGeom prst="rect">
            <a:avLst/>
          </a:prstGeom>
          <a:noFill/>
        </p:spPr>
        <p:txBody>
          <a:bodyPr wrap="square" lIns="0" rIns="0" tIns="0" bIns="0" anchor="t">
            <a:spAutoFit/>
          </a:bodyPr>
          <a:lstStyle/>
          <a:p>
            <a:pPr algn="l"/>
            <a:r>
              <a:rPr sz="850" b="1" i="0" spc="180">
                <a:solidFill>
                  <a:srgbClr val="6E7783"/>
                </a:solidFill>
                <a:latin typeface="Aptos"/>
                <a:ea typeface="Yu Gothic"/>
                <a:cs typeface="Aptos"/>
              </a:rPr>
              <a:t>ACTIVE USERS</a:t>
            </a:r>
          </a:p>
        </p:txBody>
      </p:sp>
      <p:sp>
        <p:nvSpPr>
          <p:cNvPr id="22" name="TextBox 21"/>
          <p:cNvSpPr txBox="1"/>
          <p:nvPr/>
        </p:nvSpPr>
        <p:spPr>
          <a:xfrm>
            <a:off x="7452360" y="3703320"/>
            <a:ext cx="1828799" cy="365760"/>
          </a:xfrm>
          <a:prstGeom prst="rect">
            <a:avLst/>
          </a:prstGeom>
          <a:noFill/>
        </p:spPr>
        <p:txBody>
          <a:bodyPr wrap="square" lIns="0" rIns="0" tIns="0" bIns="0" anchor="t">
            <a:spAutoFit/>
          </a:bodyPr>
          <a:lstStyle/>
          <a:p>
            <a:pPr algn="l"/>
            <a:r>
              <a:rPr sz="2200" b="1" i="0">
                <a:solidFill>
                  <a:srgbClr val="0F2747"/>
                </a:solidFill>
                <a:latin typeface="Aptos"/>
                <a:ea typeface="Yu Gothic"/>
                <a:cs typeface="Aptos"/>
              </a:rPr>
              <a:t>3,106</a:t>
            </a:r>
          </a:p>
        </p:txBody>
      </p:sp>
      <p:sp>
        <p:nvSpPr>
          <p:cNvPr id="23" name="TextBox 22"/>
          <p:cNvSpPr txBox="1"/>
          <p:nvPr/>
        </p:nvSpPr>
        <p:spPr>
          <a:xfrm>
            <a:off x="7452360" y="3840480"/>
            <a:ext cx="1828799" cy="274320"/>
          </a:xfrm>
          <a:prstGeom prst="rect">
            <a:avLst/>
          </a:prstGeom>
          <a:noFill/>
        </p:spPr>
        <p:txBody>
          <a:bodyPr wrap="square" lIns="0" rIns="0" tIns="0" bIns="0" anchor="t">
            <a:spAutoFit/>
          </a:bodyPr>
          <a:lstStyle/>
          <a:p>
            <a:pPr algn="l"/>
            <a:r>
              <a:rPr sz="850" b="0" i="0">
                <a:solidFill>
                  <a:srgbClr val="6E7783"/>
                </a:solidFill>
                <a:latin typeface="Aptos"/>
                <a:ea typeface="Yu Gothic"/>
                <a:cs typeface="Aptos"/>
              </a:rPr>
              <a:t>as of Feb 2024</a:t>
            </a:r>
          </a:p>
        </p:txBody>
      </p:sp>
      <p:sp>
        <p:nvSpPr>
          <p:cNvPr id="24" name="Rectangle 23"/>
          <p:cNvSpPr/>
          <p:nvPr/>
        </p:nvSpPr>
        <p:spPr>
          <a:xfrm>
            <a:off x="9509760" y="3246120"/>
            <a:ext cx="2103120" cy="1005840"/>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46920" y="3410712"/>
            <a:ext cx="1828799" cy="274320"/>
          </a:xfrm>
          <a:prstGeom prst="rect">
            <a:avLst/>
          </a:prstGeom>
          <a:noFill/>
        </p:spPr>
        <p:txBody>
          <a:bodyPr wrap="square" lIns="0" rIns="0" tIns="0" bIns="0" anchor="t">
            <a:spAutoFit/>
          </a:bodyPr>
          <a:lstStyle/>
          <a:p>
            <a:pPr algn="l"/>
            <a:r>
              <a:rPr sz="850" b="1" i="0" spc="180">
                <a:solidFill>
                  <a:srgbClr val="6E7783"/>
                </a:solidFill>
                <a:latin typeface="Aptos"/>
                <a:ea typeface="Yu Gothic"/>
                <a:cs typeface="Aptos"/>
              </a:rPr>
              <a:t>PLACEMENT</a:t>
            </a:r>
          </a:p>
        </p:txBody>
      </p:sp>
      <p:sp>
        <p:nvSpPr>
          <p:cNvPr id="26" name="TextBox 25"/>
          <p:cNvSpPr txBox="1"/>
          <p:nvPr/>
        </p:nvSpPr>
        <p:spPr>
          <a:xfrm>
            <a:off x="9646920" y="3703320"/>
            <a:ext cx="1828799" cy="365760"/>
          </a:xfrm>
          <a:prstGeom prst="rect">
            <a:avLst/>
          </a:prstGeom>
          <a:noFill/>
        </p:spPr>
        <p:txBody>
          <a:bodyPr wrap="square" lIns="0" rIns="0" tIns="0" bIns="0" anchor="t">
            <a:spAutoFit/>
          </a:bodyPr>
          <a:lstStyle/>
          <a:p>
            <a:pPr algn="l"/>
            <a:r>
              <a:rPr sz="2200" b="1" i="0">
                <a:solidFill>
                  <a:srgbClr val="0F2747"/>
                </a:solidFill>
                <a:latin typeface="Aptos"/>
                <a:ea typeface="Yu Gothic"/>
                <a:cs typeface="Aptos"/>
              </a:rPr>
              <a:t>86.0 %</a:t>
            </a:r>
          </a:p>
        </p:txBody>
      </p:sp>
      <p:sp>
        <p:nvSpPr>
          <p:cNvPr id="27" name="TextBox 26"/>
          <p:cNvSpPr txBox="1"/>
          <p:nvPr/>
        </p:nvSpPr>
        <p:spPr>
          <a:xfrm>
            <a:off x="9646920" y="3840480"/>
            <a:ext cx="1828799" cy="274320"/>
          </a:xfrm>
          <a:prstGeom prst="rect">
            <a:avLst/>
          </a:prstGeom>
          <a:noFill/>
        </p:spPr>
        <p:txBody>
          <a:bodyPr wrap="square" lIns="0" rIns="0" tIns="0" bIns="0" anchor="t">
            <a:spAutoFit/>
          </a:bodyPr>
          <a:lstStyle/>
          <a:p>
            <a:pPr algn="l"/>
            <a:r>
              <a:rPr sz="850" b="0" i="0">
                <a:solidFill>
                  <a:srgbClr val="6E7783"/>
                </a:solidFill>
                <a:latin typeface="Aptos"/>
                <a:ea typeface="Yu Gothic"/>
                <a:cs typeface="Aptos"/>
              </a:rPr>
              <a:t>FY2022 cohort</a:t>
            </a:r>
          </a:p>
        </p:txBody>
      </p:sp>
      <p:sp>
        <p:nvSpPr>
          <p:cNvPr id="28" name="Rectangle 27"/>
          <p:cNvSpPr/>
          <p:nvPr/>
        </p:nvSpPr>
        <p:spPr>
          <a:xfrm>
            <a:off x="7315200" y="4343400"/>
            <a:ext cx="2103120" cy="1005840"/>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52360" y="4507992"/>
            <a:ext cx="1828799" cy="274320"/>
          </a:xfrm>
          <a:prstGeom prst="rect">
            <a:avLst/>
          </a:prstGeom>
          <a:noFill/>
        </p:spPr>
        <p:txBody>
          <a:bodyPr wrap="square" lIns="0" rIns="0" tIns="0" bIns="0" anchor="t">
            <a:spAutoFit/>
          </a:bodyPr>
          <a:lstStyle/>
          <a:p>
            <a:pPr algn="l"/>
            <a:r>
              <a:rPr sz="850" b="1" i="0" spc="180">
                <a:solidFill>
                  <a:srgbClr val="6E7783"/>
                </a:solidFill>
                <a:latin typeface="Aptos"/>
                <a:ea typeface="Yu Gothic"/>
                <a:cs typeface="Aptos"/>
              </a:rPr>
              <a:t>6M RETENTION</a:t>
            </a:r>
          </a:p>
        </p:txBody>
      </p:sp>
      <p:sp>
        <p:nvSpPr>
          <p:cNvPr id="30" name="TextBox 29"/>
          <p:cNvSpPr txBox="1"/>
          <p:nvPr/>
        </p:nvSpPr>
        <p:spPr>
          <a:xfrm>
            <a:off x="7452360" y="4800600"/>
            <a:ext cx="1828799" cy="365760"/>
          </a:xfrm>
          <a:prstGeom prst="rect">
            <a:avLst/>
          </a:prstGeom>
          <a:noFill/>
        </p:spPr>
        <p:txBody>
          <a:bodyPr wrap="square" lIns="0" rIns="0" tIns="0" bIns="0" anchor="t">
            <a:spAutoFit/>
          </a:bodyPr>
          <a:lstStyle/>
          <a:p>
            <a:pPr algn="l"/>
            <a:r>
              <a:rPr sz="2200" b="1" i="0">
                <a:solidFill>
                  <a:srgbClr val="0F2747"/>
                </a:solidFill>
                <a:latin typeface="Aptos"/>
                <a:ea typeface="Yu Gothic"/>
                <a:cs typeface="Aptos"/>
              </a:rPr>
              <a:t>85.7 %</a:t>
            </a:r>
          </a:p>
        </p:txBody>
      </p:sp>
      <p:sp>
        <p:nvSpPr>
          <p:cNvPr id="31" name="TextBox 30"/>
          <p:cNvSpPr txBox="1"/>
          <p:nvPr/>
        </p:nvSpPr>
        <p:spPr>
          <a:xfrm>
            <a:off x="7452360" y="4937759"/>
            <a:ext cx="1828799" cy="274320"/>
          </a:xfrm>
          <a:prstGeom prst="rect">
            <a:avLst/>
          </a:prstGeom>
          <a:noFill/>
        </p:spPr>
        <p:txBody>
          <a:bodyPr wrap="square" lIns="0" rIns="0" tIns="0" bIns="0" anchor="t">
            <a:spAutoFit/>
          </a:bodyPr>
          <a:lstStyle/>
          <a:p>
            <a:pPr algn="l"/>
            <a:r>
              <a:rPr sz="850" b="0" i="0">
                <a:solidFill>
                  <a:srgbClr val="6E7783"/>
                </a:solidFill>
                <a:latin typeface="Aptos"/>
                <a:ea typeface="Yu Gothic"/>
                <a:cs typeface="Aptos"/>
              </a:rPr>
              <a:t>Industry-leading</a:t>
            </a:r>
          </a:p>
        </p:txBody>
      </p:sp>
      <p:sp>
        <p:nvSpPr>
          <p:cNvPr id="32" name="Rectangle 31"/>
          <p:cNvSpPr/>
          <p:nvPr/>
        </p:nvSpPr>
        <p:spPr>
          <a:xfrm>
            <a:off x="9509760" y="4343400"/>
            <a:ext cx="2103120" cy="1005840"/>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646920" y="4507992"/>
            <a:ext cx="1828799" cy="274320"/>
          </a:xfrm>
          <a:prstGeom prst="rect">
            <a:avLst/>
          </a:prstGeom>
          <a:noFill/>
        </p:spPr>
        <p:txBody>
          <a:bodyPr wrap="square" lIns="0" rIns="0" tIns="0" bIns="0" anchor="t">
            <a:spAutoFit/>
          </a:bodyPr>
          <a:lstStyle/>
          <a:p>
            <a:pPr algn="l"/>
            <a:r>
              <a:rPr sz="850" b="1" i="0" spc="180">
                <a:solidFill>
                  <a:srgbClr val="6E7783"/>
                </a:solidFill>
                <a:latin typeface="Aptos"/>
                <a:ea typeface="Yu Gothic"/>
                <a:cs typeface="Aptos"/>
              </a:rPr>
              <a:t>TELEWORK RATE</a:t>
            </a:r>
          </a:p>
        </p:txBody>
      </p:sp>
      <p:sp>
        <p:nvSpPr>
          <p:cNvPr id="34" name="TextBox 33"/>
          <p:cNvSpPr txBox="1"/>
          <p:nvPr/>
        </p:nvSpPr>
        <p:spPr>
          <a:xfrm>
            <a:off x="9646920" y="4800600"/>
            <a:ext cx="1828799" cy="365760"/>
          </a:xfrm>
          <a:prstGeom prst="rect">
            <a:avLst/>
          </a:prstGeom>
          <a:noFill/>
        </p:spPr>
        <p:txBody>
          <a:bodyPr wrap="square" lIns="0" rIns="0" tIns="0" bIns="0" anchor="t">
            <a:spAutoFit/>
          </a:bodyPr>
          <a:lstStyle/>
          <a:p>
            <a:pPr algn="l"/>
            <a:r>
              <a:rPr sz="2200" b="1" i="0">
                <a:solidFill>
                  <a:srgbClr val="0F2747"/>
                </a:solidFill>
                <a:latin typeface="Aptos"/>
                <a:ea typeface="Yu Gothic"/>
                <a:cs typeface="Aptos"/>
              </a:rPr>
              <a:t>21.4 %</a:t>
            </a:r>
          </a:p>
        </p:txBody>
      </p:sp>
      <p:sp>
        <p:nvSpPr>
          <p:cNvPr id="35" name="TextBox 34"/>
          <p:cNvSpPr txBox="1"/>
          <p:nvPr/>
        </p:nvSpPr>
        <p:spPr>
          <a:xfrm>
            <a:off x="9646920" y="4937759"/>
            <a:ext cx="1828799" cy="274320"/>
          </a:xfrm>
          <a:prstGeom prst="rect">
            <a:avLst/>
          </a:prstGeom>
          <a:noFill/>
        </p:spPr>
        <p:txBody>
          <a:bodyPr wrap="square" lIns="0" rIns="0" tIns="0" bIns="0" anchor="t">
            <a:spAutoFit/>
          </a:bodyPr>
          <a:lstStyle/>
          <a:p>
            <a:pPr algn="l"/>
            <a:r>
              <a:rPr sz="850" b="0" i="0">
                <a:solidFill>
                  <a:srgbClr val="6E7783"/>
                </a:solidFill>
                <a:latin typeface="Aptos"/>
                <a:ea typeface="Yu Gothic"/>
                <a:cs typeface="Aptos"/>
              </a:rPr>
              <a:t>Differentiator</a:t>
            </a:r>
          </a:p>
        </p:txBody>
      </p:sp>
      <p:sp>
        <p:nvSpPr>
          <p:cNvPr id="36" name="Rectangle 35"/>
          <p:cNvSpPr/>
          <p:nvPr/>
        </p:nvSpPr>
        <p:spPr>
          <a:xfrm>
            <a:off x="548640" y="5760720"/>
            <a:ext cx="11091672" cy="25400"/>
          </a:xfrm>
          <a:prstGeom prst="rect">
            <a:avLst/>
          </a:prstGeom>
          <a:solidFill>
            <a:srgbClr val="5FA8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 y="5852160"/>
            <a:ext cx="11091672" cy="274320"/>
          </a:xfrm>
          <a:prstGeom prst="rect">
            <a:avLst/>
          </a:prstGeom>
          <a:noFill/>
        </p:spPr>
        <p:txBody>
          <a:bodyPr wrap="square" lIns="0" rIns="0" tIns="0" bIns="0" anchor="t">
            <a:spAutoFit/>
          </a:bodyPr>
          <a:lstStyle/>
          <a:p>
            <a:pPr algn="l"/>
            <a:r>
              <a:rPr sz="1050" b="0" i="1">
                <a:solidFill>
                  <a:srgbClr val="3A6EA5"/>
                </a:solidFill>
                <a:latin typeface="Aptos"/>
                <a:ea typeface="Yu Gothic"/>
                <a:cs typeface="Aptos"/>
              </a:rPr>
              <a:t>Tailwind: 法定雇用率 2.3% → 2.5%（2024/4）→ 2.7%（2026/7）。市場は2027年に約980億円規模へ。</a:t>
            </a:r>
          </a:p>
        </p:txBody>
      </p:sp>
      <p:sp>
        <p:nvSpPr>
          <p:cNvPr id="38" name="TextBox 37"/>
          <p:cNvSpPr txBox="1"/>
          <p:nvPr/>
        </p:nvSpPr>
        <p:spPr>
          <a:xfrm>
            <a:off x="548640" y="6172200"/>
            <a:ext cx="11091672" cy="228600"/>
          </a:xfrm>
          <a:prstGeom prst="rect">
            <a:avLst/>
          </a:prstGeom>
          <a:noFill/>
        </p:spPr>
        <p:txBody>
          <a:bodyPr wrap="square" lIns="0" rIns="0" tIns="0" bIns="0" anchor="t">
            <a:spAutoFit/>
          </a:bodyPr>
          <a:lstStyle/>
          <a:p>
            <a:pPr algn="l"/>
            <a:r>
              <a:rPr sz="800" b="0" i="1">
                <a:solidFill>
                  <a:srgbClr val="6E7783"/>
                </a:solidFill>
                <a:latin typeface="Aptos"/>
                <a:ea typeface="Yu Gothic"/>
                <a:cs typeface="Aptos"/>
              </a:rPr>
              <a:t>Source: 株式会社manaby FY2025決算短信、works.manaby.co.jp、JMAR 業界調査。</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7315200" cy="274320"/>
          </a:xfrm>
          <a:prstGeom prst="rect">
            <a:avLst/>
          </a:prstGeom>
          <a:noFill/>
        </p:spPr>
        <p:txBody>
          <a:bodyPr wrap="square" lIns="0" rIns="0" tIns="0" bIns="0" anchor="t">
            <a:spAutoFit/>
          </a:bodyPr>
          <a:lstStyle/>
          <a:p>
            <a:pPr algn="l"/>
            <a:r>
              <a:rPr sz="900" b="1" i="0" spc="200">
                <a:solidFill>
                  <a:srgbClr val="5FA8D3"/>
                </a:solidFill>
                <a:latin typeface="Aptos"/>
                <a:ea typeface="Yu Gothic"/>
                <a:cs typeface="Aptos"/>
              </a:rPr>
              <a:t>ANCHOR CASE 02</a:t>
            </a:r>
          </a:p>
        </p:txBody>
      </p:sp>
      <p:sp>
        <p:nvSpPr>
          <p:cNvPr id="3" name="TextBox 2"/>
          <p:cNvSpPr txBox="1"/>
          <p:nvPr/>
        </p:nvSpPr>
        <p:spPr>
          <a:xfrm>
            <a:off x="5029200" y="411480"/>
            <a:ext cx="6583680" cy="274320"/>
          </a:xfrm>
          <a:prstGeom prst="rect">
            <a:avLst/>
          </a:prstGeom>
          <a:noFill/>
        </p:spPr>
        <p:txBody>
          <a:bodyPr wrap="square" lIns="0" rIns="0" tIns="0" bIns="0" anchor="t">
            <a:spAutoFit/>
          </a:bodyPr>
          <a:lstStyle/>
          <a:p>
            <a:pPr algn="r"/>
            <a:r>
              <a:rPr sz="850" b="1" i="0" spc="150">
                <a:solidFill>
                  <a:srgbClr val="6E7783"/>
                </a:solidFill>
                <a:latin typeface="Aptos"/>
                <a:ea typeface="Yu Gothic"/>
                <a:cs typeface="Aptos"/>
              </a:rPr>
              <a:t>TOHOKU FRONTIER IMPACT CAPITAL</a:t>
            </a:r>
          </a:p>
        </p:txBody>
      </p:sp>
      <p:sp>
        <p:nvSpPr>
          <p:cNvPr id="4" name="TextBox 3"/>
          <p:cNvSpPr txBox="1"/>
          <p:nvPr/>
        </p:nvSpPr>
        <p:spPr>
          <a:xfrm>
            <a:off x="548640" y="713232"/>
            <a:ext cx="11091672" cy="777240"/>
          </a:xfrm>
          <a:prstGeom prst="rect">
            <a:avLst/>
          </a:prstGeom>
          <a:noFill/>
        </p:spPr>
        <p:txBody>
          <a:bodyPr wrap="square" lIns="0" rIns="0" tIns="0" bIns="0" anchor="t">
            <a:spAutoFit/>
          </a:bodyPr>
          <a:lstStyle/>
          <a:p>
            <a:pPr algn="l"/>
            <a:r>
              <a:rPr sz="2600" b="1" i="0">
                <a:solidFill>
                  <a:srgbClr val="0F2747"/>
                </a:solidFill>
                <a:latin typeface="Aptos"/>
                <a:ea typeface="Yu Gothic"/>
                <a:cs typeface="Aptos"/>
              </a:rPr>
              <a:t>manaby：投資仮説とバリュー創造</a:t>
            </a:r>
          </a:p>
        </p:txBody>
      </p:sp>
      <p:sp>
        <p:nvSpPr>
          <p:cNvPr id="5" name="Rectangle 4"/>
          <p:cNvSpPr/>
          <p:nvPr/>
        </p:nvSpPr>
        <p:spPr>
          <a:xfrm>
            <a:off x="548640" y="1536192"/>
            <a:ext cx="731520" cy="31750"/>
          </a:xfrm>
          <a:prstGeom prst="rect">
            <a:avLst/>
          </a:prstGeom>
          <a:solidFill>
            <a:srgbClr val="5FA8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364224"/>
            <a:ext cx="11091672" cy="10972"/>
          </a:xfrm>
          <a:prstGeom prst="rect">
            <a:avLst/>
          </a:prstGeom>
          <a:solidFill>
            <a:srgbClr val="CF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46520"/>
            <a:ext cx="5486400" cy="274320"/>
          </a:xfrm>
          <a:prstGeom prst="rect">
            <a:avLst/>
          </a:prstGeom>
          <a:noFill/>
        </p:spPr>
        <p:txBody>
          <a:bodyPr wrap="square" lIns="0" rIns="0" tIns="0" bIns="0" anchor="t">
            <a:spAutoFit/>
          </a:bodyPr>
          <a:lstStyle/>
          <a:p>
            <a:pPr algn="l"/>
            <a:r>
              <a:rPr sz="750" b="1" i="0" spc="180">
                <a:solidFill>
                  <a:srgbClr val="6E7783"/>
                </a:solidFill>
                <a:latin typeface="Aptos"/>
                <a:ea typeface="Yu Gothic"/>
                <a:cs typeface="Aptos"/>
              </a:rPr>
              <a:t>STRICTLY PRIVATE &amp; CONFIDENTIAL  |  FOR DISCUSSION PURPOSES ONLY</a:t>
            </a:r>
          </a:p>
        </p:txBody>
      </p:sp>
      <p:sp>
        <p:nvSpPr>
          <p:cNvPr id="8" name="TextBox 7"/>
          <p:cNvSpPr txBox="1"/>
          <p:nvPr/>
        </p:nvSpPr>
        <p:spPr>
          <a:xfrm>
            <a:off x="8229600" y="6446520"/>
            <a:ext cx="3410712" cy="274320"/>
          </a:xfrm>
          <a:prstGeom prst="rect">
            <a:avLst/>
          </a:prstGeom>
          <a:noFill/>
        </p:spPr>
        <p:txBody>
          <a:bodyPr wrap="square" lIns="0" rIns="0" tIns="0" bIns="0" anchor="t">
            <a:spAutoFit/>
          </a:bodyPr>
          <a:lstStyle/>
          <a:p>
            <a:pPr algn="r"/>
            <a:r>
              <a:rPr sz="800" b="1" i="0" spc="120">
                <a:solidFill>
                  <a:srgbClr val="0F2747"/>
                </a:solidFill>
                <a:latin typeface="Aptos"/>
                <a:ea typeface="Yu Gothic"/>
                <a:cs typeface="Aptos"/>
              </a:rPr>
              <a:t>09 / 16</a:t>
            </a:r>
          </a:p>
        </p:txBody>
      </p:sp>
      <p:sp>
        <p:nvSpPr>
          <p:cNvPr id="9" name="TextBox 8"/>
          <p:cNvSpPr txBox="1"/>
          <p:nvPr/>
        </p:nvSpPr>
        <p:spPr>
          <a:xfrm>
            <a:off x="548640" y="1828800"/>
            <a:ext cx="6583680" cy="274320"/>
          </a:xfrm>
          <a:prstGeom prst="rect">
            <a:avLst/>
          </a:prstGeom>
          <a:noFill/>
        </p:spPr>
        <p:txBody>
          <a:bodyPr wrap="square" lIns="0" rIns="0" tIns="0" bIns="0" anchor="t">
            <a:spAutoFit/>
          </a:bodyPr>
          <a:lstStyle/>
          <a:p>
            <a:pPr algn="l"/>
            <a:r>
              <a:rPr sz="1000" b="1" i="0" spc="200">
                <a:solidFill>
                  <a:srgbClr val="5FA8D3"/>
                </a:solidFill>
                <a:latin typeface="Aptos"/>
                <a:ea typeface="Yu Gothic"/>
                <a:cs typeface="Aptos"/>
              </a:rPr>
              <a:t>FINANCIAL TRAJECTORY (¥ MN, FY ENDED MARCH)</a:t>
            </a:r>
          </a:p>
        </p:txBody>
      </p:sp>
      <p:graphicFrame>
        <p:nvGraphicFramePr>
          <p:cNvPr id="10" name="Table 9"/>
          <p:cNvGraphicFramePr>
            <a:graphicFrameLocks noGrp="1"/>
          </p:cNvGraphicFramePr>
          <p:nvPr/>
        </p:nvGraphicFramePr>
        <p:xfrm>
          <a:off x="548640" y="2148840"/>
          <a:ext cx="6583675" cy="2194560"/>
        </p:xfrm>
        <a:graphic>
          <a:graphicData uri="http://schemas.openxmlformats.org/drawingml/2006/table">
            <a:tbl>
              <a:tblPr firstRow="1" bandRow="1">
                <a:tableStyleId>{5C22544A-7EE6-4342-B048-85BDC9FD1C3A}</a:tableStyleId>
              </a:tblPr>
              <a:tblGrid>
                <a:gridCol w="1463039"/>
                <a:gridCol w="1005839"/>
                <a:gridCol w="1005839"/>
                <a:gridCol w="1005839"/>
                <a:gridCol w="1097280"/>
                <a:gridCol w="1005839"/>
              </a:tblGrid>
              <a:tr h="365760">
                <a:tc>
                  <a:txBody>
                    <a:bodyPr lIns="73152" rIns="73152" wrap="square"/>
                    <a:lstStyle/>
                    <a:p>
                      <a:pPr algn="l"/>
                      <a:r>
                        <a:rPr sz="1000" b="1" i="0">
                          <a:solidFill>
                            <a:srgbClr val="FFFFFF"/>
                          </a:solidFill>
                          <a:latin typeface="Aptos"/>
                          <a:ea typeface="Yu Gothic"/>
                          <a:cs typeface="Aptos"/>
                        </a:rPr>
                        <a:t>項目</a:t>
                      </a:r>
                    </a:p>
                  </a:txBody>
                  <a:tcPr marL="91440" marR="91440" marT="45720" marB="45720">
                    <a:solidFill>
                      <a:srgbClr val="0F2747"/>
                    </a:solidFill>
                  </a:tcPr>
                </a:tc>
                <a:tc>
                  <a:txBody>
                    <a:bodyPr lIns="73152" rIns="73152" wrap="square"/>
                    <a:lstStyle/>
                    <a:p>
                      <a:pPr algn="l"/>
                      <a:r>
                        <a:rPr sz="1000" b="1" i="0">
                          <a:solidFill>
                            <a:srgbClr val="FFFFFF"/>
                          </a:solidFill>
                          <a:latin typeface="Aptos"/>
                          <a:ea typeface="Yu Gothic"/>
                          <a:cs typeface="Aptos"/>
                        </a:rPr>
                        <a:t>FY22</a:t>
                      </a:r>
                    </a:p>
                  </a:txBody>
                  <a:tcPr marL="91440" marR="91440" marT="45720" marB="45720">
                    <a:solidFill>
                      <a:srgbClr val="0F2747"/>
                    </a:solidFill>
                  </a:tcPr>
                </a:tc>
                <a:tc>
                  <a:txBody>
                    <a:bodyPr lIns="73152" rIns="73152" wrap="square"/>
                    <a:lstStyle/>
                    <a:p>
                      <a:pPr algn="l"/>
                      <a:r>
                        <a:rPr sz="1000" b="1" i="0">
                          <a:solidFill>
                            <a:srgbClr val="FFFFFF"/>
                          </a:solidFill>
                          <a:latin typeface="Aptos"/>
                          <a:ea typeface="Yu Gothic"/>
                          <a:cs typeface="Aptos"/>
                        </a:rPr>
                        <a:t>FY23</a:t>
                      </a:r>
                    </a:p>
                  </a:txBody>
                  <a:tcPr marL="91440" marR="91440" marT="45720" marB="45720">
                    <a:solidFill>
                      <a:srgbClr val="0F2747"/>
                    </a:solidFill>
                  </a:tcPr>
                </a:tc>
                <a:tc>
                  <a:txBody>
                    <a:bodyPr lIns="73152" rIns="73152" wrap="square"/>
                    <a:lstStyle/>
                    <a:p>
                      <a:pPr algn="l"/>
                      <a:r>
                        <a:rPr sz="1000" b="1" i="0">
                          <a:solidFill>
                            <a:srgbClr val="FFFFFF"/>
                          </a:solidFill>
                          <a:latin typeface="Aptos"/>
                          <a:ea typeface="Yu Gothic"/>
                          <a:cs typeface="Aptos"/>
                        </a:rPr>
                        <a:t>FY24</a:t>
                      </a:r>
                    </a:p>
                  </a:txBody>
                  <a:tcPr marL="91440" marR="91440" marT="45720" marB="45720">
                    <a:solidFill>
                      <a:srgbClr val="0F2747"/>
                    </a:solidFill>
                  </a:tcPr>
                </a:tc>
                <a:tc>
                  <a:txBody>
                    <a:bodyPr lIns="73152" rIns="73152" wrap="square"/>
                    <a:lstStyle/>
                    <a:p>
                      <a:pPr algn="l"/>
                      <a:r>
                        <a:rPr sz="1000" b="1" i="0">
                          <a:solidFill>
                            <a:srgbClr val="FFFFFF"/>
                          </a:solidFill>
                          <a:latin typeface="Aptos"/>
                          <a:ea typeface="Yu Gothic"/>
                          <a:cs typeface="Aptos"/>
                        </a:rPr>
                        <a:t>FY25</a:t>
                      </a:r>
                    </a:p>
                  </a:txBody>
                  <a:tcPr marL="91440" marR="91440" marT="45720" marB="45720">
                    <a:solidFill>
                      <a:srgbClr val="0F2747"/>
                    </a:solidFill>
                  </a:tcPr>
                </a:tc>
                <a:tc>
                  <a:txBody>
                    <a:bodyPr lIns="73152" rIns="73152" wrap="square"/>
                    <a:lstStyle/>
                    <a:p>
                      <a:pPr algn="l"/>
                      <a:r>
                        <a:rPr sz="1000" b="1" i="0">
                          <a:solidFill>
                            <a:srgbClr val="FFFFFF"/>
                          </a:solidFill>
                          <a:latin typeface="Aptos"/>
                          <a:ea typeface="Yu Gothic"/>
                          <a:cs typeface="Aptos"/>
                        </a:rPr>
                        <a:t>FY26E</a:t>
                      </a:r>
                    </a:p>
                  </a:txBody>
                  <a:tcPr marL="91440" marR="91440" marT="45720" marB="45720">
                    <a:solidFill>
                      <a:srgbClr val="0F2747"/>
                    </a:solidFill>
                  </a:tcPr>
                </a:tc>
              </a:tr>
              <a:tr h="365760">
                <a:tc>
                  <a:txBody>
                    <a:bodyPr lIns="73152" rIns="73152" wrap="square"/>
                    <a:lstStyle/>
                    <a:p>
                      <a:pPr algn="r"/>
                      <a:r>
                        <a:rPr sz="1000" b="1" i="0">
                          <a:solidFill>
                            <a:srgbClr val="1F1F1F"/>
                          </a:solidFill>
                          <a:latin typeface="Aptos"/>
                          <a:ea typeface="Yu Gothic"/>
                          <a:cs typeface="Aptos"/>
                        </a:rPr>
                        <a:t>売上高</a:t>
                      </a:r>
                    </a:p>
                  </a:txBody>
                  <a:tcPr marL="91440" marR="91440" marT="45720" marB="45720">
                    <a:solidFill>
                      <a:srgbClr val="FFFFFF"/>
                    </a:solidFill>
                  </a:tcPr>
                </a:tc>
                <a:tc>
                  <a:txBody>
                    <a:bodyPr lIns="73152" rIns="73152" wrap="square"/>
                    <a:lstStyle/>
                    <a:p>
                      <a:pPr algn="r"/>
                      <a:r>
                        <a:rPr sz="1000" b="0" i="0">
                          <a:solidFill>
                            <a:srgbClr val="1F1F1F"/>
                          </a:solidFill>
                          <a:latin typeface="Aptos"/>
                          <a:ea typeface="Yu Gothic"/>
                          <a:cs typeface="Aptos"/>
                        </a:rPr>
                        <a:t>558</a:t>
                      </a:r>
                    </a:p>
                  </a:txBody>
                  <a:tcPr marL="91440" marR="91440" marT="45720" marB="45720">
                    <a:solidFill>
                      <a:srgbClr val="FFFFFF"/>
                    </a:solidFill>
                  </a:tcPr>
                </a:tc>
                <a:tc>
                  <a:txBody>
                    <a:bodyPr lIns="73152" rIns="73152" wrap="square"/>
                    <a:lstStyle/>
                    <a:p>
                      <a:pPr algn="r"/>
                      <a:r>
                        <a:rPr sz="1000" b="0" i="0">
                          <a:solidFill>
                            <a:srgbClr val="1F1F1F"/>
                          </a:solidFill>
                          <a:latin typeface="Aptos"/>
                          <a:ea typeface="Yu Gothic"/>
                          <a:cs typeface="Aptos"/>
                        </a:rPr>
                        <a:t>659</a:t>
                      </a:r>
                    </a:p>
                  </a:txBody>
                  <a:tcPr marL="91440" marR="91440" marT="45720" marB="45720">
                    <a:solidFill>
                      <a:srgbClr val="FFFFFF"/>
                    </a:solidFill>
                  </a:tcPr>
                </a:tc>
                <a:tc>
                  <a:txBody>
                    <a:bodyPr lIns="73152" rIns="73152" wrap="square"/>
                    <a:lstStyle/>
                    <a:p>
                      <a:pPr algn="r"/>
                      <a:r>
                        <a:rPr sz="1000" b="0" i="0">
                          <a:solidFill>
                            <a:srgbClr val="1F1F1F"/>
                          </a:solidFill>
                          <a:latin typeface="Aptos"/>
                          <a:ea typeface="Yu Gothic"/>
                          <a:cs typeface="Aptos"/>
                        </a:rPr>
                        <a:t>864</a:t>
                      </a:r>
                    </a:p>
                  </a:txBody>
                  <a:tcPr marL="91440" marR="91440" marT="45720" marB="45720">
                    <a:solidFill>
                      <a:srgbClr val="FFFFFF"/>
                    </a:solidFill>
                  </a:tcPr>
                </a:tc>
                <a:tc>
                  <a:txBody>
                    <a:bodyPr lIns="73152" rIns="73152" wrap="square"/>
                    <a:lstStyle/>
                    <a:p>
                      <a:pPr algn="r"/>
                      <a:r>
                        <a:rPr sz="1000" b="0" i="0">
                          <a:solidFill>
                            <a:srgbClr val="1F1F1F"/>
                          </a:solidFill>
                          <a:latin typeface="Aptos"/>
                          <a:ea typeface="Yu Gothic"/>
                          <a:cs typeface="Aptos"/>
                        </a:rPr>
                        <a:t>1,021</a:t>
                      </a:r>
                    </a:p>
                  </a:txBody>
                  <a:tcPr marL="91440" marR="91440" marT="45720" marB="45720">
                    <a:solidFill>
                      <a:srgbClr val="FFFFFF"/>
                    </a:solidFill>
                  </a:tcPr>
                </a:tc>
                <a:tc>
                  <a:txBody>
                    <a:bodyPr lIns="73152" rIns="73152" wrap="square"/>
                    <a:lstStyle/>
                    <a:p>
                      <a:pPr algn="r"/>
                      <a:r>
                        <a:rPr sz="1000" b="0" i="0">
                          <a:solidFill>
                            <a:srgbClr val="1F1F1F"/>
                          </a:solidFill>
                          <a:latin typeface="Aptos"/>
                          <a:ea typeface="Yu Gothic"/>
                          <a:cs typeface="Aptos"/>
                        </a:rPr>
                        <a:t>1,306</a:t>
                      </a:r>
                    </a:p>
                  </a:txBody>
                  <a:tcPr marL="91440" marR="91440" marT="45720" marB="45720">
                    <a:solidFill>
                      <a:srgbClr val="FFFFFF"/>
                    </a:solidFill>
                  </a:tcPr>
                </a:tc>
              </a:tr>
              <a:tr h="365760">
                <a:tc>
                  <a:txBody>
                    <a:bodyPr lIns="73152" rIns="73152" wrap="square"/>
                    <a:lstStyle/>
                    <a:p>
                      <a:pPr algn="r"/>
                      <a:r>
                        <a:rPr sz="1000" b="1" i="0">
                          <a:solidFill>
                            <a:srgbClr val="1F1F1F"/>
                          </a:solidFill>
                          <a:latin typeface="Aptos"/>
                          <a:ea typeface="Yu Gothic"/>
                          <a:cs typeface="Aptos"/>
                        </a:rPr>
                        <a:t>YoY %</a:t>
                      </a:r>
                    </a:p>
                  </a:txBody>
                  <a:tcPr marL="91440" marR="91440" marT="45720" marB="45720">
                    <a:solidFill>
                      <a:srgbClr val="E9EDF2"/>
                    </a:solidFill>
                  </a:tcPr>
                </a:tc>
                <a:tc>
                  <a:txBody>
                    <a:bodyPr lIns="73152" rIns="73152" wrap="square"/>
                    <a:lstStyle/>
                    <a:p>
                      <a:pPr algn="r"/>
                      <a:r>
                        <a:rPr sz="1000" b="0" i="0">
                          <a:solidFill>
                            <a:srgbClr val="1F1F1F"/>
                          </a:solidFill>
                          <a:latin typeface="Aptos"/>
                          <a:ea typeface="Yu Gothic"/>
                          <a:cs typeface="Aptos"/>
                        </a:rPr>
                        <a:t>+5.4%</a:t>
                      </a:r>
                    </a:p>
                  </a:txBody>
                  <a:tcPr marL="91440" marR="91440" marT="45720" marB="45720">
                    <a:solidFill>
                      <a:srgbClr val="E9EDF2"/>
                    </a:solidFill>
                  </a:tcPr>
                </a:tc>
                <a:tc>
                  <a:txBody>
                    <a:bodyPr lIns="73152" rIns="73152" wrap="square"/>
                    <a:lstStyle/>
                    <a:p>
                      <a:pPr algn="r"/>
                      <a:r>
                        <a:rPr sz="1000" b="0" i="0">
                          <a:solidFill>
                            <a:srgbClr val="1F1F1F"/>
                          </a:solidFill>
                          <a:latin typeface="Aptos"/>
                          <a:ea typeface="Yu Gothic"/>
                          <a:cs typeface="Aptos"/>
                        </a:rPr>
                        <a:t>+18.1%</a:t>
                      </a:r>
                    </a:p>
                  </a:txBody>
                  <a:tcPr marL="91440" marR="91440" marT="45720" marB="45720">
                    <a:solidFill>
                      <a:srgbClr val="E9EDF2"/>
                    </a:solidFill>
                  </a:tcPr>
                </a:tc>
                <a:tc>
                  <a:txBody>
                    <a:bodyPr lIns="73152" rIns="73152" wrap="square"/>
                    <a:lstStyle/>
                    <a:p>
                      <a:pPr algn="r"/>
                      <a:r>
                        <a:rPr sz="1000" b="0" i="0">
                          <a:solidFill>
                            <a:srgbClr val="1F1F1F"/>
                          </a:solidFill>
                          <a:latin typeface="Aptos"/>
                          <a:ea typeface="Yu Gothic"/>
                          <a:cs typeface="Aptos"/>
                        </a:rPr>
                        <a:t>+31.1%</a:t>
                      </a:r>
                    </a:p>
                  </a:txBody>
                  <a:tcPr marL="91440" marR="91440" marT="45720" marB="45720">
                    <a:solidFill>
                      <a:srgbClr val="E9EDF2"/>
                    </a:solidFill>
                  </a:tcPr>
                </a:tc>
                <a:tc>
                  <a:txBody>
                    <a:bodyPr lIns="73152" rIns="73152" wrap="square"/>
                    <a:lstStyle/>
                    <a:p>
                      <a:pPr algn="r"/>
                      <a:r>
                        <a:rPr sz="1000" b="0" i="0">
                          <a:solidFill>
                            <a:srgbClr val="1F1F1F"/>
                          </a:solidFill>
                          <a:latin typeface="Aptos"/>
                          <a:ea typeface="Yu Gothic"/>
                          <a:cs typeface="Aptos"/>
                        </a:rPr>
                        <a:t>+18.2%</a:t>
                      </a:r>
                    </a:p>
                  </a:txBody>
                  <a:tcPr marL="91440" marR="91440" marT="45720" marB="45720">
                    <a:solidFill>
                      <a:srgbClr val="E9EDF2"/>
                    </a:solidFill>
                  </a:tcPr>
                </a:tc>
                <a:tc>
                  <a:txBody>
                    <a:bodyPr lIns="73152" rIns="73152" wrap="square"/>
                    <a:lstStyle/>
                    <a:p>
                      <a:pPr algn="r"/>
                      <a:r>
                        <a:rPr sz="1000" b="0" i="0">
                          <a:solidFill>
                            <a:srgbClr val="1F1F1F"/>
                          </a:solidFill>
                          <a:latin typeface="Aptos"/>
                          <a:ea typeface="Yu Gothic"/>
                          <a:cs typeface="Aptos"/>
                        </a:rPr>
                        <a:t>+27.9%</a:t>
                      </a:r>
                    </a:p>
                  </a:txBody>
                  <a:tcPr marL="91440" marR="91440" marT="45720" marB="45720">
                    <a:solidFill>
                      <a:srgbClr val="E9EDF2"/>
                    </a:solidFill>
                  </a:tcPr>
                </a:tc>
              </a:tr>
              <a:tr h="365760">
                <a:tc>
                  <a:txBody>
                    <a:bodyPr lIns="73152" rIns="73152" wrap="square"/>
                    <a:lstStyle/>
                    <a:p>
                      <a:pPr algn="r"/>
                      <a:r>
                        <a:rPr sz="1000" b="1" i="0">
                          <a:solidFill>
                            <a:srgbClr val="1F1F1F"/>
                          </a:solidFill>
                          <a:latin typeface="Aptos"/>
                          <a:ea typeface="Yu Gothic"/>
                          <a:cs typeface="Aptos"/>
                        </a:rPr>
                        <a:t>営業損益</a:t>
                      </a:r>
                    </a:p>
                  </a:txBody>
                  <a:tcPr marL="91440" marR="91440" marT="45720" marB="45720">
                    <a:solidFill>
                      <a:srgbClr val="FFFFFF"/>
                    </a:solidFill>
                  </a:tcPr>
                </a:tc>
                <a:tc>
                  <a:txBody>
                    <a:bodyPr lIns="73152" rIns="73152" wrap="square"/>
                    <a:lstStyle/>
                    <a:p>
                      <a:pPr algn="r"/>
                      <a:r>
                        <a:rPr sz="1000" b="0" i="0">
                          <a:solidFill>
                            <a:srgbClr val="1F1F1F"/>
                          </a:solidFill>
                          <a:latin typeface="Aptos"/>
                          <a:ea typeface="Yu Gothic"/>
                          <a:cs typeface="Aptos"/>
                        </a:rPr>
                        <a:t>△8</a:t>
                      </a:r>
                    </a:p>
                  </a:txBody>
                  <a:tcPr marL="91440" marR="91440" marT="45720" marB="45720">
                    <a:solidFill>
                      <a:srgbClr val="FFFFFF"/>
                    </a:solidFill>
                  </a:tcPr>
                </a:tc>
                <a:tc>
                  <a:txBody>
                    <a:bodyPr lIns="73152" rIns="73152" wrap="square"/>
                    <a:lstStyle/>
                    <a:p>
                      <a:pPr algn="r"/>
                      <a:r>
                        <a:rPr sz="1000" b="0" i="0">
                          <a:solidFill>
                            <a:srgbClr val="1F1F1F"/>
                          </a:solidFill>
                          <a:latin typeface="Aptos"/>
                          <a:ea typeface="Yu Gothic"/>
                          <a:cs typeface="Aptos"/>
                        </a:rPr>
                        <a:t>△78</a:t>
                      </a:r>
                    </a:p>
                  </a:txBody>
                  <a:tcPr marL="91440" marR="91440" marT="45720" marB="45720">
                    <a:solidFill>
                      <a:srgbClr val="FFFFFF"/>
                    </a:solidFill>
                  </a:tcPr>
                </a:tc>
                <a:tc>
                  <a:txBody>
                    <a:bodyPr lIns="73152" rIns="73152" wrap="square"/>
                    <a:lstStyle/>
                    <a:p>
                      <a:pPr algn="r"/>
                      <a:r>
                        <a:rPr sz="1000" b="0" i="0">
                          <a:solidFill>
                            <a:srgbClr val="1F1F1F"/>
                          </a:solidFill>
                          <a:latin typeface="Aptos"/>
                          <a:ea typeface="Yu Gothic"/>
                          <a:cs typeface="Aptos"/>
                        </a:rPr>
                        <a:t>+17</a:t>
                      </a:r>
                    </a:p>
                  </a:txBody>
                  <a:tcPr marL="91440" marR="91440" marT="45720" marB="45720">
                    <a:solidFill>
                      <a:srgbClr val="FFFFFF"/>
                    </a:solidFill>
                  </a:tcPr>
                </a:tc>
                <a:tc>
                  <a:txBody>
                    <a:bodyPr lIns="73152" rIns="73152" wrap="square"/>
                    <a:lstStyle/>
                    <a:p>
                      <a:pPr algn="r"/>
                      <a:r>
                        <a:rPr sz="1000" b="0" i="0">
                          <a:solidFill>
                            <a:srgbClr val="1F1F1F"/>
                          </a:solidFill>
                          <a:latin typeface="Aptos"/>
                          <a:ea typeface="Yu Gothic"/>
                          <a:cs typeface="Aptos"/>
                        </a:rPr>
                        <a:t>△19</a:t>
                      </a:r>
                    </a:p>
                  </a:txBody>
                  <a:tcPr marL="91440" marR="91440" marT="45720" marB="45720">
                    <a:solidFill>
                      <a:srgbClr val="FFFFFF"/>
                    </a:solidFill>
                  </a:tcPr>
                </a:tc>
                <a:tc>
                  <a:txBody>
                    <a:bodyPr lIns="73152" rIns="73152" wrap="square"/>
                    <a:lstStyle/>
                    <a:p>
                      <a:pPr algn="r"/>
                      <a:r>
                        <a:rPr sz="1000" b="0" i="0">
                          <a:solidFill>
                            <a:srgbClr val="1F1F1F"/>
                          </a:solidFill>
                          <a:latin typeface="Aptos"/>
                          <a:ea typeface="Yu Gothic"/>
                          <a:cs typeface="Aptos"/>
                        </a:rPr>
                        <a:t>+19</a:t>
                      </a:r>
                    </a:p>
                  </a:txBody>
                  <a:tcPr marL="91440" marR="91440" marT="45720" marB="45720">
                    <a:solidFill>
                      <a:srgbClr val="FFFFFF"/>
                    </a:solidFill>
                  </a:tcPr>
                </a:tc>
              </a:tr>
              <a:tr h="365760">
                <a:tc>
                  <a:txBody>
                    <a:bodyPr lIns="73152" rIns="73152" wrap="square"/>
                    <a:lstStyle/>
                    <a:p>
                      <a:pPr algn="r"/>
                      <a:r>
                        <a:rPr sz="1000" b="1" i="0">
                          <a:solidFill>
                            <a:srgbClr val="1F1F1F"/>
                          </a:solidFill>
                          <a:latin typeface="Aptos"/>
                          <a:ea typeface="Yu Gothic"/>
                          <a:cs typeface="Aptos"/>
                        </a:rPr>
                        <a:t>当期純損益</a:t>
                      </a:r>
                    </a:p>
                  </a:txBody>
                  <a:tcPr marL="91440" marR="91440" marT="45720" marB="45720">
                    <a:solidFill>
                      <a:srgbClr val="E9EDF2"/>
                    </a:solidFill>
                  </a:tcPr>
                </a:tc>
                <a:tc>
                  <a:txBody>
                    <a:bodyPr lIns="73152" rIns="73152" wrap="square"/>
                    <a:lstStyle/>
                    <a:p>
                      <a:pPr algn="r"/>
                      <a:r>
                        <a:rPr sz="1000" b="0" i="0">
                          <a:solidFill>
                            <a:srgbClr val="1F1F1F"/>
                          </a:solidFill>
                          <a:latin typeface="Aptos"/>
                          <a:ea typeface="Yu Gothic"/>
                          <a:cs typeface="Aptos"/>
                        </a:rPr>
                        <a:t>△9</a:t>
                      </a:r>
                    </a:p>
                  </a:txBody>
                  <a:tcPr marL="91440" marR="91440" marT="45720" marB="45720">
                    <a:solidFill>
                      <a:srgbClr val="E9EDF2"/>
                    </a:solidFill>
                  </a:tcPr>
                </a:tc>
                <a:tc>
                  <a:txBody>
                    <a:bodyPr lIns="73152" rIns="73152" wrap="square"/>
                    <a:lstStyle/>
                    <a:p>
                      <a:pPr algn="r"/>
                      <a:r>
                        <a:rPr sz="1000" b="0" i="0">
                          <a:solidFill>
                            <a:srgbClr val="1F1F1F"/>
                          </a:solidFill>
                          <a:latin typeface="Aptos"/>
                          <a:ea typeface="Yu Gothic"/>
                          <a:cs typeface="Aptos"/>
                        </a:rPr>
                        <a:t>△53</a:t>
                      </a:r>
                    </a:p>
                  </a:txBody>
                  <a:tcPr marL="91440" marR="91440" marT="45720" marB="45720">
                    <a:solidFill>
                      <a:srgbClr val="E9EDF2"/>
                    </a:solidFill>
                  </a:tcPr>
                </a:tc>
                <a:tc>
                  <a:txBody>
                    <a:bodyPr lIns="73152" rIns="73152" wrap="square"/>
                    <a:lstStyle/>
                    <a:p>
                      <a:pPr algn="r"/>
                      <a:r>
                        <a:rPr sz="1000" b="0" i="0">
                          <a:solidFill>
                            <a:srgbClr val="1F1F1F"/>
                          </a:solidFill>
                          <a:latin typeface="Aptos"/>
                          <a:ea typeface="Yu Gothic"/>
                          <a:cs typeface="Aptos"/>
                        </a:rPr>
                        <a:t>+8</a:t>
                      </a:r>
                    </a:p>
                  </a:txBody>
                  <a:tcPr marL="91440" marR="91440" marT="45720" marB="45720">
                    <a:solidFill>
                      <a:srgbClr val="E9EDF2"/>
                    </a:solidFill>
                  </a:tcPr>
                </a:tc>
                <a:tc>
                  <a:txBody>
                    <a:bodyPr lIns="73152" rIns="73152" wrap="square"/>
                    <a:lstStyle/>
                    <a:p>
                      <a:pPr algn="r"/>
                      <a:r>
                        <a:rPr sz="1000" b="0" i="0">
                          <a:solidFill>
                            <a:srgbClr val="1F1F1F"/>
                          </a:solidFill>
                          <a:latin typeface="Aptos"/>
                          <a:ea typeface="Yu Gothic"/>
                          <a:cs typeface="Aptos"/>
                        </a:rPr>
                        <a:t>△17</a:t>
                      </a:r>
                    </a:p>
                  </a:txBody>
                  <a:tcPr marL="91440" marR="91440" marT="45720" marB="45720">
                    <a:solidFill>
                      <a:srgbClr val="E9EDF2"/>
                    </a:solidFill>
                  </a:tcPr>
                </a:tc>
                <a:tc>
                  <a:txBody>
                    <a:bodyPr lIns="73152" rIns="73152" wrap="square"/>
                    <a:lstStyle/>
                    <a:p>
                      <a:pPr algn="r"/>
                      <a:r>
                        <a:rPr sz="1000" b="0" i="0">
                          <a:solidFill>
                            <a:srgbClr val="1F1F1F"/>
                          </a:solidFill>
                          <a:latin typeface="Aptos"/>
                          <a:ea typeface="Yu Gothic"/>
                          <a:cs typeface="Aptos"/>
                        </a:rPr>
                        <a:t>+3</a:t>
                      </a:r>
                    </a:p>
                  </a:txBody>
                  <a:tcPr marL="91440" marR="91440" marT="45720" marB="45720">
                    <a:solidFill>
                      <a:srgbClr val="E9EDF2"/>
                    </a:solidFill>
                  </a:tcPr>
                </a:tc>
              </a:tr>
              <a:tr h="365760">
                <a:tc>
                  <a:txBody>
                    <a:bodyPr lIns="73152" rIns="73152" wrap="square"/>
                    <a:lstStyle/>
                    <a:p>
                      <a:pPr algn="r"/>
                      <a:r>
                        <a:rPr sz="1000" b="1" i="0">
                          <a:solidFill>
                            <a:srgbClr val="1F1F1F"/>
                          </a:solidFill>
                          <a:latin typeface="Aptos"/>
                          <a:ea typeface="Yu Gothic"/>
                          <a:cs typeface="Aptos"/>
                        </a:rPr>
                        <a:t>EPS（円）</a:t>
                      </a:r>
                    </a:p>
                  </a:txBody>
                  <a:tcPr marL="91440" marR="91440" marT="45720" marB="45720">
                    <a:solidFill>
                      <a:srgbClr val="FFFFFF"/>
                    </a:solidFill>
                  </a:tcPr>
                </a:tc>
                <a:tc>
                  <a:txBody>
                    <a:bodyPr lIns="73152" rIns="73152" wrap="square"/>
                    <a:lstStyle/>
                    <a:p>
                      <a:pPr algn="r"/>
                      <a:r>
                        <a:rPr sz="1000" b="0" i="0">
                          <a:solidFill>
                            <a:srgbClr val="1F1F1F"/>
                          </a:solidFill>
                          <a:latin typeface="Aptos"/>
                          <a:ea typeface="Yu Gothic"/>
                          <a:cs typeface="Aptos"/>
                        </a:rPr>
                        <a:t>△5.82</a:t>
                      </a:r>
                    </a:p>
                  </a:txBody>
                  <a:tcPr marL="91440" marR="91440" marT="45720" marB="45720">
                    <a:solidFill>
                      <a:srgbClr val="FFFFFF"/>
                    </a:solidFill>
                  </a:tcPr>
                </a:tc>
                <a:tc>
                  <a:txBody>
                    <a:bodyPr lIns="73152" rIns="73152" wrap="square"/>
                    <a:lstStyle/>
                    <a:p>
                      <a:pPr algn="r"/>
                      <a:r>
                        <a:rPr sz="1000" b="0" i="0">
                          <a:solidFill>
                            <a:srgbClr val="1F1F1F"/>
                          </a:solidFill>
                          <a:latin typeface="Aptos"/>
                          <a:ea typeface="Yu Gothic"/>
                          <a:cs typeface="Aptos"/>
                        </a:rPr>
                        <a:t>△33.71</a:t>
                      </a:r>
                    </a:p>
                  </a:txBody>
                  <a:tcPr marL="91440" marR="91440" marT="45720" marB="45720">
                    <a:solidFill>
                      <a:srgbClr val="FFFFFF"/>
                    </a:solidFill>
                  </a:tcPr>
                </a:tc>
                <a:tc>
                  <a:txBody>
                    <a:bodyPr lIns="73152" rIns="73152" wrap="square"/>
                    <a:lstStyle/>
                    <a:p>
                      <a:pPr algn="r"/>
                      <a:r>
                        <a:rPr sz="1000" b="0" i="0">
                          <a:solidFill>
                            <a:srgbClr val="1F1F1F"/>
                          </a:solidFill>
                          <a:latin typeface="Aptos"/>
                          <a:ea typeface="Yu Gothic"/>
                          <a:cs typeface="Aptos"/>
                        </a:rPr>
                        <a:t>5.17</a:t>
                      </a:r>
                    </a:p>
                  </a:txBody>
                  <a:tcPr marL="91440" marR="91440" marT="45720" marB="45720">
                    <a:solidFill>
                      <a:srgbClr val="FFFFFF"/>
                    </a:solidFill>
                  </a:tcPr>
                </a:tc>
                <a:tc>
                  <a:txBody>
                    <a:bodyPr lIns="73152" rIns="73152" wrap="square"/>
                    <a:lstStyle/>
                    <a:p>
                      <a:pPr algn="r"/>
                      <a:r>
                        <a:rPr sz="1000" b="0" i="0">
                          <a:solidFill>
                            <a:srgbClr val="1F1F1F"/>
                          </a:solidFill>
                          <a:latin typeface="Aptos"/>
                          <a:ea typeface="Yu Gothic"/>
                          <a:cs typeface="Aptos"/>
                        </a:rPr>
                        <a:t>△10.68</a:t>
                      </a:r>
                    </a:p>
                  </a:txBody>
                  <a:tcPr marL="91440" marR="91440" marT="45720" marB="45720">
                    <a:solidFill>
                      <a:srgbClr val="FFFFFF"/>
                    </a:solidFill>
                  </a:tcPr>
                </a:tc>
                <a:tc>
                  <a:txBody>
                    <a:bodyPr lIns="73152" rIns="73152" wrap="square"/>
                    <a:lstStyle/>
                    <a:p>
                      <a:pPr algn="r"/>
                      <a:r>
                        <a:rPr sz="1000" b="0" i="0">
                          <a:solidFill>
                            <a:srgbClr val="1F1F1F"/>
                          </a:solidFill>
                          <a:latin typeface="Aptos"/>
                          <a:ea typeface="Yu Gothic"/>
                          <a:cs typeface="Aptos"/>
                        </a:rPr>
                        <a:t>2.19</a:t>
                      </a:r>
                    </a:p>
                  </a:txBody>
                  <a:tcPr marL="91440" marR="91440" marT="45720" marB="45720">
                    <a:solidFill>
                      <a:srgbClr val="FFFFFF"/>
                    </a:solidFill>
                  </a:tcPr>
                </a:tc>
              </a:tr>
            </a:tbl>
          </a:graphicData>
        </a:graphic>
      </p:graphicFrame>
      <p:sp>
        <p:nvSpPr>
          <p:cNvPr id="11" name="TextBox 10"/>
          <p:cNvSpPr txBox="1"/>
          <p:nvPr/>
        </p:nvSpPr>
        <p:spPr>
          <a:xfrm>
            <a:off x="7315200" y="1828800"/>
            <a:ext cx="4297680" cy="274320"/>
          </a:xfrm>
          <a:prstGeom prst="rect">
            <a:avLst/>
          </a:prstGeom>
          <a:noFill/>
        </p:spPr>
        <p:txBody>
          <a:bodyPr wrap="square" lIns="0" rIns="0" tIns="0" bIns="0" anchor="t">
            <a:spAutoFit/>
          </a:bodyPr>
          <a:lstStyle/>
          <a:p>
            <a:pPr algn="l"/>
            <a:r>
              <a:rPr sz="1000" b="1" i="0" spc="200">
                <a:solidFill>
                  <a:srgbClr val="5FA8D3"/>
                </a:solidFill>
                <a:latin typeface="Aptos"/>
                <a:ea typeface="Yu Gothic"/>
                <a:cs typeface="Aptos"/>
              </a:rPr>
              <a:t>VALUE CREATION LEVERS</a:t>
            </a:r>
          </a:p>
        </p:txBody>
      </p:sp>
      <p:sp>
        <p:nvSpPr>
          <p:cNvPr id="12" name="TextBox 11"/>
          <p:cNvSpPr txBox="1"/>
          <p:nvPr/>
        </p:nvSpPr>
        <p:spPr>
          <a:xfrm>
            <a:off x="7315200" y="2148840"/>
            <a:ext cx="4297680" cy="2743200"/>
          </a:xfrm>
          <a:prstGeom prst="rect">
            <a:avLst/>
          </a:prstGeom>
          <a:noFill/>
        </p:spPr>
        <p:txBody>
          <a:bodyPr wrap="square" lIns="0" rIns="0" tIns="0" bIns="0">
            <a:spAutoFit/>
          </a:bodyPr>
          <a:lstStyle/>
          <a:p>
            <a:pPr algn="l">
              <a:lnSpc>
                <a:spcPct val="130000"/>
              </a:lnSpc>
              <a:spcAft>
                <a:spcPts val="300"/>
              </a:spcAft>
            </a:pPr>
            <a:r>
              <a:rPr sz="850" b="1" i="0">
                <a:solidFill>
                  <a:srgbClr val="5FA8D3"/>
                </a:solidFill>
                <a:latin typeface="Aptos"/>
                <a:ea typeface="Yu Gothic"/>
                <a:cs typeface="Aptos"/>
              </a:rPr>
              <a:t>■ </a:t>
            </a:r>
            <a:r>
              <a:rPr sz="1050" b="1" i="0">
                <a:solidFill>
                  <a:srgbClr val="0F2747"/>
                </a:solidFill>
                <a:latin typeface="Aptos"/>
                <a:ea typeface="Yu Gothic"/>
                <a:cs typeface="Aptos"/>
              </a:rPr>
              <a:t>ストック収益化</a:t>
            </a:r>
            <a:r>
              <a:rPr sz="1050" b="0" i="0">
                <a:solidFill>
                  <a:srgbClr val="1F1F1F"/>
                </a:solidFill>
                <a:latin typeface="Aptos"/>
                <a:ea typeface="Yu Gothic"/>
                <a:cs typeface="Aptos"/>
              </a:rPr>
              <a:t>  マナe SaaS外販・WORKSサブスクで非制度ストック比率を上昇。</a:t>
            </a:r>
          </a:p>
          <a:p>
            <a:pPr algn="l">
              <a:lnSpc>
                <a:spcPct val="130000"/>
              </a:lnSpc>
              <a:spcAft>
                <a:spcPts val="300"/>
              </a:spcAft>
            </a:pPr>
            <a:r>
              <a:rPr sz="850" b="1" i="0">
                <a:solidFill>
                  <a:srgbClr val="5FA8D3"/>
                </a:solidFill>
                <a:latin typeface="Aptos"/>
                <a:ea typeface="Yu Gothic"/>
                <a:cs typeface="Aptos"/>
              </a:rPr>
              <a:t>■ </a:t>
            </a:r>
            <a:r>
              <a:rPr sz="1050" b="1" i="0">
                <a:solidFill>
                  <a:srgbClr val="0F2747"/>
                </a:solidFill>
                <a:latin typeface="Aptos"/>
                <a:ea typeface="Yu Gothic"/>
                <a:cs typeface="Aptos"/>
              </a:rPr>
              <a:t>市場変更</a:t>
            </a:r>
            <a:r>
              <a:rPr sz="1050" b="0" i="0">
                <a:solidFill>
                  <a:srgbClr val="1F1F1F"/>
                </a:solidFill>
                <a:latin typeface="Aptos"/>
                <a:ea typeface="Yu Gothic"/>
                <a:cs typeface="Aptos"/>
              </a:rPr>
              <a:t>  TPM→グロース等へのステップアップで流動性・調達余地を顕在化。</a:t>
            </a:r>
          </a:p>
          <a:p>
            <a:pPr algn="l">
              <a:lnSpc>
                <a:spcPct val="130000"/>
              </a:lnSpc>
              <a:spcAft>
                <a:spcPts val="300"/>
              </a:spcAft>
            </a:pPr>
            <a:r>
              <a:rPr sz="850" b="1" i="0">
                <a:solidFill>
                  <a:srgbClr val="5FA8D3"/>
                </a:solidFill>
                <a:latin typeface="Aptos"/>
                <a:ea typeface="Yu Gothic"/>
                <a:cs typeface="Aptos"/>
              </a:rPr>
              <a:t>■ </a:t>
            </a:r>
            <a:r>
              <a:rPr sz="1050" b="1" i="0">
                <a:solidFill>
                  <a:srgbClr val="0F2747"/>
                </a:solidFill>
                <a:latin typeface="Aptos"/>
                <a:ea typeface="Yu Gothic"/>
                <a:cs typeface="Aptos"/>
              </a:rPr>
              <a:t>M&amp;A戦略</a:t>
            </a:r>
            <a:r>
              <a:rPr sz="1050" b="0" i="0">
                <a:solidFill>
                  <a:srgbClr val="1F1F1F"/>
                </a:solidFill>
                <a:latin typeface="Aptos"/>
                <a:ea typeface="Yu Gothic"/>
                <a:cs typeface="Aptos"/>
              </a:rPr>
              <a:t>  断片市場のロールアップ。実績4件のタックインを継続加速。</a:t>
            </a:r>
          </a:p>
          <a:p>
            <a:pPr algn="l">
              <a:lnSpc>
                <a:spcPct val="130000"/>
              </a:lnSpc>
              <a:spcAft>
                <a:spcPts val="300"/>
              </a:spcAft>
            </a:pPr>
            <a:r>
              <a:rPr sz="850" b="1" i="0">
                <a:solidFill>
                  <a:srgbClr val="5FA8D3"/>
                </a:solidFill>
                <a:latin typeface="Aptos"/>
                <a:ea typeface="Yu Gothic"/>
                <a:cs typeface="Aptos"/>
              </a:rPr>
              <a:t>■ </a:t>
            </a:r>
            <a:r>
              <a:rPr sz="1050" b="1" i="0">
                <a:solidFill>
                  <a:srgbClr val="0F2747"/>
                </a:solidFill>
                <a:latin typeface="Aptos"/>
                <a:ea typeface="Yu Gothic"/>
                <a:cs typeface="Aptos"/>
              </a:rPr>
              <a:t>ガバナンス</a:t>
            </a:r>
            <a:r>
              <a:rPr sz="1050" b="0" i="0">
                <a:solidFill>
                  <a:srgbClr val="1F1F1F"/>
                </a:solidFill>
                <a:latin typeface="Aptos"/>
                <a:ea typeface="Yu Gothic"/>
                <a:cs typeface="Aptos"/>
              </a:rPr>
              <a:t>  薄い自己資本（7.2%）・DTA超過・連続マイナスFCFへの財務規律。</a:t>
            </a:r>
          </a:p>
        </p:txBody>
      </p:sp>
      <p:sp>
        <p:nvSpPr>
          <p:cNvPr id="13" name="TextBox 12"/>
          <p:cNvSpPr txBox="1"/>
          <p:nvPr/>
        </p:nvSpPr>
        <p:spPr>
          <a:xfrm>
            <a:off x="548640" y="4617720"/>
            <a:ext cx="11091672" cy="274320"/>
          </a:xfrm>
          <a:prstGeom prst="rect">
            <a:avLst/>
          </a:prstGeom>
          <a:noFill/>
        </p:spPr>
        <p:txBody>
          <a:bodyPr wrap="square" lIns="0" rIns="0" tIns="0" bIns="0" anchor="t">
            <a:spAutoFit/>
          </a:bodyPr>
          <a:lstStyle/>
          <a:p>
            <a:pPr algn="l"/>
            <a:r>
              <a:rPr sz="1000" b="1" i="0" spc="200">
                <a:solidFill>
                  <a:srgbClr val="5FA8D3"/>
                </a:solidFill>
                <a:latin typeface="Aptos"/>
                <a:ea typeface="Yu Gothic"/>
                <a:cs typeface="Aptos"/>
              </a:rPr>
              <a:t>INVESTMENT RATIONALE</a:t>
            </a:r>
          </a:p>
        </p:txBody>
      </p:sp>
      <p:sp>
        <p:nvSpPr>
          <p:cNvPr id="14" name="TextBox 13"/>
          <p:cNvSpPr txBox="1"/>
          <p:nvPr/>
        </p:nvSpPr>
        <p:spPr>
          <a:xfrm>
            <a:off x="548640" y="4937760"/>
            <a:ext cx="11091672" cy="1463040"/>
          </a:xfrm>
          <a:prstGeom prst="rect">
            <a:avLst/>
          </a:prstGeom>
          <a:noFill/>
        </p:spPr>
        <p:txBody>
          <a:bodyPr wrap="square" lIns="0" rIns="0" tIns="0" bIns="0">
            <a:spAutoFit/>
          </a:bodyPr>
          <a:lstStyle/>
          <a:p>
            <a:pPr algn="l">
              <a:lnSpc>
                <a:spcPct val="135000"/>
              </a:lnSpc>
              <a:spcAft>
                <a:spcPts val="300"/>
              </a:spcAft>
            </a:pPr>
            <a:r>
              <a:rPr sz="900" b="1" i="0">
                <a:solidFill>
                  <a:srgbClr val="5FA8D3"/>
                </a:solidFill>
                <a:latin typeface="Aptos"/>
                <a:ea typeface="Yu Gothic"/>
                <a:cs typeface="Aptos"/>
              </a:rPr>
              <a:t>■ </a:t>
            </a:r>
            <a:r>
              <a:rPr sz="1100" b="1" i="0">
                <a:solidFill>
                  <a:srgbClr val="0F2747"/>
                </a:solidFill>
                <a:latin typeface="Aptos"/>
                <a:ea typeface="Yu Gothic"/>
                <a:cs typeface="Aptos"/>
              </a:rPr>
              <a:t>ミスプライス機会</a:t>
            </a:r>
            <a:r>
              <a:rPr sz="1100" b="0" i="0">
                <a:solidFill>
                  <a:srgbClr val="1F1F1F"/>
                </a:solidFill>
                <a:latin typeface="Aptos"/>
                <a:ea typeface="Yu Gothic"/>
                <a:cs typeface="Aptos"/>
              </a:rPr>
              <a:t>  TPMの薄商いで参照株価は気配評価額1,300円に張り付き。一般市場のマルチプル（LITALICOのPSR 1.2×等）にディスカウントが乗った状態。黒字定着＋ストック化でリレーティング余地。</a:t>
            </a:r>
          </a:p>
          <a:p>
            <a:pPr algn="l">
              <a:lnSpc>
                <a:spcPct val="135000"/>
              </a:lnSpc>
              <a:spcAft>
                <a:spcPts val="300"/>
              </a:spcAft>
            </a:pPr>
            <a:r>
              <a:rPr sz="900" b="1" i="0">
                <a:solidFill>
                  <a:srgbClr val="5FA8D3"/>
                </a:solidFill>
                <a:latin typeface="Aptos"/>
                <a:ea typeface="Yu Gothic"/>
                <a:cs typeface="Aptos"/>
              </a:rPr>
              <a:t>■ </a:t>
            </a:r>
            <a:r>
              <a:rPr sz="1100" b="1" i="0">
                <a:solidFill>
                  <a:srgbClr val="0F2747"/>
                </a:solidFill>
                <a:latin typeface="Aptos"/>
                <a:ea typeface="Yu Gothic"/>
                <a:cs typeface="Aptos"/>
              </a:rPr>
              <a:t>関与のレバレッジ</a:t>
            </a:r>
            <a:r>
              <a:rPr sz="1100" b="0" i="0">
                <a:solidFill>
                  <a:srgbClr val="1F1F1F"/>
                </a:solidFill>
                <a:latin typeface="Aptos"/>
                <a:ea typeface="Yu Gothic"/>
                <a:cs typeface="Aptos"/>
              </a:rPr>
              <a:t>  ガバナンス・資本政策・出口設計に対するGP関与の余地が大きい。創業者（持株〜77%）との連携前提の協調投資・第三者割当が想定経路。</a:t>
            </a:r>
          </a:p>
        </p:txBody>
      </p:sp>
      <p:sp>
        <p:nvSpPr>
          <p:cNvPr id="15" name="TextBox 14"/>
          <p:cNvSpPr txBox="1"/>
          <p:nvPr/>
        </p:nvSpPr>
        <p:spPr>
          <a:xfrm>
            <a:off x="548640" y="6446520"/>
            <a:ext cx="11091672" cy="228600"/>
          </a:xfrm>
          <a:prstGeom prst="rect">
            <a:avLst/>
          </a:prstGeom>
          <a:noFill/>
        </p:spPr>
        <p:txBody>
          <a:bodyPr wrap="square" lIns="0" rIns="0" tIns="0" bIns="0" anchor="t">
            <a:spAutoFit/>
          </a:bodyPr>
          <a:lstStyle/>
          <a:p>
            <a:pPr algn="l"/>
            <a:r>
              <a:rPr sz="800" b="0" i="1">
                <a:solidFill>
                  <a:srgbClr val="6E7783"/>
                </a:solidFill>
                <a:latin typeface="Aptos"/>
                <a:ea typeface="Yu Gothic"/>
                <a:cs typeface="Aptos"/>
              </a:rPr>
              <a:t>Note: Hypothetical investment case for illustrative purposes. Past performance is not indicative of future results.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7315200" cy="274320"/>
          </a:xfrm>
          <a:prstGeom prst="rect">
            <a:avLst/>
          </a:prstGeom>
          <a:noFill/>
        </p:spPr>
        <p:txBody>
          <a:bodyPr wrap="square" lIns="0" rIns="0" tIns="0" bIns="0" anchor="t">
            <a:spAutoFit/>
          </a:bodyPr>
          <a:lstStyle/>
          <a:p>
            <a:pPr algn="l"/>
            <a:r>
              <a:rPr sz="900" b="1" i="0" spc="200">
                <a:solidFill>
                  <a:srgbClr val="5FA8D3"/>
                </a:solidFill>
                <a:latin typeface="Aptos"/>
                <a:ea typeface="Yu Gothic"/>
                <a:cs typeface="Aptos"/>
              </a:rPr>
              <a:t>IMPACT CREATION</a:t>
            </a:r>
          </a:p>
        </p:txBody>
      </p:sp>
      <p:sp>
        <p:nvSpPr>
          <p:cNvPr id="3" name="TextBox 2"/>
          <p:cNvSpPr txBox="1"/>
          <p:nvPr/>
        </p:nvSpPr>
        <p:spPr>
          <a:xfrm>
            <a:off x="5029200" y="411480"/>
            <a:ext cx="6583680" cy="274320"/>
          </a:xfrm>
          <a:prstGeom prst="rect">
            <a:avLst/>
          </a:prstGeom>
          <a:noFill/>
        </p:spPr>
        <p:txBody>
          <a:bodyPr wrap="square" lIns="0" rIns="0" tIns="0" bIns="0" anchor="t">
            <a:spAutoFit/>
          </a:bodyPr>
          <a:lstStyle/>
          <a:p>
            <a:pPr algn="r"/>
            <a:r>
              <a:rPr sz="850" b="1" i="0" spc="150">
                <a:solidFill>
                  <a:srgbClr val="6E7783"/>
                </a:solidFill>
                <a:latin typeface="Aptos"/>
                <a:ea typeface="Yu Gothic"/>
                <a:cs typeface="Aptos"/>
              </a:rPr>
              <a:t>TOHOKU FRONTIER IMPACT CAPITAL</a:t>
            </a:r>
          </a:p>
        </p:txBody>
      </p:sp>
      <p:sp>
        <p:nvSpPr>
          <p:cNvPr id="4" name="TextBox 3"/>
          <p:cNvSpPr txBox="1"/>
          <p:nvPr/>
        </p:nvSpPr>
        <p:spPr>
          <a:xfrm>
            <a:off x="548640" y="713232"/>
            <a:ext cx="11091672" cy="777240"/>
          </a:xfrm>
          <a:prstGeom prst="rect">
            <a:avLst/>
          </a:prstGeom>
          <a:noFill/>
        </p:spPr>
        <p:txBody>
          <a:bodyPr wrap="square" lIns="0" rIns="0" tIns="0" bIns="0" anchor="t">
            <a:spAutoFit/>
          </a:bodyPr>
          <a:lstStyle/>
          <a:p>
            <a:pPr algn="l"/>
            <a:r>
              <a:rPr sz="2600" b="1" i="0">
                <a:solidFill>
                  <a:srgbClr val="0F2747"/>
                </a:solidFill>
                <a:latin typeface="Aptos"/>
                <a:ea typeface="Yu Gothic"/>
                <a:cs typeface="Aptos"/>
              </a:rPr>
              <a:t>インパクト・フレームワーク：IMP × SDGs × 測定</a:t>
            </a:r>
          </a:p>
        </p:txBody>
      </p:sp>
      <p:sp>
        <p:nvSpPr>
          <p:cNvPr id="5" name="Rectangle 4"/>
          <p:cNvSpPr/>
          <p:nvPr/>
        </p:nvSpPr>
        <p:spPr>
          <a:xfrm>
            <a:off x="548640" y="1536192"/>
            <a:ext cx="731520" cy="31750"/>
          </a:xfrm>
          <a:prstGeom prst="rect">
            <a:avLst/>
          </a:prstGeom>
          <a:solidFill>
            <a:srgbClr val="5FA8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364224"/>
            <a:ext cx="11091672" cy="10972"/>
          </a:xfrm>
          <a:prstGeom prst="rect">
            <a:avLst/>
          </a:prstGeom>
          <a:solidFill>
            <a:srgbClr val="CF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46520"/>
            <a:ext cx="5486400" cy="274320"/>
          </a:xfrm>
          <a:prstGeom prst="rect">
            <a:avLst/>
          </a:prstGeom>
          <a:noFill/>
        </p:spPr>
        <p:txBody>
          <a:bodyPr wrap="square" lIns="0" rIns="0" tIns="0" bIns="0" anchor="t">
            <a:spAutoFit/>
          </a:bodyPr>
          <a:lstStyle/>
          <a:p>
            <a:pPr algn="l"/>
            <a:r>
              <a:rPr sz="750" b="1" i="0" spc="180">
                <a:solidFill>
                  <a:srgbClr val="6E7783"/>
                </a:solidFill>
                <a:latin typeface="Aptos"/>
                <a:ea typeface="Yu Gothic"/>
                <a:cs typeface="Aptos"/>
              </a:rPr>
              <a:t>STRICTLY PRIVATE &amp; CONFIDENTIAL  |  FOR DISCUSSION PURPOSES ONLY</a:t>
            </a:r>
          </a:p>
        </p:txBody>
      </p:sp>
      <p:sp>
        <p:nvSpPr>
          <p:cNvPr id="8" name="TextBox 7"/>
          <p:cNvSpPr txBox="1"/>
          <p:nvPr/>
        </p:nvSpPr>
        <p:spPr>
          <a:xfrm>
            <a:off x="8229600" y="6446520"/>
            <a:ext cx="3410712" cy="274320"/>
          </a:xfrm>
          <a:prstGeom prst="rect">
            <a:avLst/>
          </a:prstGeom>
          <a:noFill/>
        </p:spPr>
        <p:txBody>
          <a:bodyPr wrap="square" lIns="0" rIns="0" tIns="0" bIns="0" anchor="t">
            <a:spAutoFit/>
          </a:bodyPr>
          <a:lstStyle/>
          <a:p>
            <a:pPr algn="r"/>
            <a:r>
              <a:rPr sz="800" b="1" i="0" spc="120">
                <a:solidFill>
                  <a:srgbClr val="0F2747"/>
                </a:solidFill>
                <a:latin typeface="Aptos"/>
                <a:ea typeface="Yu Gothic"/>
                <a:cs typeface="Aptos"/>
              </a:rPr>
              <a:t>10 / 16</a:t>
            </a:r>
          </a:p>
        </p:txBody>
      </p:sp>
      <p:sp>
        <p:nvSpPr>
          <p:cNvPr id="9" name="TextBox 8"/>
          <p:cNvSpPr txBox="1"/>
          <p:nvPr/>
        </p:nvSpPr>
        <p:spPr>
          <a:xfrm>
            <a:off x="548640" y="1828800"/>
            <a:ext cx="5577840" cy="274320"/>
          </a:xfrm>
          <a:prstGeom prst="rect">
            <a:avLst/>
          </a:prstGeom>
          <a:noFill/>
        </p:spPr>
        <p:txBody>
          <a:bodyPr wrap="square" lIns="0" rIns="0" tIns="0" bIns="0" anchor="t">
            <a:spAutoFit/>
          </a:bodyPr>
          <a:lstStyle/>
          <a:p>
            <a:pPr algn="l"/>
            <a:r>
              <a:rPr sz="1000" b="1" i="0" spc="200">
                <a:solidFill>
                  <a:srgbClr val="5FA8D3"/>
                </a:solidFill>
                <a:latin typeface="Aptos"/>
                <a:ea typeface="Yu Gothic"/>
                <a:cs typeface="Aptos"/>
              </a:rPr>
              <a:t>IMP 5 DIMENSIONS OF IMPACT</a:t>
            </a:r>
          </a:p>
        </p:txBody>
      </p:sp>
      <p:graphicFrame>
        <p:nvGraphicFramePr>
          <p:cNvPr id="10" name="Table 9"/>
          <p:cNvGraphicFramePr>
            <a:graphicFrameLocks noGrp="1"/>
          </p:cNvGraphicFramePr>
          <p:nvPr/>
        </p:nvGraphicFramePr>
        <p:xfrm>
          <a:off x="548640" y="2148840"/>
          <a:ext cx="5577839" cy="3200400"/>
        </p:xfrm>
        <a:graphic>
          <a:graphicData uri="http://schemas.openxmlformats.org/drawingml/2006/table">
            <a:tbl>
              <a:tblPr firstRow="1" bandRow="1">
                <a:tableStyleId>{5C22544A-7EE6-4342-B048-85BDC9FD1C3A}</a:tableStyleId>
              </a:tblPr>
              <a:tblGrid>
                <a:gridCol w="1424129"/>
                <a:gridCol w="4153710"/>
              </a:tblGrid>
              <a:tr h="533400">
                <a:tc>
                  <a:txBody>
                    <a:bodyPr lIns="73152" rIns="73152" wrap="square"/>
                    <a:lstStyle/>
                    <a:p>
                      <a:pPr algn="l"/>
                      <a:r>
                        <a:rPr sz="1000" b="1" i="0">
                          <a:solidFill>
                            <a:srgbClr val="FFFFFF"/>
                          </a:solidFill>
                          <a:latin typeface="Aptos"/>
                          <a:ea typeface="Yu Gothic"/>
                          <a:cs typeface="Aptos"/>
                        </a:rPr>
                        <a:t>Dimension</a:t>
                      </a:r>
                    </a:p>
                  </a:txBody>
                  <a:tcPr marL="91440" marR="91440" marT="45720" marB="45720">
                    <a:solidFill>
                      <a:srgbClr val="0F2747"/>
                    </a:solidFill>
                  </a:tcPr>
                </a:tc>
                <a:tc>
                  <a:txBody>
                    <a:bodyPr lIns="73152" rIns="73152" wrap="square"/>
                    <a:lstStyle/>
                    <a:p>
                      <a:pPr algn="l"/>
                      <a:r>
                        <a:rPr sz="1000" b="1" i="0">
                          <a:solidFill>
                            <a:srgbClr val="FFFFFF"/>
                          </a:solidFill>
                          <a:latin typeface="Aptos"/>
                          <a:ea typeface="Yu Gothic"/>
                          <a:cs typeface="Aptos"/>
                        </a:rPr>
                        <a:t>Tohoku Frontier の運用方針</a:t>
                      </a:r>
                    </a:p>
                  </a:txBody>
                  <a:tcPr marL="91440" marR="91440" marT="45720" marB="45720">
                    <a:solidFill>
                      <a:srgbClr val="0F2747"/>
                    </a:solidFill>
                  </a:tcPr>
                </a:tc>
              </a:tr>
              <a:tr h="533400">
                <a:tc>
                  <a:txBody>
                    <a:bodyPr lIns="73152" rIns="73152" wrap="square"/>
                    <a:lstStyle/>
                    <a:p>
                      <a:pPr algn="l"/>
                      <a:r>
                        <a:rPr sz="1000" b="1" i="0">
                          <a:solidFill>
                            <a:srgbClr val="1F1F1F"/>
                          </a:solidFill>
                          <a:latin typeface="Aptos"/>
                          <a:ea typeface="Yu Gothic"/>
                          <a:cs typeface="Aptos"/>
                        </a:rPr>
                        <a:t>What</a:t>
                      </a:r>
                    </a:p>
                  </a:txBody>
                  <a:tcPr marL="91440" marR="91440" marT="45720" marB="45720">
                    <a:solidFill>
                      <a:srgbClr val="FFFFFF"/>
                    </a:solidFill>
                  </a:tcPr>
                </a:tc>
                <a:tc>
                  <a:txBody>
                    <a:bodyPr lIns="73152" rIns="73152" wrap="square"/>
                    <a:lstStyle/>
                    <a:p>
                      <a:pPr algn="l"/>
                      <a:r>
                        <a:rPr sz="1000" b="0" i="0">
                          <a:solidFill>
                            <a:srgbClr val="1F1F1F"/>
                          </a:solidFill>
                          <a:latin typeface="Aptos"/>
                          <a:ea typeface="Yu Gothic"/>
                          <a:cs typeface="Aptos"/>
                        </a:rPr>
                        <a:t>雇用機会、健康寿命、地域GRP、教育機会、CO2、レジリエンス</a:t>
                      </a:r>
                    </a:p>
                  </a:txBody>
                  <a:tcPr marL="91440" marR="91440" marT="45720" marB="45720">
                    <a:solidFill>
                      <a:srgbClr val="FFFFFF"/>
                    </a:solidFill>
                  </a:tcPr>
                </a:tc>
              </a:tr>
              <a:tr h="533400">
                <a:tc>
                  <a:txBody>
                    <a:bodyPr lIns="73152" rIns="73152" wrap="square"/>
                    <a:lstStyle/>
                    <a:p>
                      <a:pPr algn="l"/>
                      <a:r>
                        <a:rPr sz="1000" b="1" i="0">
                          <a:solidFill>
                            <a:srgbClr val="1F1F1F"/>
                          </a:solidFill>
                          <a:latin typeface="Aptos"/>
                          <a:ea typeface="Yu Gothic"/>
                          <a:cs typeface="Aptos"/>
                        </a:rPr>
                        <a:t>Who</a:t>
                      </a:r>
                    </a:p>
                  </a:txBody>
                  <a:tcPr marL="91440" marR="91440" marT="45720" marB="45720">
                    <a:solidFill>
                      <a:srgbClr val="E9EDF2"/>
                    </a:solidFill>
                  </a:tcPr>
                </a:tc>
                <a:tc>
                  <a:txBody>
                    <a:bodyPr lIns="73152" rIns="73152" wrap="square"/>
                    <a:lstStyle/>
                    <a:p>
                      <a:pPr algn="l"/>
                      <a:r>
                        <a:rPr sz="1000" b="0" i="0">
                          <a:solidFill>
                            <a:srgbClr val="1F1F1F"/>
                          </a:solidFill>
                          <a:latin typeface="Aptos"/>
                          <a:ea typeface="Yu Gothic"/>
                          <a:cs typeface="Aptos"/>
                        </a:rPr>
                        <a:t>東北6県の社会的弱者（障害者、高齢者、子ども、就職困難層、地域住民）</a:t>
                      </a:r>
                    </a:p>
                  </a:txBody>
                  <a:tcPr marL="91440" marR="91440" marT="45720" marB="45720">
                    <a:solidFill>
                      <a:srgbClr val="E9EDF2"/>
                    </a:solidFill>
                  </a:tcPr>
                </a:tc>
              </a:tr>
              <a:tr h="533400">
                <a:tc>
                  <a:txBody>
                    <a:bodyPr lIns="73152" rIns="73152" wrap="square"/>
                    <a:lstStyle/>
                    <a:p>
                      <a:pPr algn="l"/>
                      <a:r>
                        <a:rPr sz="1000" b="1" i="0">
                          <a:solidFill>
                            <a:srgbClr val="1F1F1F"/>
                          </a:solidFill>
                          <a:latin typeface="Aptos"/>
                          <a:ea typeface="Yu Gothic"/>
                          <a:cs typeface="Aptos"/>
                        </a:rPr>
                        <a:t>How Much</a:t>
                      </a:r>
                    </a:p>
                  </a:txBody>
                  <a:tcPr marL="91440" marR="91440" marT="45720" marB="45720">
                    <a:solidFill>
                      <a:srgbClr val="FFFFFF"/>
                    </a:solidFill>
                  </a:tcPr>
                </a:tc>
                <a:tc>
                  <a:txBody>
                    <a:bodyPr lIns="73152" rIns="73152" wrap="square"/>
                    <a:lstStyle/>
                    <a:p>
                      <a:pPr algn="l"/>
                      <a:r>
                        <a:rPr sz="1000" b="0" i="0">
                          <a:solidFill>
                            <a:srgbClr val="1F1F1F"/>
                          </a:solidFill>
                          <a:latin typeface="Aptos"/>
                          <a:ea typeface="Yu Gothic"/>
                          <a:cs typeface="Aptos"/>
                        </a:rPr>
                        <a:t>投資前ベースライン × 投資期間中の改善量 × 期待持続年数</a:t>
                      </a:r>
                    </a:p>
                  </a:txBody>
                  <a:tcPr marL="91440" marR="91440" marT="45720" marB="45720">
                    <a:solidFill>
                      <a:srgbClr val="FFFFFF"/>
                    </a:solidFill>
                  </a:tcPr>
                </a:tc>
              </a:tr>
              <a:tr h="533400">
                <a:tc>
                  <a:txBody>
                    <a:bodyPr lIns="73152" rIns="73152" wrap="square"/>
                    <a:lstStyle/>
                    <a:p>
                      <a:pPr algn="l"/>
                      <a:r>
                        <a:rPr sz="1000" b="1" i="0">
                          <a:solidFill>
                            <a:srgbClr val="1F1F1F"/>
                          </a:solidFill>
                          <a:latin typeface="Aptos"/>
                          <a:ea typeface="Yu Gothic"/>
                          <a:cs typeface="Aptos"/>
                        </a:rPr>
                        <a:t>Contribution</a:t>
                      </a:r>
                    </a:p>
                  </a:txBody>
                  <a:tcPr marL="91440" marR="91440" marT="45720" marB="45720">
                    <a:solidFill>
                      <a:srgbClr val="E9EDF2"/>
                    </a:solidFill>
                  </a:tcPr>
                </a:tc>
                <a:tc>
                  <a:txBody>
                    <a:bodyPr lIns="73152" rIns="73152" wrap="square"/>
                    <a:lstStyle/>
                    <a:p>
                      <a:pPr algn="l"/>
                      <a:r>
                        <a:rPr sz="1000" b="0" i="0">
                          <a:solidFill>
                            <a:srgbClr val="1F1F1F"/>
                          </a:solidFill>
                          <a:latin typeface="Aptos"/>
                          <a:ea typeface="Yu Gothic"/>
                          <a:cs typeface="Aptos"/>
                        </a:rPr>
                        <a:t>他資金との比較で「我々がいなければ起きなかった」差分を測定</a:t>
                      </a:r>
                    </a:p>
                  </a:txBody>
                  <a:tcPr marL="91440" marR="91440" marT="45720" marB="45720">
                    <a:solidFill>
                      <a:srgbClr val="E9EDF2"/>
                    </a:solidFill>
                  </a:tcPr>
                </a:tc>
              </a:tr>
              <a:tr h="533400">
                <a:tc>
                  <a:txBody>
                    <a:bodyPr lIns="73152" rIns="73152" wrap="square"/>
                    <a:lstStyle/>
                    <a:p>
                      <a:pPr algn="l"/>
                      <a:r>
                        <a:rPr sz="1000" b="1" i="0">
                          <a:solidFill>
                            <a:srgbClr val="1F1F1F"/>
                          </a:solidFill>
                          <a:latin typeface="Aptos"/>
                          <a:ea typeface="Yu Gothic"/>
                          <a:cs typeface="Aptos"/>
                        </a:rPr>
                        <a:t>Risk</a:t>
                      </a:r>
                    </a:p>
                  </a:txBody>
                  <a:tcPr marL="91440" marR="91440" marT="45720" marB="45720">
                    <a:solidFill>
                      <a:srgbClr val="FFFFFF"/>
                    </a:solidFill>
                  </a:tcPr>
                </a:tc>
                <a:tc>
                  <a:txBody>
                    <a:bodyPr lIns="73152" rIns="73152" wrap="square"/>
                    <a:lstStyle/>
                    <a:p>
                      <a:pPr algn="l"/>
                      <a:r>
                        <a:rPr sz="1000" b="0" i="0">
                          <a:solidFill>
                            <a:srgbClr val="1F1F1F"/>
                          </a:solidFill>
                          <a:latin typeface="Aptos"/>
                          <a:ea typeface="Yu Gothic"/>
                          <a:cs typeface="Aptos"/>
                        </a:rPr>
                        <a:t>Evidence/External/Drop-off/Endurance/Stakeholder Risk を年次評価</a:t>
                      </a:r>
                    </a:p>
                  </a:txBody>
                  <a:tcPr marL="91440" marR="91440" marT="45720" marB="45720">
                    <a:solidFill>
                      <a:srgbClr val="FFFFFF"/>
                    </a:solidFill>
                  </a:tcPr>
                </a:tc>
              </a:tr>
            </a:tbl>
          </a:graphicData>
        </a:graphic>
      </p:graphicFrame>
      <p:sp>
        <p:nvSpPr>
          <p:cNvPr id="11" name="TextBox 10"/>
          <p:cNvSpPr txBox="1"/>
          <p:nvPr/>
        </p:nvSpPr>
        <p:spPr>
          <a:xfrm>
            <a:off x="6400800" y="1828800"/>
            <a:ext cx="5212080" cy="274320"/>
          </a:xfrm>
          <a:prstGeom prst="rect">
            <a:avLst/>
          </a:prstGeom>
          <a:noFill/>
        </p:spPr>
        <p:txBody>
          <a:bodyPr wrap="square" lIns="0" rIns="0" tIns="0" bIns="0" anchor="t">
            <a:spAutoFit/>
          </a:bodyPr>
          <a:lstStyle/>
          <a:p>
            <a:pPr algn="l"/>
            <a:r>
              <a:rPr sz="1000" b="1" i="0" spc="200">
                <a:solidFill>
                  <a:srgbClr val="5FA8D3"/>
                </a:solidFill>
                <a:latin typeface="Aptos"/>
                <a:ea typeface="Yu Gothic"/>
                <a:cs typeface="Aptos"/>
              </a:rPr>
              <a:t>REPORTING KPIs（例）</a:t>
            </a:r>
          </a:p>
        </p:txBody>
      </p:sp>
      <p:sp>
        <p:nvSpPr>
          <p:cNvPr id="12" name="TextBox 11"/>
          <p:cNvSpPr txBox="1"/>
          <p:nvPr/>
        </p:nvSpPr>
        <p:spPr>
          <a:xfrm>
            <a:off x="6400800" y="2148840"/>
            <a:ext cx="5212080" cy="3657600"/>
          </a:xfrm>
          <a:prstGeom prst="rect">
            <a:avLst/>
          </a:prstGeom>
          <a:noFill/>
        </p:spPr>
        <p:txBody>
          <a:bodyPr wrap="square" lIns="0" rIns="0" tIns="0" bIns="0">
            <a:spAutoFit/>
          </a:bodyPr>
          <a:lstStyle/>
          <a:p>
            <a:pPr algn="l">
              <a:lnSpc>
                <a:spcPct val="135000"/>
              </a:lnSpc>
              <a:spcAft>
                <a:spcPts val="300"/>
              </a:spcAft>
            </a:pPr>
            <a:r>
              <a:rPr sz="900" b="1" i="0">
                <a:solidFill>
                  <a:srgbClr val="5FA8D3"/>
                </a:solidFill>
                <a:latin typeface="Aptos"/>
                <a:ea typeface="Yu Gothic"/>
                <a:cs typeface="Aptos"/>
              </a:rPr>
              <a:t>■ </a:t>
            </a:r>
            <a:r>
              <a:rPr sz="1100" b="1" i="0">
                <a:solidFill>
                  <a:srgbClr val="0F2747"/>
                </a:solidFill>
                <a:latin typeface="Aptos"/>
                <a:ea typeface="Yu Gothic"/>
                <a:cs typeface="Aptos"/>
              </a:rPr>
              <a:t>障害者就労</a:t>
            </a:r>
            <a:r>
              <a:rPr sz="1100" b="0" i="0">
                <a:solidFill>
                  <a:srgbClr val="1F1F1F"/>
                </a:solidFill>
                <a:latin typeface="Aptos"/>
                <a:ea typeface="Yu Gothic"/>
                <a:cs typeface="Aptos"/>
              </a:rPr>
              <a:t>  新規就職者数、6ヶ月定着率、在宅就労比率、平均月収。</a:t>
            </a:r>
          </a:p>
          <a:p>
            <a:pPr algn="l">
              <a:lnSpc>
                <a:spcPct val="135000"/>
              </a:lnSpc>
              <a:spcAft>
                <a:spcPts val="300"/>
              </a:spcAft>
            </a:pPr>
            <a:r>
              <a:rPr sz="900" b="1" i="0">
                <a:solidFill>
                  <a:srgbClr val="5FA8D3"/>
                </a:solidFill>
                <a:latin typeface="Aptos"/>
                <a:ea typeface="Yu Gothic"/>
                <a:cs typeface="Aptos"/>
              </a:rPr>
              <a:t>■ </a:t>
            </a:r>
            <a:r>
              <a:rPr sz="1100" b="1" i="0">
                <a:solidFill>
                  <a:srgbClr val="0F2747"/>
                </a:solidFill>
                <a:latin typeface="Aptos"/>
                <a:ea typeface="Yu Gothic"/>
                <a:cs typeface="Aptos"/>
              </a:rPr>
              <a:t>高齢者・医療</a:t>
            </a:r>
            <a:r>
              <a:rPr sz="1100" b="0" i="0">
                <a:solidFill>
                  <a:srgbClr val="1F1F1F"/>
                </a:solidFill>
                <a:latin typeface="Aptos"/>
                <a:ea typeface="Yu Gothic"/>
                <a:cs typeface="Aptos"/>
              </a:rPr>
              <a:t>  在宅率、再入院率、ADL改善、ケアラー負担スコア。</a:t>
            </a:r>
          </a:p>
          <a:p>
            <a:pPr algn="l">
              <a:lnSpc>
                <a:spcPct val="135000"/>
              </a:lnSpc>
              <a:spcAft>
                <a:spcPts val="300"/>
              </a:spcAft>
            </a:pPr>
            <a:r>
              <a:rPr sz="900" b="1" i="0">
                <a:solidFill>
                  <a:srgbClr val="5FA8D3"/>
                </a:solidFill>
                <a:latin typeface="Aptos"/>
                <a:ea typeface="Yu Gothic"/>
                <a:cs typeface="Aptos"/>
              </a:rPr>
              <a:t>■ </a:t>
            </a:r>
            <a:r>
              <a:rPr sz="1100" b="1" i="0">
                <a:solidFill>
                  <a:srgbClr val="0F2747"/>
                </a:solidFill>
                <a:latin typeface="Aptos"/>
                <a:ea typeface="Yu Gothic"/>
                <a:cs typeface="Aptos"/>
              </a:rPr>
              <a:t>地域DX</a:t>
            </a:r>
            <a:r>
              <a:rPr sz="1100" b="0" i="0">
                <a:solidFill>
                  <a:srgbClr val="1F1F1F"/>
                </a:solidFill>
                <a:latin typeface="Aptos"/>
                <a:ea typeface="Yu Gothic"/>
                <a:cs typeface="Aptos"/>
              </a:rPr>
              <a:t>  公共サービス改善時間、域内雇用創出数、住民満足度。</a:t>
            </a:r>
          </a:p>
          <a:p>
            <a:pPr algn="l">
              <a:lnSpc>
                <a:spcPct val="135000"/>
              </a:lnSpc>
              <a:spcAft>
                <a:spcPts val="300"/>
              </a:spcAft>
            </a:pPr>
            <a:r>
              <a:rPr sz="900" b="1" i="0">
                <a:solidFill>
                  <a:srgbClr val="5FA8D3"/>
                </a:solidFill>
                <a:latin typeface="Aptos"/>
                <a:ea typeface="Yu Gothic"/>
                <a:cs typeface="Aptos"/>
              </a:rPr>
              <a:t>■ </a:t>
            </a:r>
            <a:r>
              <a:rPr sz="1100" b="1" i="0">
                <a:solidFill>
                  <a:srgbClr val="0F2747"/>
                </a:solidFill>
                <a:latin typeface="Aptos"/>
                <a:ea typeface="Yu Gothic"/>
                <a:cs typeface="Aptos"/>
              </a:rPr>
              <a:t>一次産業</a:t>
            </a:r>
            <a:r>
              <a:rPr sz="1100" b="0" i="0">
                <a:solidFill>
                  <a:srgbClr val="1F1F1F"/>
                </a:solidFill>
                <a:latin typeface="Aptos"/>
                <a:ea typeface="Yu Gothic"/>
                <a:cs typeface="Aptos"/>
              </a:rPr>
              <a:t>  GHG削減トン数、所得向上、後継者比率、輸出比率。</a:t>
            </a:r>
          </a:p>
          <a:p>
            <a:pPr algn="l">
              <a:lnSpc>
                <a:spcPct val="135000"/>
              </a:lnSpc>
              <a:spcAft>
                <a:spcPts val="300"/>
              </a:spcAft>
            </a:pPr>
            <a:r>
              <a:rPr sz="900" b="1" i="0">
                <a:solidFill>
                  <a:srgbClr val="5FA8D3"/>
                </a:solidFill>
                <a:latin typeface="Aptos"/>
                <a:ea typeface="Yu Gothic"/>
                <a:cs typeface="Aptos"/>
              </a:rPr>
              <a:t>■ </a:t>
            </a:r>
            <a:r>
              <a:rPr sz="1100" b="1" i="0">
                <a:solidFill>
                  <a:srgbClr val="0F2747"/>
                </a:solidFill>
                <a:latin typeface="Aptos"/>
                <a:ea typeface="Yu Gothic"/>
                <a:cs typeface="Aptos"/>
              </a:rPr>
              <a:t>教育</a:t>
            </a:r>
            <a:r>
              <a:rPr sz="1100" b="0" i="0">
                <a:solidFill>
                  <a:srgbClr val="1F1F1F"/>
                </a:solidFill>
                <a:latin typeface="Aptos"/>
                <a:ea typeface="Yu Gothic"/>
                <a:cs typeface="Aptos"/>
              </a:rPr>
              <a:t>  学習継続率、修了後の進路、リスキリング移行率。</a:t>
            </a:r>
          </a:p>
        </p:txBody>
      </p:sp>
      <p:sp>
        <p:nvSpPr>
          <p:cNvPr id="13" name="TextBox 12"/>
          <p:cNvSpPr txBox="1"/>
          <p:nvPr/>
        </p:nvSpPr>
        <p:spPr>
          <a:xfrm>
            <a:off x="6400800" y="4846320"/>
            <a:ext cx="5212080" cy="274320"/>
          </a:xfrm>
          <a:prstGeom prst="rect">
            <a:avLst/>
          </a:prstGeom>
          <a:noFill/>
        </p:spPr>
        <p:txBody>
          <a:bodyPr wrap="square" lIns="0" rIns="0" tIns="0" bIns="0" anchor="t">
            <a:spAutoFit/>
          </a:bodyPr>
          <a:lstStyle/>
          <a:p>
            <a:pPr algn="l"/>
            <a:r>
              <a:rPr sz="1000" b="1" i="0" spc="200">
                <a:solidFill>
                  <a:srgbClr val="5FA8D3"/>
                </a:solidFill>
                <a:latin typeface="Aptos"/>
                <a:ea typeface="Yu Gothic"/>
                <a:cs typeface="Aptos"/>
              </a:rPr>
              <a:t>SDGs ALIGNMENT</a:t>
            </a:r>
          </a:p>
        </p:txBody>
      </p:sp>
      <p:sp>
        <p:nvSpPr>
          <p:cNvPr id="14" name="TextBox 13"/>
          <p:cNvSpPr txBox="1"/>
          <p:nvPr/>
        </p:nvSpPr>
        <p:spPr>
          <a:xfrm>
            <a:off x="6400800" y="5166360"/>
            <a:ext cx="5212080" cy="640080"/>
          </a:xfrm>
          <a:prstGeom prst="rect">
            <a:avLst/>
          </a:prstGeom>
          <a:noFill/>
        </p:spPr>
        <p:txBody>
          <a:bodyPr wrap="square" lIns="0" rIns="0" tIns="0" bIns="0" anchor="t">
            <a:spAutoFit/>
          </a:bodyPr>
          <a:lstStyle/>
          <a:p>
            <a:pPr algn="l"/>
            <a:r>
              <a:rPr sz="1400" b="1" i="0" spc="180">
                <a:solidFill>
                  <a:srgbClr val="0F2747"/>
                </a:solidFill>
                <a:latin typeface="Aptos"/>
                <a:ea typeface="Yu Gothic"/>
                <a:cs typeface="Aptos"/>
              </a:rPr>
              <a:t>Goal 3 ・ 4 ・ 8 ・ 9 ・ 10 ・ 11 ・ 12 ・ 17</a:t>
            </a:r>
          </a:p>
        </p:txBody>
      </p:sp>
      <p:sp>
        <p:nvSpPr>
          <p:cNvPr id="15" name="TextBox 14"/>
          <p:cNvSpPr txBox="1"/>
          <p:nvPr/>
        </p:nvSpPr>
        <p:spPr>
          <a:xfrm>
            <a:off x="548640" y="6126480"/>
            <a:ext cx="11091672" cy="228600"/>
          </a:xfrm>
          <a:prstGeom prst="rect">
            <a:avLst/>
          </a:prstGeom>
          <a:noFill/>
        </p:spPr>
        <p:txBody>
          <a:bodyPr wrap="square" lIns="0" rIns="0" tIns="0" bIns="0" anchor="t">
            <a:spAutoFit/>
          </a:bodyPr>
          <a:lstStyle/>
          <a:p>
            <a:pPr algn="l"/>
            <a:r>
              <a:rPr sz="850" b="0" i="1">
                <a:solidFill>
                  <a:srgbClr val="6E7783"/>
                </a:solidFill>
                <a:latin typeface="Aptos"/>
                <a:ea typeface="Yu Gothic"/>
                <a:cs typeface="Aptos"/>
              </a:rPr>
              <a:t>Framework: Impact Management Project (IMP) / B Lab / SASB / TCFD / GRI を準拠。第三者検証を年次実施。</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7315200" cy="274320"/>
          </a:xfrm>
          <a:prstGeom prst="rect">
            <a:avLst/>
          </a:prstGeom>
          <a:noFill/>
        </p:spPr>
        <p:txBody>
          <a:bodyPr wrap="square" lIns="0" rIns="0" tIns="0" bIns="0" anchor="t">
            <a:spAutoFit/>
          </a:bodyPr>
          <a:lstStyle/>
          <a:p>
            <a:pPr algn="l"/>
            <a:r>
              <a:rPr sz="900" b="1" i="0" spc="200">
                <a:solidFill>
                  <a:srgbClr val="5FA8D3"/>
                </a:solidFill>
                <a:latin typeface="Aptos"/>
                <a:ea typeface="Yu Gothic"/>
                <a:cs typeface="Aptos"/>
              </a:rPr>
              <a:t>FINANCIAL RETURN</a:t>
            </a:r>
          </a:p>
        </p:txBody>
      </p:sp>
      <p:sp>
        <p:nvSpPr>
          <p:cNvPr id="3" name="TextBox 2"/>
          <p:cNvSpPr txBox="1"/>
          <p:nvPr/>
        </p:nvSpPr>
        <p:spPr>
          <a:xfrm>
            <a:off x="5029200" y="411480"/>
            <a:ext cx="6583680" cy="274320"/>
          </a:xfrm>
          <a:prstGeom prst="rect">
            <a:avLst/>
          </a:prstGeom>
          <a:noFill/>
        </p:spPr>
        <p:txBody>
          <a:bodyPr wrap="square" lIns="0" rIns="0" tIns="0" bIns="0" anchor="t">
            <a:spAutoFit/>
          </a:bodyPr>
          <a:lstStyle/>
          <a:p>
            <a:pPr algn="r"/>
            <a:r>
              <a:rPr sz="850" b="1" i="0" spc="150">
                <a:solidFill>
                  <a:srgbClr val="6E7783"/>
                </a:solidFill>
                <a:latin typeface="Aptos"/>
                <a:ea typeface="Yu Gothic"/>
                <a:cs typeface="Aptos"/>
              </a:rPr>
              <a:t>TOHOKU FRONTIER IMPACT CAPITAL</a:t>
            </a:r>
          </a:p>
        </p:txBody>
      </p:sp>
      <p:sp>
        <p:nvSpPr>
          <p:cNvPr id="4" name="TextBox 3"/>
          <p:cNvSpPr txBox="1"/>
          <p:nvPr/>
        </p:nvSpPr>
        <p:spPr>
          <a:xfrm>
            <a:off x="548640" y="713232"/>
            <a:ext cx="11091672" cy="777240"/>
          </a:xfrm>
          <a:prstGeom prst="rect">
            <a:avLst/>
          </a:prstGeom>
          <a:noFill/>
        </p:spPr>
        <p:txBody>
          <a:bodyPr wrap="square" lIns="0" rIns="0" tIns="0" bIns="0" anchor="t">
            <a:spAutoFit/>
          </a:bodyPr>
          <a:lstStyle/>
          <a:p>
            <a:pPr algn="l"/>
            <a:r>
              <a:rPr sz="2600" b="1" i="0">
                <a:solidFill>
                  <a:srgbClr val="0F2747"/>
                </a:solidFill>
                <a:latin typeface="Aptos"/>
                <a:ea typeface="Yu Gothic"/>
                <a:cs typeface="Aptos"/>
              </a:rPr>
              <a:t>リターン・プロファイル：J-Curve と目標水準</a:t>
            </a:r>
          </a:p>
        </p:txBody>
      </p:sp>
      <p:sp>
        <p:nvSpPr>
          <p:cNvPr id="5" name="Rectangle 4"/>
          <p:cNvSpPr/>
          <p:nvPr/>
        </p:nvSpPr>
        <p:spPr>
          <a:xfrm>
            <a:off x="548640" y="1536192"/>
            <a:ext cx="731520" cy="31750"/>
          </a:xfrm>
          <a:prstGeom prst="rect">
            <a:avLst/>
          </a:prstGeom>
          <a:solidFill>
            <a:srgbClr val="5FA8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364224"/>
            <a:ext cx="11091672" cy="10972"/>
          </a:xfrm>
          <a:prstGeom prst="rect">
            <a:avLst/>
          </a:prstGeom>
          <a:solidFill>
            <a:srgbClr val="CF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46520"/>
            <a:ext cx="5486400" cy="274320"/>
          </a:xfrm>
          <a:prstGeom prst="rect">
            <a:avLst/>
          </a:prstGeom>
          <a:noFill/>
        </p:spPr>
        <p:txBody>
          <a:bodyPr wrap="square" lIns="0" rIns="0" tIns="0" bIns="0" anchor="t">
            <a:spAutoFit/>
          </a:bodyPr>
          <a:lstStyle/>
          <a:p>
            <a:pPr algn="l"/>
            <a:r>
              <a:rPr sz="750" b="1" i="0" spc="180">
                <a:solidFill>
                  <a:srgbClr val="6E7783"/>
                </a:solidFill>
                <a:latin typeface="Aptos"/>
                <a:ea typeface="Yu Gothic"/>
                <a:cs typeface="Aptos"/>
              </a:rPr>
              <a:t>STRICTLY PRIVATE &amp; CONFIDENTIAL  |  FOR DISCUSSION PURPOSES ONLY</a:t>
            </a:r>
          </a:p>
        </p:txBody>
      </p:sp>
      <p:sp>
        <p:nvSpPr>
          <p:cNvPr id="8" name="TextBox 7"/>
          <p:cNvSpPr txBox="1"/>
          <p:nvPr/>
        </p:nvSpPr>
        <p:spPr>
          <a:xfrm>
            <a:off x="8229600" y="6446520"/>
            <a:ext cx="3410712" cy="274320"/>
          </a:xfrm>
          <a:prstGeom prst="rect">
            <a:avLst/>
          </a:prstGeom>
          <a:noFill/>
        </p:spPr>
        <p:txBody>
          <a:bodyPr wrap="square" lIns="0" rIns="0" tIns="0" bIns="0" anchor="t">
            <a:spAutoFit/>
          </a:bodyPr>
          <a:lstStyle/>
          <a:p>
            <a:pPr algn="r"/>
            <a:r>
              <a:rPr sz="800" b="1" i="0" spc="120">
                <a:solidFill>
                  <a:srgbClr val="0F2747"/>
                </a:solidFill>
                <a:latin typeface="Aptos"/>
                <a:ea typeface="Yu Gothic"/>
                <a:cs typeface="Aptos"/>
              </a:rPr>
              <a:t>11 / 16</a:t>
            </a:r>
          </a:p>
        </p:txBody>
      </p:sp>
      <p:sp>
        <p:nvSpPr>
          <p:cNvPr id="9" name="Rectangle 8"/>
          <p:cNvSpPr/>
          <p:nvPr/>
        </p:nvSpPr>
        <p:spPr>
          <a:xfrm>
            <a:off x="548640" y="1920240"/>
            <a:ext cx="6766560" cy="3931920"/>
          </a:xfrm>
          <a:prstGeom prst="rect">
            <a:avLst/>
          </a:prstGeom>
          <a:solidFill>
            <a:srgbClr val="FFFFFF"/>
          </a:solidFill>
          <a:ln w="6350">
            <a:solidFill>
              <a:srgbClr val="CF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97280" y="5303520"/>
            <a:ext cx="5943600" cy="10972"/>
          </a:xfrm>
          <a:prstGeom prst="rect">
            <a:avLst/>
          </a:prstGeom>
          <a:solidFill>
            <a:srgbClr val="1F1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7280" y="2194560"/>
            <a:ext cx="10972" cy="10972"/>
          </a:xfrm>
          <a:prstGeom prst="rect">
            <a:avLst/>
          </a:prstGeom>
          <a:solidFill>
            <a:srgbClr val="1F1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92707" y="2194560"/>
            <a:ext cx="10972" cy="3108960"/>
          </a:xfrm>
          <a:prstGeom prst="rect">
            <a:avLst/>
          </a:prstGeom>
          <a:solidFill>
            <a:srgbClr val="1F1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5440680"/>
            <a:ext cx="457200" cy="228600"/>
          </a:xfrm>
          <a:prstGeom prst="rect">
            <a:avLst/>
          </a:prstGeom>
          <a:noFill/>
        </p:spPr>
        <p:txBody>
          <a:bodyPr wrap="square" lIns="0" rIns="0" tIns="0" bIns="0" anchor="t">
            <a:spAutoFit/>
          </a:bodyPr>
          <a:lstStyle/>
          <a:p>
            <a:pPr algn="ctr"/>
            <a:r>
              <a:rPr sz="800" b="0" i="0">
                <a:solidFill>
                  <a:srgbClr val="6E7783"/>
                </a:solidFill>
                <a:latin typeface="Aptos"/>
                <a:ea typeface="Yu Gothic"/>
                <a:cs typeface="Aptos"/>
              </a:rPr>
              <a:t>Y0</a:t>
            </a:r>
          </a:p>
        </p:txBody>
      </p:sp>
      <p:sp>
        <p:nvSpPr>
          <p:cNvPr id="14" name="TextBox 13"/>
          <p:cNvSpPr txBox="1"/>
          <p:nvPr/>
        </p:nvSpPr>
        <p:spPr>
          <a:xfrm>
            <a:off x="1554480" y="5440680"/>
            <a:ext cx="457200" cy="228600"/>
          </a:xfrm>
          <a:prstGeom prst="rect">
            <a:avLst/>
          </a:prstGeom>
          <a:noFill/>
        </p:spPr>
        <p:txBody>
          <a:bodyPr wrap="square" lIns="0" rIns="0" tIns="0" bIns="0" anchor="t">
            <a:spAutoFit/>
          </a:bodyPr>
          <a:lstStyle/>
          <a:p>
            <a:pPr algn="ctr"/>
            <a:r>
              <a:rPr sz="800" b="0" i="0">
                <a:solidFill>
                  <a:srgbClr val="6E7783"/>
                </a:solidFill>
                <a:latin typeface="Aptos"/>
                <a:ea typeface="Yu Gothic"/>
                <a:cs typeface="Aptos"/>
              </a:rPr>
              <a:t>Y1</a:t>
            </a:r>
          </a:p>
        </p:txBody>
      </p:sp>
      <p:sp>
        <p:nvSpPr>
          <p:cNvPr id="15" name="TextBox 14"/>
          <p:cNvSpPr txBox="1"/>
          <p:nvPr/>
        </p:nvSpPr>
        <p:spPr>
          <a:xfrm>
            <a:off x="2148840" y="5440680"/>
            <a:ext cx="457200" cy="228600"/>
          </a:xfrm>
          <a:prstGeom prst="rect">
            <a:avLst/>
          </a:prstGeom>
          <a:noFill/>
        </p:spPr>
        <p:txBody>
          <a:bodyPr wrap="square" lIns="0" rIns="0" tIns="0" bIns="0" anchor="t">
            <a:spAutoFit/>
          </a:bodyPr>
          <a:lstStyle/>
          <a:p>
            <a:pPr algn="ctr"/>
            <a:r>
              <a:rPr sz="800" b="0" i="0">
                <a:solidFill>
                  <a:srgbClr val="6E7783"/>
                </a:solidFill>
                <a:latin typeface="Aptos"/>
                <a:ea typeface="Yu Gothic"/>
                <a:cs typeface="Aptos"/>
              </a:rPr>
              <a:t>Y2</a:t>
            </a:r>
          </a:p>
        </p:txBody>
      </p:sp>
      <p:sp>
        <p:nvSpPr>
          <p:cNvPr id="16" name="TextBox 15"/>
          <p:cNvSpPr txBox="1"/>
          <p:nvPr/>
        </p:nvSpPr>
        <p:spPr>
          <a:xfrm>
            <a:off x="2743200" y="5440680"/>
            <a:ext cx="457200" cy="228600"/>
          </a:xfrm>
          <a:prstGeom prst="rect">
            <a:avLst/>
          </a:prstGeom>
          <a:noFill/>
        </p:spPr>
        <p:txBody>
          <a:bodyPr wrap="square" lIns="0" rIns="0" tIns="0" bIns="0" anchor="t">
            <a:spAutoFit/>
          </a:bodyPr>
          <a:lstStyle/>
          <a:p>
            <a:pPr algn="ctr"/>
            <a:r>
              <a:rPr sz="800" b="0" i="0">
                <a:solidFill>
                  <a:srgbClr val="6E7783"/>
                </a:solidFill>
                <a:latin typeface="Aptos"/>
                <a:ea typeface="Yu Gothic"/>
                <a:cs typeface="Aptos"/>
              </a:rPr>
              <a:t>Y3</a:t>
            </a:r>
          </a:p>
        </p:txBody>
      </p:sp>
      <p:sp>
        <p:nvSpPr>
          <p:cNvPr id="17" name="TextBox 16"/>
          <p:cNvSpPr txBox="1"/>
          <p:nvPr/>
        </p:nvSpPr>
        <p:spPr>
          <a:xfrm>
            <a:off x="3337560" y="5440680"/>
            <a:ext cx="457200" cy="228600"/>
          </a:xfrm>
          <a:prstGeom prst="rect">
            <a:avLst/>
          </a:prstGeom>
          <a:noFill/>
        </p:spPr>
        <p:txBody>
          <a:bodyPr wrap="square" lIns="0" rIns="0" tIns="0" bIns="0" anchor="t">
            <a:spAutoFit/>
          </a:bodyPr>
          <a:lstStyle/>
          <a:p>
            <a:pPr algn="ctr"/>
            <a:r>
              <a:rPr sz="800" b="0" i="0">
                <a:solidFill>
                  <a:srgbClr val="6E7783"/>
                </a:solidFill>
                <a:latin typeface="Aptos"/>
                <a:ea typeface="Yu Gothic"/>
                <a:cs typeface="Aptos"/>
              </a:rPr>
              <a:t>Y4</a:t>
            </a:r>
          </a:p>
        </p:txBody>
      </p:sp>
      <p:sp>
        <p:nvSpPr>
          <p:cNvPr id="18" name="TextBox 17"/>
          <p:cNvSpPr txBox="1"/>
          <p:nvPr/>
        </p:nvSpPr>
        <p:spPr>
          <a:xfrm>
            <a:off x="3931920" y="5440680"/>
            <a:ext cx="457200" cy="228600"/>
          </a:xfrm>
          <a:prstGeom prst="rect">
            <a:avLst/>
          </a:prstGeom>
          <a:noFill/>
        </p:spPr>
        <p:txBody>
          <a:bodyPr wrap="square" lIns="0" rIns="0" tIns="0" bIns="0" anchor="t">
            <a:spAutoFit/>
          </a:bodyPr>
          <a:lstStyle/>
          <a:p>
            <a:pPr algn="ctr"/>
            <a:r>
              <a:rPr sz="800" b="0" i="0">
                <a:solidFill>
                  <a:srgbClr val="6E7783"/>
                </a:solidFill>
                <a:latin typeface="Aptos"/>
                <a:ea typeface="Yu Gothic"/>
                <a:cs typeface="Aptos"/>
              </a:rPr>
              <a:t>Y5</a:t>
            </a:r>
          </a:p>
        </p:txBody>
      </p:sp>
      <p:sp>
        <p:nvSpPr>
          <p:cNvPr id="19" name="TextBox 18"/>
          <p:cNvSpPr txBox="1"/>
          <p:nvPr/>
        </p:nvSpPr>
        <p:spPr>
          <a:xfrm>
            <a:off x="4526279" y="5440680"/>
            <a:ext cx="457200" cy="228600"/>
          </a:xfrm>
          <a:prstGeom prst="rect">
            <a:avLst/>
          </a:prstGeom>
          <a:noFill/>
        </p:spPr>
        <p:txBody>
          <a:bodyPr wrap="square" lIns="0" rIns="0" tIns="0" bIns="0" anchor="t">
            <a:spAutoFit/>
          </a:bodyPr>
          <a:lstStyle/>
          <a:p>
            <a:pPr algn="ctr"/>
            <a:r>
              <a:rPr sz="800" b="0" i="0">
                <a:solidFill>
                  <a:srgbClr val="6E7783"/>
                </a:solidFill>
                <a:latin typeface="Aptos"/>
                <a:ea typeface="Yu Gothic"/>
                <a:cs typeface="Aptos"/>
              </a:rPr>
              <a:t>Y6</a:t>
            </a:r>
          </a:p>
        </p:txBody>
      </p:sp>
      <p:sp>
        <p:nvSpPr>
          <p:cNvPr id="20" name="TextBox 19"/>
          <p:cNvSpPr txBox="1"/>
          <p:nvPr/>
        </p:nvSpPr>
        <p:spPr>
          <a:xfrm>
            <a:off x="5120640" y="5440680"/>
            <a:ext cx="457200" cy="228600"/>
          </a:xfrm>
          <a:prstGeom prst="rect">
            <a:avLst/>
          </a:prstGeom>
          <a:noFill/>
        </p:spPr>
        <p:txBody>
          <a:bodyPr wrap="square" lIns="0" rIns="0" tIns="0" bIns="0" anchor="t">
            <a:spAutoFit/>
          </a:bodyPr>
          <a:lstStyle/>
          <a:p>
            <a:pPr algn="ctr"/>
            <a:r>
              <a:rPr sz="800" b="0" i="0">
                <a:solidFill>
                  <a:srgbClr val="6E7783"/>
                </a:solidFill>
                <a:latin typeface="Aptos"/>
                <a:ea typeface="Yu Gothic"/>
                <a:cs typeface="Aptos"/>
              </a:rPr>
              <a:t>Y7</a:t>
            </a:r>
          </a:p>
        </p:txBody>
      </p:sp>
      <p:sp>
        <p:nvSpPr>
          <p:cNvPr id="21" name="TextBox 20"/>
          <p:cNvSpPr txBox="1"/>
          <p:nvPr/>
        </p:nvSpPr>
        <p:spPr>
          <a:xfrm>
            <a:off x="5715000" y="5440680"/>
            <a:ext cx="457200" cy="228600"/>
          </a:xfrm>
          <a:prstGeom prst="rect">
            <a:avLst/>
          </a:prstGeom>
          <a:noFill/>
        </p:spPr>
        <p:txBody>
          <a:bodyPr wrap="square" lIns="0" rIns="0" tIns="0" bIns="0" anchor="t">
            <a:spAutoFit/>
          </a:bodyPr>
          <a:lstStyle/>
          <a:p>
            <a:pPr algn="ctr"/>
            <a:r>
              <a:rPr sz="800" b="0" i="0">
                <a:solidFill>
                  <a:srgbClr val="6E7783"/>
                </a:solidFill>
                <a:latin typeface="Aptos"/>
                <a:ea typeface="Yu Gothic"/>
                <a:cs typeface="Aptos"/>
              </a:rPr>
              <a:t>Y8</a:t>
            </a:r>
          </a:p>
        </p:txBody>
      </p:sp>
      <p:sp>
        <p:nvSpPr>
          <p:cNvPr id="22" name="TextBox 21"/>
          <p:cNvSpPr txBox="1"/>
          <p:nvPr/>
        </p:nvSpPr>
        <p:spPr>
          <a:xfrm>
            <a:off x="6309359" y="5440680"/>
            <a:ext cx="457200" cy="228600"/>
          </a:xfrm>
          <a:prstGeom prst="rect">
            <a:avLst/>
          </a:prstGeom>
          <a:noFill/>
        </p:spPr>
        <p:txBody>
          <a:bodyPr wrap="square" lIns="0" rIns="0" tIns="0" bIns="0" anchor="t">
            <a:spAutoFit/>
          </a:bodyPr>
          <a:lstStyle/>
          <a:p>
            <a:pPr algn="ctr"/>
            <a:r>
              <a:rPr sz="800" b="0" i="0">
                <a:solidFill>
                  <a:srgbClr val="6E7783"/>
                </a:solidFill>
                <a:latin typeface="Aptos"/>
                <a:ea typeface="Yu Gothic"/>
                <a:cs typeface="Aptos"/>
              </a:rPr>
              <a:t>Y9</a:t>
            </a:r>
          </a:p>
        </p:txBody>
      </p:sp>
      <p:sp>
        <p:nvSpPr>
          <p:cNvPr id="23" name="TextBox 22"/>
          <p:cNvSpPr txBox="1"/>
          <p:nvPr/>
        </p:nvSpPr>
        <p:spPr>
          <a:xfrm>
            <a:off x="6903720" y="5440680"/>
            <a:ext cx="457200" cy="228600"/>
          </a:xfrm>
          <a:prstGeom prst="rect">
            <a:avLst/>
          </a:prstGeom>
          <a:noFill/>
        </p:spPr>
        <p:txBody>
          <a:bodyPr wrap="square" lIns="0" rIns="0" tIns="0" bIns="0" anchor="t">
            <a:spAutoFit/>
          </a:bodyPr>
          <a:lstStyle/>
          <a:p>
            <a:pPr algn="ctr"/>
            <a:r>
              <a:rPr sz="800" b="0" i="0">
                <a:solidFill>
                  <a:srgbClr val="6E7783"/>
                </a:solidFill>
                <a:latin typeface="Aptos"/>
                <a:ea typeface="Yu Gothic"/>
                <a:cs typeface="Aptos"/>
              </a:rPr>
              <a:t>Y10</a:t>
            </a:r>
          </a:p>
        </p:txBody>
      </p:sp>
      <p:sp>
        <p:nvSpPr>
          <p:cNvPr id="24" name="Rectangle 23"/>
          <p:cNvSpPr/>
          <p:nvPr/>
        </p:nvSpPr>
        <p:spPr>
          <a:xfrm>
            <a:off x="1097280" y="3904487"/>
            <a:ext cx="5943600" cy="10972"/>
          </a:xfrm>
          <a:prstGeom prst="rect">
            <a:avLst/>
          </a:prstGeom>
          <a:solidFill>
            <a:srgbClr val="CF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Connector 24"/>
          <p:cNvCxnSpPr/>
          <p:nvPr/>
        </p:nvCxnSpPr>
        <p:spPr>
          <a:xfrm>
            <a:off x="1097280" y="3904487"/>
            <a:ext cx="594360" cy="98756"/>
          </a:xfrm>
          <a:prstGeom prst="line">
            <a:avLst/>
          </a:prstGeom>
          <a:ln w="28575">
            <a:solidFill>
              <a:srgbClr val="3A6EA5"/>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691640" y="4003243"/>
            <a:ext cx="594360" cy="76809"/>
          </a:xfrm>
          <a:prstGeom prst="line">
            <a:avLst/>
          </a:prstGeom>
          <a:ln w="28575">
            <a:solidFill>
              <a:srgbClr val="3A6EA5"/>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2286000" y="4080052"/>
            <a:ext cx="594360" cy="43892"/>
          </a:xfrm>
          <a:prstGeom prst="line">
            <a:avLst/>
          </a:prstGeom>
          <a:ln w="28575">
            <a:solidFill>
              <a:srgbClr val="3A6EA5"/>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2880360" y="4069079"/>
            <a:ext cx="594360" cy="54865"/>
          </a:xfrm>
          <a:prstGeom prst="line">
            <a:avLst/>
          </a:prstGeom>
          <a:ln w="28575">
            <a:solidFill>
              <a:srgbClr val="3A6EA5"/>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3474720" y="3931920"/>
            <a:ext cx="594360" cy="137159"/>
          </a:xfrm>
          <a:prstGeom prst="line">
            <a:avLst/>
          </a:prstGeom>
          <a:ln w="28575">
            <a:solidFill>
              <a:srgbClr val="3A6EA5"/>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4069080" y="3479291"/>
            <a:ext cx="594360" cy="452629"/>
          </a:xfrm>
          <a:prstGeom prst="line">
            <a:avLst/>
          </a:prstGeom>
          <a:ln w="28575">
            <a:solidFill>
              <a:srgbClr val="3A6EA5"/>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4663440" y="2983229"/>
            <a:ext cx="594360" cy="496062"/>
          </a:xfrm>
          <a:prstGeom prst="line">
            <a:avLst/>
          </a:prstGeom>
          <a:ln w="28575">
            <a:solidFill>
              <a:srgbClr val="3A6EA5"/>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5257800" y="2699765"/>
            <a:ext cx="594360" cy="283464"/>
          </a:xfrm>
          <a:prstGeom prst="line">
            <a:avLst/>
          </a:prstGeom>
          <a:ln w="28575">
            <a:solidFill>
              <a:srgbClr val="3A6EA5"/>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5852160" y="2558033"/>
            <a:ext cx="594360" cy="141732"/>
          </a:xfrm>
          <a:prstGeom prst="line">
            <a:avLst/>
          </a:prstGeom>
          <a:ln w="28575">
            <a:solidFill>
              <a:srgbClr val="3A6EA5"/>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6446520" y="2487168"/>
            <a:ext cx="594360" cy="70865"/>
          </a:xfrm>
          <a:prstGeom prst="line">
            <a:avLst/>
          </a:prstGeom>
          <a:ln w="28575">
            <a:solidFill>
              <a:srgbClr val="3A6EA5"/>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85800" y="2103120"/>
            <a:ext cx="365760" cy="274320"/>
          </a:xfrm>
          <a:prstGeom prst="rect">
            <a:avLst/>
          </a:prstGeom>
          <a:noFill/>
        </p:spPr>
        <p:txBody>
          <a:bodyPr wrap="square" lIns="0" rIns="0" tIns="0" bIns="0" anchor="t">
            <a:spAutoFit/>
          </a:bodyPr>
          <a:lstStyle/>
          <a:p>
            <a:pPr algn="r"/>
            <a:r>
              <a:rPr sz="800" b="1" i="0">
                <a:solidFill>
                  <a:srgbClr val="6E7783"/>
                </a:solidFill>
                <a:latin typeface="Aptos"/>
                <a:ea typeface="Yu Gothic"/>
                <a:cs typeface="Aptos"/>
              </a:rPr>
              <a:t>DPI</a:t>
            </a:r>
          </a:p>
        </p:txBody>
      </p:sp>
      <p:sp>
        <p:nvSpPr>
          <p:cNvPr id="36" name="TextBox 35"/>
          <p:cNvSpPr txBox="1"/>
          <p:nvPr/>
        </p:nvSpPr>
        <p:spPr>
          <a:xfrm>
            <a:off x="6400800" y="5394960"/>
            <a:ext cx="822960" cy="274320"/>
          </a:xfrm>
          <a:prstGeom prst="rect">
            <a:avLst/>
          </a:prstGeom>
          <a:noFill/>
        </p:spPr>
        <p:txBody>
          <a:bodyPr wrap="square" lIns="0" rIns="0" tIns="0" bIns="0" anchor="t">
            <a:spAutoFit/>
          </a:bodyPr>
          <a:lstStyle/>
          <a:p>
            <a:pPr algn="r"/>
            <a:r>
              <a:rPr sz="800" b="1" i="0">
                <a:solidFill>
                  <a:srgbClr val="6E7783"/>
                </a:solidFill>
                <a:latin typeface="Aptos"/>
                <a:ea typeface="Yu Gothic"/>
                <a:cs typeface="Aptos"/>
              </a:rPr>
              <a:t>Year</a:t>
            </a:r>
          </a:p>
        </p:txBody>
      </p:sp>
      <p:sp>
        <p:nvSpPr>
          <p:cNvPr id="37" name="TextBox 36"/>
          <p:cNvSpPr txBox="1"/>
          <p:nvPr/>
        </p:nvSpPr>
        <p:spPr>
          <a:xfrm>
            <a:off x="1097280" y="2057400"/>
            <a:ext cx="5852160" cy="274320"/>
          </a:xfrm>
          <a:prstGeom prst="rect">
            <a:avLst/>
          </a:prstGeom>
          <a:noFill/>
        </p:spPr>
        <p:txBody>
          <a:bodyPr wrap="square" lIns="0" rIns="0" tIns="0" bIns="0" anchor="t">
            <a:spAutoFit/>
          </a:bodyPr>
          <a:lstStyle/>
          <a:p>
            <a:pPr algn="l"/>
            <a:r>
              <a:rPr sz="900" b="1" i="0" spc="200">
                <a:solidFill>
                  <a:srgbClr val="0F2747"/>
                </a:solidFill>
                <a:latin typeface="Aptos"/>
                <a:ea typeface="Yu Gothic"/>
                <a:cs typeface="Aptos"/>
              </a:rPr>
              <a:t>ILLUSTRATIVE FUND-LEVEL CASH-ON-CASH (J-CURVE)</a:t>
            </a:r>
          </a:p>
        </p:txBody>
      </p:sp>
      <p:sp>
        <p:nvSpPr>
          <p:cNvPr id="38" name="TextBox 37"/>
          <p:cNvSpPr txBox="1"/>
          <p:nvPr/>
        </p:nvSpPr>
        <p:spPr>
          <a:xfrm>
            <a:off x="7589520" y="1920240"/>
            <a:ext cx="4023360" cy="274320"/>
          </a:xfrm>
          <a:prstGeom prst="rect">
            <a:avLst/>
          </a:prstGeom>
          <a:noFill/>
        </p:spPr>
        <p:txBody>
          <a:bodyPr wrap="square" lIns="0" rIns="0" tIns="0" bIns="0" anchor="t">
            <a:spAutoFit/>
          </a:bodyPr>
          <a:lstStyle/>
          <a:p>
            <a:pPr algn="l"/>
            <a:r>
              <a:rPr sz="1000" b="1" i="0" spc="200">
                <a:solidFill>
                  <a:srgbClr val="5FA8D3"/>
                </a:solidFill>
                <a:latin typeface="Aptos"/>
                <a:ea typeface="Yu Gothic"/>
                <a:cs typeface="Aptos"/>
              </a:rPr>
              <a:t>TARGET RETURN PROFILE</a:t>
            </a:r>
          </a:p>
        </p:txBody>
      </p:sp>
      <p:sp>
        <p:nvSpPr>
          <p:cNvPr id="39" name="Rectangle 38"/>
          <p:cNvSpPr/>
          <p:nvPr/>
        </p:nvSpPr>
        <p:spPr>
          <a:xfrm>
            <a:off x="7589520" y="2240280"/>
            <a:ext cx="4023360" cy="914400"/>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26680" y="2404872"/>
            <a:ext cx="3749040" cy="274320"/>
          </a:xfrm>
          <a:prstGeom prst="rect">
            <a:avLst/>
          </a:prstGeom>
          <a:noFill/>
        </p:spPr>
        <p:txBody>
          <a:bodyPr wrap="square" lIns="0" rIns="0" tIns="0" bIns="0" anchor="t">
            <a:spAutoFit/>
          </a:bodyPr>
          <a:lstStyle/>
          <a:p>
            <a:pPr algn="l"/>
            <a:r>
              <a:rPr sz="850" b="1" i="0" spc="180">
                <a:solidFill>
                  <a:srgbClr val="6E7783"/>
                </a:solidFill>
                <a:latin typeface="Aptos"/>
                <a:ea typeface="Yu Gothic"/>
                <a:cs typeface="Aptos"/>
              </a:rPr>
              <a:t>NET IRR (TARGET)</a:t>
            </a:r>
          </a:p>
        </p:txBody>
      </p:sp>
      <p:sp>
        <p:nvSpPr>
          <p:cNvPr id="41" name="TextBox 40"/>
          <p:cNvSpPr txBox="1"/>
          <p:nvPr/>
        </p:nvSpPr>
        <p:spPr>
          <a:xfrm>
            <a:off x="7726680" y="2697480"/>
            <a:ext cx="3749040" cy="274320"/>
          </a:xfrm>
          <a:prstGeom prst="rect">
            <a:avLst/>
          </a:prstGeom>
          <a:noFill/>
        </p:spPr>
        <p:txBody>
          <a:bodyPr wrap="square" lIns="0" rIns="0" tIns="0" bIns="0" anchor="t">
            <a:spAutoFit/>
          </a:bodyPr>
          <a:lstStyle/>
          <a:p>
            <a:pPr algn="l"/>
            <a:r>
              <a:rPr sz="2200" b="1" i="0">
                <a:solidFill>
                  <a:srgbClr val="0F2747"/>
                </a:solidFill>
                <a:latin typeface="Aptos"/>
                <a:ea typeface="Yu Gothic"/>
                <a:cs typeface="Aptos"/>
              </a:rPr>
              <a:t>12 – 15 %</a:t>
            </a:r>
          </a:p>
        </p:txBody>
      </p:sp>
      <p:sp>
        <p:nvSpPr>
          <p:cNvPr id="42" name="TextBox 41"/>
          <p:cNvSpPr txBox="1"/>
          <p:nvPr/>
        </p:nvSpPr>
        <p:spPr>
          <a:xfrm>
            <a:off x="7726680" y="2743200"/>
            <a:ext cx="3749040" cy="274320"/>
          </a:xfrm>
          <a:prstGeom prst="rect">
            <a:avLst/>
          </a:prstGeom>
          <a:noFill/>
        </p:spPr>
        <p:txBody>
          <a:bodyPr wrap="square" lIns="0" rIns="0" tIns="0" bIns="0" anchor="t">
            <a:spAutoFit/>
          </a:bodyPr>
          <a:lstStyle/>
          <a:p>
            <a:pPr algn="l"/>
            <a:r>
              <a:rPr sz="850" b="0" i="0">
                <a:solidFill>
                  <a:srgbClr val="6E7783"/>
                </a:solidFill>
                <a:latin typeface="Aptos"/>
                <a:ea typeface="Yu Gothic"/>
                <a:cs typeface="Aptos"/>
              </a:rPr>
              <a:t>Post-fees, post-carry</a:t>
            </a:r>
          </a:p>
        </p:txBody>
      </p:sp>
      <p:sp>
        <p:nvSpPr>
          <p:cNvPr id="43" name="Rectangle 42"/>
          <p:cNvSpPr/>
          <p:nvPr/>
        </p:nvSpPr>
        <p:spPr>
          <a:xfrm>
            <a:off x="7589520" y="3246120"/>
            <a:ext cx="4023360" cy="914400"/>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726680" y="3410712"/>
            <a:ext cx="3749040" cy="274320"/>
          </a:xfrm>
          <a:prstGeom prst="rect">
            <a:avLst/>
          </a:prstGeom>
          <a:noFill/>
        </p:spPr>
        <p:txBody>
          <a:bodyPr wrap="square" lIns="0" rIns="0" tIns="0" bIns="0" anchor="t">
            <a:spAutoFit/>
          </a:bodyPr>
          <a:lstStyle/>
          <a:p>
            <a:pPr algn="l"/>
            <a:r>
              <a:rPr sz="850" b="1" i="0" spc="180">
                <a:solidFill>
                  <a:srgbClr val="6E7783"/>
                </a:solidFill>
                <a:latin typeface="Aptos"/>
                <a:ea typeface="Yu Gothic"/>
                <a:cs typeface="Aptos"/>
              </a:rPr>
              <a:t>MOIC (NET)</a:t>
            </a:r>
          </a:p>
        </p:txBody>
      </p:sp>
      <p:sp>
        <p:nvSpPr>
          <p:cNvPr id="45" name="TextBox 44"/>
          <p:cNvSpPr txBox="1"/>
          <p:nvPr/>
        </p:nvSpPr>
        <p:spPr>
          <a:xfrm>
            <a:off x="7726680" y="3703320"/>
            <a:ext cx="3749040" cy="274320"/>
          </a:xfrm>
          <a:prstGeom prst="rect">
            <a:avLst/>
          </a:prstGeom>
          <a:noFill/>
        </p:spPr>
        <p:txBody>
          <a:bodyPr wrap="square" lIns="0" rIns="0" tIns="0" bIns="0" anchor="t">
            <a:spAutoFit/>
          </a:bodyPr>
          <a:lstStyle/>
          <a:p>
            <a:pPr algn="l"/>
            <a:r>
              <a:rPr sz="2200" b="1" i="0">
                <a:solidFill>
                  <a:srgbClr val="0F2747"/>
                </a:solidFill>
                <a:latin typeface="Aptos"/>
                <a:ea typeface="Yu Gothic"/>
                <a:cs typeface="Aptos"/>
              </a:rPr>
              <a:t>2.0 – 2.5×</a:t>
            </a:r>
          </a:p>
        </p:txBody>
      </p:sp>
      <p:sp>
        <p:nvSpPr>
          <p:cNvPr id="46" name="TextBox 45"/>
          <p:cNvSpPr txBox="1"/>
          <p:nvPr/>
        </p:nvSpPr>
        <p:spPr>
          <a:xfrm>
            <a:off x="7726680" y="3749039"/>
            <a:ext cx="3749040" cy="274320"/>
          </a:xfrm>
          <a:prstGeom prst="rect">
            <a:avLst/>
          </a:prstGeom>
          <a:noFill/>
        </p:spPr>
        <p:txBody>
          <a:bodyPr wrap="square" lIns="0" rIns="0" tIns="0" bIns="0" anchor="t">
            <a:spAutoFit/>
          </a:bodyPr>
          <a:lstStyle/>
          <a:p>
            <a:pPr algn="l"/>
            <a:r>
              <a:rPr sz="850" b="0" i="0">
                <a:solidFill>
                  <a:srgbClr val="6E7783"/>
                </a:solidFill>
                <a:latin typeface="Aptos"/>
                <a:ea typeface="Yu Gothic"/>
                <a:cs typeface="Aptos"/>
              </a:rPr>
              <a:t>Fund-life</a:t>
            </a:r>
          </a:p>
        </p:txBody>
      </p:sp>
      <p:sp>
        <p:nvSpPr>
          <p:cNvPr id="47" name="Rectangle 46"/>
          <p:cNvSpPr/>
          <p:nvPr/>
        </p:nvSpPr>
        <p:spPr>
          <a:xfrm>
            <a:off x="7589520" y="4251960"/>
            <a:ext cx="4023360" cy="914400"/>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726680" y="4416552"/>
            <a:ext cx="3749040" cy="274320"/>
          </a:xfrm>
          <a:prstGeom prst="rect">
            <a:avLst/>
          </a:prstGeom>
          <a:noFill/>
        </p:spPr>
        <p:txBody>
          <a:bodyPr wrap="square" lIns="0" rIns="0" tIns="0" bIns="0" anchor="t">
            <a:spAutoFit/>
          </a:bodyPr>
          <a:lstStyle/>
          <a:p>
            <a:pPr algn="l"/>
            <a:r>
              <a:rPr sz="850" b="1" i="0" spc="180">
                <a:solidFill>
                  <a:srgbClr val="6E7783"/>
                </a:solidFill>
                <a:latin typeface="Aptos"/>
                <a:ea typeface="Yu Gothic"/>
                <a:cs typeface="Aptos"/>
              </a:rPr>
              <a:t>DPI BY YEAR 8</a:t>
            </a:r>
          </a:p>
        </p:txBody>
      </p:sp>
      <p:sp>
        <p:nvSpPr>
          <p:cNvPr id="49" name="TextBox 48"/>
          <p:cNvSpPr txBox="1"/>
          <p:nvPr/>
        </p:nvSpPr>
        <p:spPr>
          <a:xfrm>
            <a:off x="7726680" y="4709160"/>
            <a:ext cx="3749040" cy="274320"/>
          </a:xfrm>
          <a:prstGeom prst="rect">
            <a:avLst/>
          </a:prstGeom>
          <a:noFill/>
        </p:spPr>
        <p:txBody>
          <a:bodyPr wrap="square" lIns="0" rIns="0" tIns="0" bIns="0" anchor="t">
            <a:spAutoFit/>
          </a:bodyPr>
          <a:lstStyle/>
          <a:p>
            <a:pPr algn="l"/>
            <a:r>
              <a:rPr sz="2200" b="1" i="0">
                <a:solidFill>
                  <a:srgbClr val="0F2747"/>
                </a:solidFill>
                <a:latin typeface="Aptos"/>
                <a:ea typeface="Yu Gothic"/>
                <a:cs typeface="Aptos"/>
              </a:rPr>
              <a:t>≥ 1.0×</a:t>
            </a:r>
          </a:p>
        </p:txBody>
      </p:sp>
      <p:sp>
        <p:nvSpPr>
          <p:cNvPr id="50" name="TextBox 49"/>
          <p:cNvSpPr txBox="1"/>
          <p:nvPr/>
        </p:nvSpPr>
        <p:spPr>
          <a:xfrm>
            <a:off x="7726680" y="4754880"/>
            <a:ext cx="3749040" cy="274320"/>
          </a:xfrm>
          <a:prstGeom prst="rect">
            <a:avLst/>
          </a:prstGeom>
          <a:noFill/>
        </p:spPr>
        <p:txBody>
          <a:bodyPr wrap="square" lIns="0" rIns="0" tIns="0" bIns="0" anchor="t">
            <a:spAutoFit/>
          </a:bodyPr>
          <a:lstStyle/>
          <a:p>
            <a:pPr algn="l"/>
            <a:r>
              <a:rPr sz="850" b="0" i="0">
                <a:solidFill>
                  <a:srgbClr val="6E7783"/>
                </a:solidFill>
                <a:latin typeface="Aptos"/>
                <a:ea typeface="Yu Gothic"/>
                <a:cs typeface="Aptos"/>
              </a:rPr>
              <a:t>Self-liquidating profile</a:t>
            </a:r>
          </a:p>
        </p:txBody>
      </p:sp>
      <p:sp>
        <p:nvSpPr>
          <p:cNvPr id="51" name="TextBox 50"/>
          <p:cNvSpPr txBox="1"/>
          <p:nvPr/>
        </p:nvSpPr>
        <p:spPr>
          <a:xfrm>
            <a:off x="7589520" y="5349240"/>
            <a:ext cx="4023360" cy="548640"/>
          </a:xfrm>
          <a:prstGeom prst="rect">
            <a:avLst/>
          </a:prstGeom>
          <a:noFill/>
        </p:spPr>
        <p:txBody>
          <a:bodyPr wrap="square" lIns="0" rIns="0" tIns="0" bIns="0" anchor="t">
            <a:spAutoFit/>
          </a:bodyPr>
          <a:lstStyle/>
          <a:p>
            <a:pPr algn="l"/>
            <a:r>
              <a:rPr sz="800" b="0" i="1">
                <a:solidFill>
                  <a:srgbClr val="6E7783"/>
                </a:solidFill>
                <a:latin typeface="Aptos"/>
                <a:ea typeface="Yu Gothic"/>
                <a:cs typeface="Aptos"/>
              </a:rPr>
              <a:t>リターン目標はインパクト戦略下での合理的レンジを示すものであり、達成を保証するものではありません。</a:t>
            </a:r>
          </a:p>
        </p:txBody>
      </p:sp>
      <p:sp>
        <p:nvSpPr>
          <p:cNvPr id="52" name="TextBox 51"/>
          <p:cNvSpPr txBox="1"/>
          <p:nvPr/>
        </p:nvSpPr>
        <p:spPr>
          <a:xfrm>
            <a:off x="548640" y="6172200"/>
            <a:ext cx="11091672" cy="228600"/>
          </a:xfrm>
          <a:prstGeom prst="rect">
            <a:avLst/>
          </a:prstGeom>
          <a:noFill/>
        </p:spPr>
        <p:txBody>
          <a:bodyPr wrap="square" lIns="0" rIns="0" tIns="0" bIns="0" anchor="t">
            <a:spAutoFit/>
          </a:bodyPr>
          <a:lstStyle/>
          <a:p>
            <a:pPr algn="l"/>
            <a:r>
              <a:rPr sz="800" b="0" i="1">
                <a:solidFill>
                  <a:srgbClr val="6E7783"/>
                </a:solidFill>
                <a:latin typeface="Aptos"/>
                <a:ea typeface="Yu Gothic"/>
                <a:cs typeface="Aptos"/>
              </a:rPr>
              <a:t>Source: Fund modeling, illustrative only. Past performance is not indicative of future results.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7315200" cy="274320"/>
          </a:xfrm>
          <a:prstGeom prst="rect">
            <a:avLst/>
          </a:prstGeom>
          <a:noFill/>
        </p:spPr>
        <p:txBody>
          <a:bodyPr wrap="square" lIns="0" rIns="0" tIns="0" bIns="0" anchor="t">
            <a:spAutoFit/>
          </a:bodyPr>
          <a:lstStyle/>
          <a:p>
            <a:pPr algn="l"/>
            <a:r>
              <a:rPr sz="900" b="1" i="0" spc="200">
                <a:solidFill>
                  <a:srgbClr val="5FA8D3"/>
                </a:solidFill>
                <a:latin typeface="Aptos"/>
                <a:ea typeface="Yu Gothic"/>
                <a:cs typeface="Aptos"/>
              </a:rPr>
              <a:t>FUND STRUCTURE</a:t>
            </a:r>
          </a:p>
        </p:txBody>
      </p:sp>
      <p:sp>
        <p:nvSpPr>
          <p:cNvPr id="3" name="TextBox 2"/>
          <p:cNvSpPr txBox="1"/>
          <p:nvPr/>
        </p:nvSpPr>
        <p:spPr>
          <a:xfrm>
            <a:off x="5029200" y="411480"/>
            <a:ext cx="6583680" cy="274320"/>
          </a:xfrm>
          <a:prstGeom prst="rect">
            <a:avLst/>
          </a:prstGeom>
          <a:noFill/>
        </p:spPr>
        <p:txBody>
          <a:bodyPr wrap="square" lIns="0" rIns="0" tIns="0" bIns="0" anchor="t">
            <a:spAutoFit/>
          </a:bodyPr>
          <a:lstStyle/>
          <a:p>
            <a:pPr algn="r"/>
            <a:r>
              <a:rPr sz="850" b="1" i="0" spc="150">
                <a:solidFill>
                  <a:srgbClr val="6E7783"/>
                </a:solidFill>
                <a:latin typeface="Aptos"/>
                <a:ea typeface="Yu Gothic"/>
                <a:cs typeface="Aptos"/>
              </a:rPr>
              <a:t>TOHOKU FRONTIER IMPACT CAPITAL</a:t>
            </a:r>
          </a:p>
        </p:txBody>
      </p:sp>
      <p:sp>
        <p:nvSpPr>
          <p:cNvPr id="4" name="TextBox 3"/>
          <p:cNvSpPr txBox="1"/>
          <p:nvPr/>
        </p:nvSpPr>
        <p:spPr>
          <a:xfrm>
            <a:off x="548640" y="713232"/>
            <a:ext cx="11091672" cy="777240"/>
          </a:xfrm>
          <a:prstGeom prst="rect">
            <a:avLst/>
          </a:prstGeom>
          <a:noFill/>
        </p:spPr>
        <p:txBody>
          <a:bodyPr wrap="square" lIns="0" rIns="0" tIns="0" bIns="0" anchor="t">
            <a:spAutoFit/>
          </a:bodyPr>
          <a:lstStyle/>
          <a:p>
            <a:pPr algn="l"/>
            <a:r>
              <a:rPr sz="2600" b="1" i="0">
                <a:solidFill>
                  <a:srgbClr val="0F2747"/>
                </a:solidFill>
                <a:latin typeface="Aptos"/>
                <a:ea typeface="Yu Gothic"/>
                <a:cs typeface="Aptos"/>
              </a:rPr>
              <a:t>ファンド・ストラクチャー及び主要タームズ</a:t>
            </a:r>
          </a:p>
        </p:txBody>
      </p:sp>
      <p:sp>
        <p:nvSpPr>
          <p:cNvPr id="5" name="Rectangle 4"/>
          <p:cNvSpPr/>
          <p:nvPr/>
        </p:nvSpPr>
        <p:spPr>
          <a:xfrm>
            <a:off x="548640" y="1536192"/>
            <a:ext cx="731520" cy="31750"/>
          </a:xfrm>
          <a:prstGeom prst="rect">
            <a:avLst/>
          </a:prstGeom>
          <a:solidFill>
            <a:srgbClr val="5FA8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364224"/>
            <a:ext cx="11091672" cy="10972"/>
          </a:xfrm>
          <a:prstGeom prst="rect">
            <a:avLst/>
          </a:prstGeom>
          <a:solidFill>
            <a:srgbClr val="CF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46520"/>
            <a:ext cx="5486400" cy="274320"/>
          </a:xfrm>
          <a:prstGeom prst="rect">
            <a:avLst/>
          </a:prstGeom>
          <a:noFill/>
        </p:spPr>
        <p:txBody>
          <a:bodyPr wrap="square" lIns="0" rIns="0" tIns="0" bIns="0" anchor="t">
            <a:spAutoFit/>
          </a:bodyPr>
          <a:lstStyle/>
          <a:p>
            <a:pPr algn="l"/>
            <a:r>
              <a:rPr sz="750" b="1" i="0" spc="180">
                <a:solidFill>
                  <a:srgbClr val="6E7783"/>
                </a:solidFill>
                <a:latin typeface="Aptos"/>
                <a:ea typeface="Yu Gothic"/>
                <a:cs typeface="Aptos"/>
              </a:rPr>
              <a:t>STRICTLY PRIVATE &amp; CONFIDENTIAL  |  FOR DISCUSSION PURPOSES ONLY</a:t>
            </a:r>
          </a:p>
        </p:txBody>
      </p:sp>
      <p:sp>
        <p:nvSpPr>
          <p:cNvPr id="8" name="TextBox 7"/>
          <p:cNvSpPr txBox="1"/>
          <p:nvPr/>
        </p:nvSpPr>
        <p:spPr>
          <a:xfrm>
            <a:off x="8229600" y="6446520"/>
            <a:ext cx="3410712" cy="274320"/>
          </a:xfrm>
          <a:prstGeom prst="rect">
            <a:avLst/>
          </a:prstGeom>
          <a:noFill/>
        </p:spPr>
        <p:txBody>
          <a:bodyPr wrap="square" lIns="0" rIns="0" tIns="0" bIns="0" anchor="t">
            <a:spAutoFit/>
          </a:bodyPr>
          <a:lstStyle/>
          <a:p>
            <a:pPr algn="r"/>
            <a:r>
              <a:rPr sz="800" b="1" i="0" spc="120">
                <a:solidFill>
                  <a:srgbClr val="0F2747"/>
                </a:solidFill>
                <a:latin typeface="Aptos"/>
                <a:ea typeface="Yu Gothic"/>
                <a:cs typeface="Aptos"/>
              </a:rPr>
              <a:t>12 / 16</a:t>
            </a:r>
          </a:p>
        </p:txBody>
      </p:sp>
      <p:graphicFrame>
        <p:nvGraphicFramePr>
          <p:cNvPr id="9" name="Table 8"/>
          <p:cNvGraphicFramePr>
            <a:graphicFrameLocks noGrp="1"/>
          </p:cNvGraphicFramePr>
          <p:nvPr/>
        </p:nvGraphicFramePr>
        <p:xfrm>
          <a:off x="548640" y="1828800"/>
          <a:ext cx="11091671" cy="4297680"/>
        </p:xfrm>
        <a:graphic>
          <a:graphicData uri="http://schemas.openxmlformats.org/drawingml/2006/table">
            <a:tbl>
              <a:tblPr firstRow="1" bandRow="1">
                <a:tableStyleId>{5C22544A-7EE6-4342-B048-85BDC9FD1C3A}</a:tableStyleId>
              </a:tblPr>
              <a:tblGrid>
                <a:gridCol w="2236975"/>
                <a:gridCol w="8854696"/>
              </a:tblGrid>
              <a:tr h="330590">
                <a:tc>
                  <a:txBody>
                    <a:bodyPr lIns="73152" rIns="73152" wrap="square"/>
                    <a:lstStyle/>
                    <a:p>
                      <a:pPr algn="l"/>
                      <a:r>
                        <a:rPr sz="1050" b="1" i="0">
                          <a:solidFill>
                            <a:srgbClr val="FFFFFF"/>
                          </a:solidFill>
                          <a:latin typeface="Aptos"/>
                          <a:ea typeface="Yu Gothic"/>
                          <a:cs typeface="Aptos"/>
                        </a:rPr>
                        <a:t>項目</a:t>
                      </a:r>
                    </a:p>
                  </a:txBody>
                  <a:tcPr marL="91440" marR="91440" marT="45720" marB="45720">
                    <a:solidFill>
                      <a:srgbClr val="0F2747"/>
                    </a:solidFill>
                  </a:tcPr>
                </a:tc>
                <a:tc>
                  <a:txBody>
                    <a:bodyPr lIns="73152" rIns="73152" wrap="square"/>
                    <a:lstStyle/>
                    <a:p>
                      <a:pPr algn="l"/>
                      <a:r>
                        <a:rPr sz="1050" b="1" i="0">
                          <a:solidFill>
                            <a:srgbClr val="FFFFFF"/>
                          </a:solidFill>
                          <a:latin typeface="Aptos"/>
                          <a:ea typeface="Yu Gothic"/>
                          <a:cs typeface="Aptos"/>
                        </a:rPr>
                        <a:t>条件</a:t>
                      </a:r>
                    </a:p>
                  </a:txBody>
                  <a:tcPr marL="91440" marR="91440" marT="45720" marB="45720">
                    <a:solidFill>
                      <a:srgbClr val="0F2747"/>
                    </a:solidFill>
                  </a:tcPr>
                </a:tc>
              </a:tr>
              <a:tr h="330590">
                <a:tc>
                  <a:txBody>
                    <a:bodyPr lIns="73152" rIns="73152" wrap="square"/>
                    <a:lstStyle/>
                    <a:p>
                      <a:pPr algn="l"/>
                      <a:r>
                        <a:rPr sz="1050" b="1" i="0">
                          <a:solidFill>
                            <a:srgbClr val="1F1F1F"/>
                          </a:solidFill>
                          <a:latin typeface="Aptos"/>
                          <a:ea typeface="Yu Gothic"/>
                          <a:cs typeface="Aptos"/>
                        </a:rPr>
                        <a:t>ファンド名</a:t>
                      </a:r>
                    </a:p>
                  </a:txBody>
                  <a:tcPr marL="91440" marR="91440" marT="45720" marB="45720">
                    <a:solidFill>
                      <a:srgbClr val="FFFFFF"/>
                    </a:solidFill>
                  </a:tcPr>
                </a:tc>
                <a:tc>
                  <a:txBody>
                    <a:bodyPr lIns="73152" rIns="73152" wrap="square"/>
                    <a:lstStyle/>
                    <a:p>
                      <a:pPr algn="l"/>
                      <a:r>
                        <a:rPr sz="1050" b="0" i="0">
                          <a:solidFill>
                            <a:srgbClr val="1F1F1F"/>
                          </a:solidFill>
                          <a:latin typeface="Aptos"/>
                          <a:ea typeface="Yu Gothic"/>
                          <a:cs typeface="Aptos"/>
                        </a:rPr>
                        <a:t>Tohoku Frontier Impact Capital — Fund I, L.P. (Cayman Feeder + 国内LPS)</a:t>
                      </a:r>
                    </a:p>
                  </a:txBody>
                  <a:tcPr marL="91440" marR="91440" marT="45720" marB="45720">
                    <a:solidFill>
                      <a:srgbClr val="FFFFFF"/>
                    </a:solidFill>
                  </a:tcPr>
                </a:tc>
              </a:tr>
              <a:tr h="330590">
                <a:tc>
                  <a:txBody>
                    <a:bodyPr lIns="73152" rIns="73152" wrap="square"/>
                    <a:lstStyle/>
                    <a:p>
                      <a:pPr algn="l"/>
                      <a:r>
                        <a:rPr sz="1050" b="1" i="0">
                          <a:solidFill>
                            <a:srgbClr val="1F1F1F"/>
                          </a:solidFill>
                          <a:latin typeface="Aptos"/>
                          <a:ea typeface="Yu Gothic"/>
                          <a:cs typeface="Aptos"/>
                        </a:rPr>
                        <a:t>法的形態</a:t>
                      </a:r>
                    </a:p>
                  </a:txBody>
                  <a:tcPr marL="91440" marR="91440" marT="45720" marB="45720">
                    <a:solidFill>
                      <a:srgbClr val="E9EDF2"/>
                    </a:solidFill>
                  </a:tcPr>
                </a:tc>
                <a:tc>
                  <a:txBody>
                    <a:bodyPr lIns="73152" rIns="73152" wrap="square"/>
                    <a:lstStyle/>
                    <a:p>
                      <a:pPr algn="l"/>
                      <a:r>
                        <a:rPr sz="1050" b="0" i="0">
                          <a:solidFill>
                            <a:srgbClr val="1F1F1F"/>
                          </a:solidFill>
                          <a:latin typeface="Aptos"/>
                          <a:ea typeface="Yu Gothic"/>
                          <a:cs typeface="Aptos"/>
                        </a:rPr>
                        <a:t>投資事業有限責任組合（LPS）／海外フィーダーを併設</a:t>
                      </a:r>
                    </a:p>
                  </a:txBody>
                  <a:tcPr marL="91440" marR="91440" marT="45720" marB="45720">
                    <a:solidFill>
                      <a:srgbClr val="E9EDF2"/>
                    </a:solidFill>
                  </a:tcPr>
                </a:tc>
              </a:tr>
              <a:tr h="330590">
                <a:tc>
                  <a:txBody>
                    <a:bodyPr lIns="73152" rIns="73152" wrap="square"/>
                    <a:lstStyle/>
                    <a:p>
                      <a:pPr algn="l"/>
                      <a:r>
                        <a:rPr sz="1050" b="1" i="0">
                          <a:solidFill>
                            <a:srgbClr val="1F1F1F"/>
                          </a:solidFill>
                          <a:latin typeface="Aptos"/>
                          <a:ea typeface="Yu Gothic"/>
                          <a:cs typeface="Aptos"/>
                        </a:rPr>
                        <a:t>ファンドサイズ</a:t>
                      </a:r>
                    </a:p>
                  </a:txBody>
                  <a:tcPr marL="91440" marR="91440" marT="45720" marB="45720">
                    <a:solidFill>
                      <a:srgbClr val="FFFFFF"/>
                    </a:solidFill>
                  </a:tcPr>
                </a:tc>
                <a:tc>
                  <a:txBody>
                    <a:bodyPr lIns="73152" rIns="73152" wrap="square"/>
                    <a:lstStyle/>
                    <a:p>
                      <a:pPr algn="l"/>
                      <a:r>
                        <a:rPr sz="1050" b="0" i="0">
                          <a:solidFill>
                            <a:srgbClr val="1F1F1F"/>
                          </a:solidFill>
                          <a:latin typeface="Aptos"/>
                          <a:ea typeface="Yu Gothic"/>
                          <a:cs typeface="Aptos"/>
                        </a:rPr>
                        <a:t>目標 ¥20.0 BN（最低 ¥10.0 BN／上限 ¥30.0 BN）</a:t>
                      </a:r>
                    </a:p>
                  </a:txBody>
                  <a:tcPr marL="91440" marR="91440" marT="45720" marB="45720">
                    <a:solidFill>
                      <a:srgbClr val="FFFFFF"/>
                    </a:solidFill>
                  </a:tcPr>
                </a:tc>
              </a:tr>
              <a:tr h="330590">
                <a:tc>
                  <a:txBody>
                    <a:bodyPr lIns="73152" rIns="73152" wrap="square"/>
                    <a:lstStyle/>
                    <a:p>
                      <a:pPr algn="l"/>
                      <a:r>
                        <a:rPr sz="1050" b="1" i="0">
                          <a:solidFill>
                            <a:srgbClr val="1F1F1F"/>
                          </a:solidFill>
                          <a:latin typeface="Aptos"/>
                          <a:ea typeface="Yu Gothic"/>
                          <a:cs typeface="Aptos"/>
                        </a:rPr>
                        <a:t>First Close</a:t>
                      </a:r>
                    </a:p>
                  </a:txBody>
                  <a:tcPr marL="91440" marR="91440" marT="45720" marB="45720">
                    <a:solidFill>
                      <a:srgbClr val="E9EDF2"/>
                    </a:solidFill>
                  </a:tcPr>
                </a:tc>
                <a:tc>
                  <a:txBody>
                    <a:bodyPr lIns="73152" rIns="73152" wrap="square"/>
                    <a:lstStyle/>
                    <a:p>
                      <a:pPr algn="l"/>
                      <a:r>
                        <a:rPr sz="1050" b="0" i="0">
                          <a:solidFill>
                            <a:srgbClr val="1F1F1F"/>
                          </a:solidFill>
                          <a:latin typeface="Aptos"/>
                          <a:ea typeface="Yu Gothic"/>
                          <a:cs typeface="Aptos"/>
                        </a:rPr>
                        <a:t>¥10.0 BN（2026年 Q2 想定）</a:t>
                      </a:r>
                    </a:p>
                  </a:txBody>
                  <a:tcPr marL="91440" marR="91440" marT="45720" marB="45720">
                    <a:solidFill>
                      <a:srgbClr val="E9EDF2"/>
                    </a:solidFill>
                  </a:tcPr>
                </a:tc>
              </a:tr>
              <a:tr h="330590">
                <a:tc>
                  <a:txBody>
                    <a:bodyPr lIns="73152" rIns="73152" wrap="square"/>
                    <a:lstStyle/>
                    <a:p>
                      <a:pPr algn="l"/>
                      <a:r>
                        <a:rPr sz="1050" b="1" i="0">
                          <a:solidFill>
                            <a:srgbClr val="1F1F1F"/>
                          </a:solidFill>
                          <a:latin typeface="Aptos"/>
                          <a:ea typeface="Yu Gothic"/>
                          <a:cs typeface="Aptos"/>
                        </a:rPr>
                        <a:t>ファンド期間</a:t>
                      </a:r>
                    </a:p>
                  </a:txBody>
                  <a:tcPr marL="91440" marR="91440" marT="45720" marB="45720">
                    <a:solidFill>
                      <a:srgbClr val="FFFFFF"/>
                    </a:solidFill>
                  </a:tcPr>
                </a:tc>
                <a:tc>
                  <a:txBody>
                    <a:bodyPr lIns="73152" rIns="73152" wrap="square"/>
                    <a:lstStyle/>
                    <a:p>
                      <a:pPr algn="l"/>
                      <a:r>
                        <a:rPr sz="1050" b="0" i="0">
                          <a:solidFill>
                            <a:srgbClr val="1F1F1F"/>
                          </a:solidFill>
                          <a:latin typeface="Aptos"/>
                          <a:ea typeface="Yu Gothic"/>
                          <a:cs typeface="Aptos"/>
                        </a:rPr>
                        <a:t>10年（投資期間4年＋回収期間6年）、+2年延長オプション</a:t>
                      </a:r>
                    </a:p>
                  </a:txBody>
                  <a:tcPr marL="91440" marR="91440" marT="45720" marB="45720">
                    <a:solidFill>
                      <a:srgbClr val="FFFFFF"/>
                    </a:solidFill>
                  </a:tcPr>
                </a:tc>
              </a:tr>
              <a:tr h="330590">
                <a:tc>
                  <a:txBody>
                    <a:bodyPr lIns="73152" rIns="73152" wrap="square"/>
                    <a:lstStyle/>
                    <a:p>
                      <a:pPr algn="l"/>
                      <a:r>
                        <a:rPr sz="1050" b="1" i="0">
                          <a:solidFill>
                            <a:srgbClr val="1F1F1F"/>
                          </a:solidFill>
                          <a:latin typeface="Aptos"/>
                          <a:ea typeface="Yu Gothic"/>
                          <a:cs typeface="Aptos"/>
                        </a:rPr>
                        <a:t>管理報酬</a:t>
                      </a:r>
                    </a:p>
                  </a:txBody>
                  <a:tcPr marL="91440" marR="91440" marT="45720" marB="45720">
                    <a:solidFill>
                      <a:srgbClr val="E9EDF2"/>
                    </a:solidFill>
                  </a:tcPr>
                </a:tc>
                <a:tc>
                  <a:txBody>
                    <a:bodyPr lIns="73152" rIns="73152" wrap="square"/>
                    <a:lstStyle/>
                    <a:p>
                      <a:pPr algn="l"/>
                      <a:r>
                        <a:rPr sz="1050" b="0" i="0">
                          <a:solidFill>
                            <a:srgbClr val="1F1F1F"/>
                          </a:solidFill>
                          <a:latin typeface="Aptos"/>
                          <a:ea typeface="Yu Gothic"/>
                          <a:cs typeface="Aptos"/>
                        </a:rPr>
                        <a:t>投資期間中：年率 2.00% on commitments、以降：年率 2.00% on NAV</a:t>
                      </a:r>
                    </a:p>
                  </a:txBody>
                  <a:tcPr marL="91440" marR="91440" marT="45720" marB="45720">
                    <a:solidFill>
                      <a:srgbClr val="E9EDF2"/>
                    </a:solidFill>
                  </a:tcPr>
                </a:tc>
              </a:tr>
              <a:tr h="330590">
                <a:tc>
                  <a:txBody>
                    <a:bodyPr lIns="73152" rIns="73152" wrap="square"/>
                    <a:lstStyle/>
                    <a:p>
                      <a:pPr algn="l"/>
                      <a:r>
                        <a:rPr sz="1050" b="1" i="0">
                          <a:solidFill>
                            <a:srgbClr val="1F1F1F"/>
                          </a:solidFill>
                          <a:latin typeface="Aptos"/>
                          <a:ea typeface="Yu Gothic"/>
                          <a:cs typeface="Aptos"/>
                        </a:rPr>
                        <a:t>成功報酬</a:t>
                      </a:r>
                    </a:p>
                  </a:txBody>
                  <a:tcPr marL="91440" marR="91440" marT="45720" marB="45720">
                    <a:solidFill>
                      <a:srgbClr val="FFFFFF"/>
                    </a:solidFill>
                  </a:tcPr>
                </a:tc>
                <a:tc>
                  <a:txBody>
                    <a:bodyPr lIns="73152" rIns="73152" wrap="square"/>
                    <a:lstStyle/>
                    <a:p>
                      <a:pPr algn="l"/>
                      <a:r>
                        <a:rPr sz="1050" b="0" i="0">
                          <a:solidFill>
                            <a:srgbClr val="1F1F1F"/>
                          </a:solidFill>
                          <a:latin typeface="Aptos"/>
                          <a:ea typeface="Yu Gothic"/>
                          <a:cs typeface="Aptos"/>
                        </a:rPr>
                        <a:t>20% Carry, 8% Hurdle, European waterfall（GP catch-up あり）</a:t>
                      </a:r>
                    </a:p>
                  </a:txBody>
                  <a:tcPr marL="91440" marR="91440" marT="45720" marB="45720">
                    <a:solidFill>
                      <a:srgbClr val="FFFFFF"/>
                    </a:solidFill>
                  </a:tcPr>
                </a:tc>
              </a:tr>
              <a:tr h="330590">
                <a:tc>
                  <a:txBody>
                    <a:bodyPr lIns="73152" rIns="73152" wrap="square"/>
                    <a:lstStyle/>
                    <a:p>
                      <a:pPr algn="l"/>
                      <a:r>
                        <a:rPr sz="1050" b="1" i="0">
                          <a:solidFill>
                            <a:srgbClr val="1F1F1F"/>
                          </a:solidFill>
                          <a:latin typeface="Aptos"/>
                          <a:ea typeface="Yu Gothic"/>
                          <a:cs typeface="Aptos"/>
                        </a:rPr>
                        <a:t>GP Commitment</a:t>
                      </a:r>
                    </a:p>
                  </a:txBody>
                  <a:tcPr marL="91440" marR="91440" marT="45720" marB="45720">
                    <a:solidFill>
                      <a:srgbClr val="E9EDF2"/>
                    </a:solidFill>
                  </a:tcPr>
                </a:tc>
                <a:tc>
                  <a:txBody>
                    <a:bodyPr lIns="73152" rIns="73152" wrap="square"/>
                    <a:lstStyle/>
                    <a:p>
                      <a:pPr algn="l"/>
                      <a:r>
                        <a:rPr sz="1050" b="0" i="0">
                          <a:solidFill>
                            <a:srgbClr val="1F1F1F"/>
                          </a:solidFill>
                          <a:latin typeface="Aptos"/>
                          <a:ea typeface="Yu Gothic"/>
                          <a:cs typeface="Aptos"/>
                        </a:rPr>
                        <a:t>総コミットメントの 1.0% 以上（自己資金）</a:t>
                      </a:r>
                    </a:p>
                  </a:txBody>
                  <a:tcPr marL="91440" marR="91440" marT="45720" marB="45720">
                    <a:solidFill>
                      <a:srgbClr val="E9EDF2"/>
                    </a:solidFill>
                  </a:tcPr>
                </a:tc>
              </a:tr>
              <a:tr h="330590">
                <a:tc>
                  <a:txBody>
                    <a:bodyPr lIns="73152" rIns="73152" wrap="square"/>
                    <a:lstStyle/>
                    <a:p>
                      <a:pPr algn="l"/>
                      <a:r>
                        <a:rPr sz="1050" b="1" i="0">
                          <a:solidFill>
                            <a:srgbClr val="1F1F1F"/>
                          </a:solidFill>
                          <a:latin typeface="Aptos"/>
                          <a:ea typeface="Yu Gothic"/>
                          <a:cs typeface="Aptos"/>
                        </a:rPr>
                        <a:t>最低出資額</a:t>
                      </a:r>
                    </a:p>
                  </a:txBody>
                  <a:tcPr marL="91440" marR="91440" marT="45720" marB="45720">
                    <a:solidFill>
                      <a:srgbClr val="FFFFFF"/>
                    </a:solidFill>
                  </a:tcPr>
                </a:tc>
                <a:tc>
                  <a:txBody>
                    <a:bodyPr lIns="73152" rIns="73152" wrap="square"/>
                    <a:lstStyle/>
                    <a:p>
                      <a:pPr algn="l"/>
                      <a:r>
                        <a:rPr sz="1050" b="0" i="0">
                          <a:solidFill>
                            <a:srgbClr val="1F1F1F"/>
                          </a:solidFill>
                          <a:latin typeface="Aptos"/>
                          <a:ea typeface="Yu Gothic"/>
                          <a:cs typeface="Aptos"/>
                        </a:rPr>
                        <a:t>機関投資家：¥500 MM／その他：個別協議</a:t>
                      </a:r>
                    </a:p>
                  </a:txBody>
                  <a:tcPr marL="91440" marR="91440" marT="45720" marB="45720">
                    <a:solidFill>
                      <a:srgbClr val="FFFFFF"/>
                    </a:solidFill>
                  </a:tcPr>
                </a:tc>
              </a:tr>
              <a:tr h="330590">
                <a:tc>
                  <a:txBody>
                    <a:bodyPr lIns="73152" rIns="73152" wrap="square"/>
                    <a:lstStyle/>
                    <a:p>
                      <a:pPr algn="l"/>
                      <a:r>
                        <a:rPr sz="1050" b="1" i="0">
                          <a:solidFill>
                            <a:srgbClr val="1F1F1F"/>
                          </a:solidFill>
                          <a:latin typeface="Aptos"/>
                          <a:ea typeface="Yu Gothic"/>
                          <a:cs typeface="Aptos"/>
                        </a:rPr>
                        <a:t>想定投資家</a:t>
                      </a:r>
                    </a:p>
                  </a:txBody>
                  <a:tcPr marL="91440" marR="91440" marT="45720" marB="45720">
                    <a:solidFill>
                      <a:srgbClr val="E9EDF2"/>
                    </a:solidFill>
                  </a:tcPr>
                </a:tc>
                <a:tc>
                  <a:txBody>
                    <a:bodyPr lIns="73152" rIns="73152" wrap="square"/>
                    <a:lstStyle/>
                    <a:p>
                      <a:pPr algn="l"/>
                      <a:r>
                        <a:rPr sz="1050" b="0" i="0">
                          <a:solidFill>
                            <a:srgbClr val="1F1F1F"/>
                          </a:solidFill>
                          <a:latin typeface="Aptos"/>
                          <a:ea typeface="Yu Gothic"/>
                          <a:cs typeface="Aptos"/>
                        </a:rPr>
                        <a:t>機関投資家、地方銀行、年金、政策投資銀行系、CSR文脈の事業会社</a:t>
                      </a:r>
                    </a:p>
                  </a:txBody>
                  <a:tcPr marL="91440" marR="91440" marT="45720" marB="45720">
                    <a:solidFill>
                      <a:srgbClr val="E9EDF2"/>
                    </a:solidFill>
                  </a:tcPr>
                </a:tc>
              </a:tr>
              <a:tr h="330590">
                <a:tc>
                  <a:txBody>
                    <a:bodyPr lIns="73152" rIns="73152" wrap="square"/>
                    <a:lstStyle/>
                    <a:p>
                      <a:pPr algn="l"/>
                      <a:r>
                        <a:rPr sz="1050" b="1" i="0">
                          <a:solidFill>
                            <a:srgbClr val="1F1F1F"/>
                          </a:solidFill>
                          <a:latin typeface="Aptos"/>
                          <a:ea typeface="Yu Gothic"/>
                          <a:cs typeface="Aptos"/>
                        </a:rPr>
                        <a:t>分配方針</a:t>
                      </a:r>
                    </a:p>
                  </a:txBody>
                  <a:tcPr marL="91440" marR="91440" marT="45720" marB="45720">
                    <a:solidFill>
                      <a:srgbClr val="FFFFFF"/>
                    </a:solidFill>
                  </a:tcPr>
                </a:tc>
                <a:tc>
                  <a:txBody>
                    <a:bodyPr lIns="73152" rIns="73152" wrap="square"/>
                    <a:lstStyle/>
                    <a:p>
                      <a:pPr algn="l"/>
                      <a:r>
                        <a:rPr sz="1050" b="0" i="0">
                          <a:solidFill>
                            <a:srgbClr val="1F1F1F"/>
                          </a:solidFill>
                          <a:latin typeface="Aptos"/>
                          <a:ea typeface="Yu Gothic"/>
                          <a:cs typeface="Aptos"/>
                        </a:rPr>
                        <a:t>回収都度分配（再投資は投資期間中の一定条件下のみ）</a:t>
                      </a:r>
                    </a:p>
                  </a:txBody>
                  <a:tcPr marL="91440" marR="91440" marT="45720" marB="45720">
                    <a:solidFill>
                      <a:srgbClr val="FFFFFF"/>
                    </a:solidFill>
                  </a:tcPr>
                </a:tc>
              </a:tr>
              <a:tr h="330600">
                <a:tc>
                  <a:txBody>
                    <a:bodyPr lIns="73152" rIns="73152" wrap="square"/>
                    <a:lstStyle/>
                    <a:p>
                      <a:pPr algn="l"/>
                      <a:r>
                        <a:rPr sz="1050" b="1" i="0">
                          <a:solidFill>
                            <a:srgbClr val="1F1F1F"/>
                          </a:solidFill>
                          <a:latin typeface="Aptos"/>
                          <a:ea typeface="Yu Gothic"/>
                          <a:cs typeface="Aptos"/>
                        </a:rPr>
                        <a:t>主要規程</a:t>
                      </a:r>
                    </a:p>
                  </a:txBody>
                  <a:tcPr marL="91440" marR="91440" marT="45720" marB="45720">
                    <a:solidFill>
                      <a:srgbClr val="E9EDF2"/>
                    </a:solidFill>
                  </a:tcPr>
                </a:tc>
                <a:tc>
                  <a:txBody>
                    <a:bodyPr lIns="73152" rIns="73152" wrap="square"/>
                    <a:lstStyle/>
                    <a:p>
                      <a:pPr algn="l"/>
                      <a:r>
                        <a:rPr sz="1050" b="0" i="0">
                          <a:solidFill>
                            <a:srgbClr val="1F1F1F"/>
                          </a:solidFill>
                          <a:latin typeface="Aptos"/>
                          <a:ea typeface="Yu Gothic"/>
                          <a:cs typeface="Aptos"/>
                        </a:rPr>
                        <a:t>ESG/インパクト方針、利益相反、バリュエーション、Key Person条項</a:t>
                      </a:r>
                    </a:p>
                  </a:txBody>
                  <a:tcPr marL="91440" marR="91440" marT="45720" marB="45720">
                    <a:solidFill>
                      <a:srgbClr val="E9EDF2"/>
                    </a:solidFill>
                  </a:tcPr>
                </a:tc>
              </a:tr>
            </a:tbl>
          </a:graphicData>
        </a:graphic>
      </p:graphicFrame>
      <p:sp>
        <p:nvSpPr>
          <p:cNvPr id="10" name="TextBox 9"/>
          <p:cNvSpPr txBox="1"/>
          <p:nvPr/>
        </p:nvSpPr>
        <p:spPr>
          <a:xfrm>
            <a:off x="548640" y="6263640"/>
            <a:ext cx="11091672" cy="274320"/>
          </a:xfrm>
          <a:prstGeom prst="rect">
            <a:avLst/>
          </a:prstGeom>
          <a:noFill/>
        </p:spPr>
        <p:txBody>
          <a:bodyPr wrap="square" lIns="0" rIns="0" tIns="0" bIns="0" anchor="t">
            <a:spAutoFit/>
          </a:bodyPr>
          <a:lstStyle/>
          <a:p>
            <a:pPr algn="l"/>
            <a:r>
              <a:rPr sz="850" b="0" i="1">
                <a:solidFill>
                  <a:srgbClr val="6E7783"/>
                </a:solidFill>
                <a:latin typeface="Aptos"/>
                <a:ea typeface="Yu Gothic"/>
                <a:cs typeface="Aptos"/>
              </a:rPr>
              <a:t>上記は主要条件の要約であり、最終条件はLPA（Limited Partnership Agreement）に従います。</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7315200" cy="274320"/>
          </a:xfrm>
          <a:prstGeom prst="rect">
            <a:avLst/>
          </a:prstGeom>
          <a:noFill/>
        </p:spPr>
        <p:txBody>
          <a:bodyPr wrap="square" lIns="0" rIns="0" tIns="0" bIns="0" anchor="t">
            <a:spAutoFit/>
          </a:bodyPr>
          <a:lstStyle/>
          <a:p>
            <a:pPr algn="l"/>
            <a:r>
              <a:rPr sz="900" b="1" i="0" spc="200">
                <a:solidFill>
                  <a:srgbClr val="5FA8D3"/>
                </a:solidFill>
                <a:latin typeface="Aptos"/>
                <a:ea typeface="Yu Gothic"/>
                <a:cs typeface="Aptos"/>
              </a:rPr>
              <a:t>GOVERNANCE</a:t>
            </a:r>
          </a:p>
        </p:txBody>
      </p:sp>
      <p:sp>
        <p:nvSpPr>
          <p:cNvPr id="3" name="TextBox 2"/>
          <p:cNvSpPr txBox="1"/>
          <p:nvPr/>
        </p:nvSpPr>
        <p:spPr>
          <a:xfrm>
            <a:off x="5029200" y="411480"/>
            <a:ext cx="6583680" cy="274320"/>
          </a:xfrm>
          <a:prstGeom prst="rect">
            <a:avLst/>
          </a:prstGeom>
          <a:noFill/>
        </p:spPr>
        <p:txBody>
          <a:bodyPr wrap="square" lIns="0" rIns="0" tIns="0" bIns="0" anchor="t">
            <a:spAutoFit/>
          </a:bodyPr>
          <a:lstStyle/>
          <a:p>
            <a:pPr algn="r"/>
            <a:r>
              <a:rPr sz="850" b="1" i="0" spc="150">
                <a:solidFill>
                  <a:srgbClr val="6E7783"/>
                </a:solidFill>
                <a:latin typeface="Aptos"/>
                <a:ea typeface="Yu Gothic"/>
                <a:cs typeface="Aptos"/>
              </a:rPr>
              <a:t>TOHOKU FRONTIER IMPACT CAPITAL</a:t>
            </a:r>
          </a:p>
        </p:txBody>
      </p:sp>
      <p:sp>
        <p:nvSpPr>
          <p:cNvPr id="4" name="TextBox 3"/>
          <p:cNvSpPr txBox="1"/>
          <p:nvPr/>
        </p:nvSpPr>
        <p:spPr>
          <a:xfrm>
            <a:off x="548640" y="713232"/>
            <a:ext cx="11091672" cy="777240"/>
          </a:xfrm>
          <a:prstGeom prst="rect">
            <a:avLst/>
          </a:prstGeom>
          <a:noFill/>
        </p:spPr>
        <p:txBody>
          <a:bodyPr wrap="square" lIns="0" rIns="0" tIns="0" bIns="0" anchor="t">
            <a:spAutoFit/>
          </a:bodyPr>
          <a:lstStyle/>
          <a:p>
            <a:pPr algn="l"/>
            <a:r>
              <a:rPr sz="2600" b="1" i="0">
                <a:solidFill>
                  <a:srgbClr val="0F2747"/>
                </a:solidFill>
                <a:latin typeface="Aptos"/>
                <a:ea typeface="Yu Gothic"/>
                <a:cs typeface="Aptos"/>
              </a:rPr>
              <a:t>投資プロセス・ガバナンス</a:t>
            </a:r>
          </a:p>
        </p:txBody>
      </p:sp>
      <p:sp>
        <p:nvSpPr>
          <p:cNvPr id="5" name="Rectangle 4"/>
          <p:cNvSpPr/>
          <p:nvPr/>
        </p:nvSpPr>
        <p:spPr>
          <a:xfrm>
            <a:off x="548640" y="1536192"/>
            <a:ext cx="731520" cy="31750"/>
          </a:xfrm>
          <a:prstGeom prst="rect">
            <a:avLst/>
          </a:prstGeom>
          <a:solidFill>
            <a:srgbClr val="5FA8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364224"/>
            <a:ext cx="11091672" cy="10972"/>
          </a:xfrm>
          <a:prstGeom prst="rect">
            <a:avLst/>
          </a:prstGeom>
          <a:solidFill>
            <a:srgbClr val="CF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46520"/>
            <a:ext cx="5486400" cy="274320"/>
          </a:xfrm>
          <a:prstGeom prst="rect">
            <a:avLst/>
          </a:prstGeom>
          <a:noFill/>
        </p:spPr>
        <p:txBody>
          <a:bodyPr wrap="square" lIns="0" rIns="0" tIns="0" bIns="0" anchor="t">
            <a:spAutoFit/>
          </a:bodyPr>
          <a:lstStyle/>
          <a:p>
            <a:pPr algn="l"/>
            <a:r>
              <a:rPr sz="750" b="1" i="0" spc="180">
                <a:solidFill>
                  <a:srgbClr val="6E7783"/>
                </a:solidFill>
                <a:latin typeface="Aptos"/>
                <a:ea typeface="Yu Gothic"/>
                <a:cs typeface="Aptos"/>
              </a:rPr>
              <a:t>STRICTLY PRIVATE &amp; CONFIDENTIAL  |  FOR DISCUSSION PURPOSES ONLY</a:t>
            </a:r>
          </a:p>
        </p:txBody>
      </p:sp>
      <p:sp>
        <p:nvSpPr>
          <p:cNvPr id="8" name="TextBox 7"/>
          <p:cNvSpPr txBox="1"/>
          <p:nvPr/>
        </p:nvSpPr>
        <p:spPr>
          <a:xfrm>
            <a:off x="8229600" y="6446520"/>
            <a:ext cx="3410712" cy="274320"/>
          </a:xfrm>
          <a:prstGeom prst="rect">
            <a:avLst/>
          </a:prstGeom>
          <a:noFill/>
        </p:spPr>
        <p:txBody>
          <a:bodyPr wrap="square" lIns="0" rIns="0" tIns="0" bIns="0" anchor="t">
            <a:spAutoFit/>
          </a:bodyPr>
          <a:lstStyle/>
          <a:p>
            <a:pPr algn="r"/>
            <a:r>
              <a:rPr sz="800" b="1" i="0" spc="120">
                <a:solidFill>
                  <a:srgbClr val="0F2747"/>
                </a:solidFill>
                <a:latin typeface="Aptos"/>
                <a:ea typeface="Yu Gothic"/>
                <a:cs typeface="Aptos"/>
              </a:rPr>
              <a:t>13 / 16</a:t>
            </a:r>
          </a:p>
        </p:txBody>
      </p:sp>
      <p:sp>
        <p:nvSpPr>
          <p:cNvPr id="9" name="Rectangle 8"/>
          <p:cNvSpPr/>
          <p:nvPr/>
        </p:nvSpPr>
        <p:spPr>
          <a:xfrm>
            <a:off x="548640" y="1920240"/>
            <a:ext cx="1783080" cy="548640"/>
          </a:xfrm>
          <a:prstGeom prst="rect">
            <a:avLst/>
          </a:prstGeom>
          <a:solidFill>
            <a:srgbClr val="0F27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011680"/>
            <a:ext cx="1691639" cy="365760"/>
          </a:xfrm>
          <a:prstGeom prst="rect">
            <a:avLst/>
          </a:prstGeom>
          <a:noFill/>
        </p:spPr>
        <p:txBody>
          <a:bodyPr wrap="square" lIns="0" rIns="0" tIns="0" bIns="0" anchor="ctr">
            <a:spAutoFit/>
          </a:bodyPr>
          <a:lstStyle/>
          <a:p>
            <a:pPr algn="ctr"/>
            <a:r>
              <a:rPr sz="1100" b="1" i="0">
                <a:solidFill>
                  <a:srgbClr val="FFFFFF"/>
                </a:solidFill>
                <a:latin typeface="Aptos"/>
                <a:ea typeface="Yu Gothic"/>
                <a:cs typeface="Aptos"/>
              </a:rPr>
              <a:t>Sourcing</a:t>
            </a:r>
          </a:p>
        </p:txBody>
      </p:sp>
      <p:sp>
        <p:nvSpPr>
          <p:cNvPr id="11" name="TextBox 10"/>
          <p:cNvSpPr txBox="1"/>
          <p:nvPr/>
        </p:nvSpPr>
        <p:spPr>
          <a:xfrm>
            <a:off x="2286000" y="2103120"/>
            <a:ext cx="137160" cy="274320"/>
          </a:xfrm>
          <a:prstGeom prst="rect">
            <a:avLst/>
          </a:prstGeom>
          <a:noFill/>
        </p:spPr>
        <p:txBody>
          <a:bodyPr wrap="square" lIns="0" rIns="0" tIns="0" bIns="0" anchor="t">
            <a:spAutoFit/>
          </a:bodyPr>
          <a:lstStyle/>
          <a:p>
            <a:pPr algn="ctr"/>
            <a:r>
              <a:rPr sz="1000" b="0" i="0">
                <a:solidFill>
                  <a:srgbClr val="5FA8D3"/>
                </a:solidFill>
                <a:latin typeface="Aptos"/>
                <a:ea typeface="Yu Gothic"/>
                <a:cs typeface="Aptos"/>
              </a:rPr>
              <a:t>▶</a:t>
            </a:r>
          </a:p>
        </p:txBody>
      </p:sp>
      <p:sp>
        <p:nvSpPr>
          <p:cNvPr id="12" name="Rectangle 11"/>
          <p:cNvSpPr/>
          <p:nvPr/>
        </p:nvSpPr>
        <p:spPr>
          <a:xfrm>
            <a:off x="2377440" y="1920240"/>
            <a:ext cx="1783080" cy="548640"/>
          </a:xfrm>
          <a:prstGeom prst="rect">
            <a:avLst/>
          </a:prstGeom>
          <a:solidFill>
            <a:srgbClr val="0F27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23160" y="2011680"/>
            <a:ext cx="1691639" cy="365760"/>
          </a:xfrm>
          <a:prstGeom prst="rect">
            <a:avLst/>
          </a:prstGeom>
          <a:noFill/>
        </p:spPr>
        <p:txBody>
          <a:bodyPr wrap="square" lIns="0" rIns="0" tIns="0" bIns="0" anchor="ctr">
            <a:spAutoFit/>
          </a:bodyPr>
          <a:lstStyle/>
          <a:p>
            <a:pPr algn="ctr"/>
            <a:r>
              <a:rPr sz="1100" b="1" i="0">
                <a:solidFill>
                  <a:srgbClr val="FFFFFF"/>
                </a:solidFill>
                <a:latin typeface="Aptos"/>
                <a:ea typeface="Yu Gothic"/>
                <a:cs typeface="Aptos"/>
              </a:rPr>
              <a:t>Screening</a:t>
            </a:r>
          </a:p>
        </p:txBody>
      </p:sp>
      <p:sp>
        <p:nvSpPr>
          <p:cNvPr id="14" name="TextBox 13"/>
          <p:cNvSpPr txBox="1"/>
          <p:nvPr/>
        </p:nvSpPr>
        <p:spPr>
          <a:xfrm>
            <a:off x="4114800" y="2103120"/>
            <a:ext cx="137160" cy="274320"/>
          </a:xfrm>
          <a:prstGeom prst="rect">
            <a:avLst/>
          </a:prstGeom>
          <a:noFill/>
        </p:spPr>
        <p:txBody>
          <a:bodyPr wrap="square" lIns="0" rIns="0" tIns="0" bIns="0" anchor="t">
            <a:spAutoFit/>
          </a:bodyPr>
          <a:lstStyle/>
          <a:p>
            <a:pPr algn="ctr"/>
            <a:r>
              <a:rPr sz="1000" b="0" i="0">
                <a:solidFill>
                  <a:srgbClr val="5FA8D3"/>
                </a:solidFill>
                <a:latin typeface="Aptos"/>
                <a:ea typeface="Yu Gothic"/>
                <a:cs typeface="Aptos"/>
              </a:rPr>
              <a:t>▶</a:t>
            </a:r>
          </a:p>
        </p:txBody>
      </p:sp>
      <p:sp>
        <p:nvSpPr>
          <p:cNvPr id="15" name="Rectangle 14"/>
          <p:cNvSpPr/>
          <p:nvPr/>
        </p:nvSpPr>
        <p:spPr>
          <a:xfrm>
            <a:off x="4206240" y="1920240"/>
            <a:ext cx="1783080" cy="548640"/>
          </a:xfrm>
          <a:prstGeom prst="rect">
            <a:avLst/>
          </a:prstGeom>
          <a:solidFill>
            <a:srgbClr val="0F27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51959" y="2011680"/>
            <a:ext cx="1691639" cy="365760"/>
          </a:xfrm>
          <a:prstGeom prst="rect">
            <a:avLst/>
          </a:prstGeom>
          <a:noFill/>
        </p:spPr>
        <p:txBody>
          <a:bodyPr wrap="square" lIns="0" rIns="0" tIns="0" bIns="0" anchor="ctr">
            <a:spAutoFit/>
          </a:bodyPr>
          <a:lstStyle/>
          <a:p>
            <a:pPr algn="ctr"/>
            <a:r>
              <a:rPr sz="1100" b="1" i="0">
                <a:solidFill>
                  <a:srgbClr val="FFFFFF"/>
                </a:solidFill>
                <a:latin typeface="Aptos"/>
                <a:ea typeface="Yu Gothic"/>
                <a:cs typeface="Aptos"/>
              </a:rPr>
              <a:t>Diligence</a:t>
            </a:r>
          </a:p>
        </p:txBody>
      </p:sp>
      <p:sp>
        <p:nvSpPr>
          <p:cNvPr id="17" name="TextBox 16"/>
          <p:cNvSpPr txBox="1"/>
          <p:nvPr/>
        </p:nvSpPr>
        <p:spPr>
          <a:xfrm>
            <a:off x="5943600" y="2103120"/>
            <a:ext cx="137160" cy="274320"/>
          </a:xfrm>
          <a:prstGeom prst="rect">
            <a:avLst/>
          </a:prstGeom>
          <a:noFill/>
        </p:spPr>
        <p:txBody>
          <a:bodyPr wrap="square" lIns="0" rIns="0" tIns="0" bIns="0" anchor="t">
            <a:spAutoFit/>
          </a:bodyPr>
          <a:lstStyle/>
          <a:p>
            <a:pPr algn="ctr"/>
            <a:r>
              <a:rPr sz="1000" b="0" i="0">
                <a:solidFill>
                  <a:srgbClr val="5FA8D3"/>
                </a:solidFill>
                <a:latin typeface="Aptos"/>
                <a:ea typeface="Yu Gothic"/>
                <a:cs typeface="Aptos"/>
              </a:rPr>
              <a:t>▶</a:t>
            </a:r>
          </a:p>
        </p:txBody>
      </p:sp>
      <p:sp>
        <p:nvSpPr>
          <p:cNvPr id="18" name="Rectangle 17"/>
          <p:cNvSpPr/>
          <p:nvPr/>
        </p:nvSpPr>
        <p:spPr>
          <a:xfrm>
            <a:off x="6035040" y="1920240"/>
            <a:ext cx="1783080" cy="548640"/>
          </a:xfrm>
          <a:prstGeom prst="rect">
            <a:avLst/>
          </a:prstGeom>
          <a:solidFill>
            <a:srgbClr val="0F27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80759" y="2011680"/>
            <a:ext cx="1691639" cy="365760"/>
          </a:xfrm>
          <a:prstGeom prst="rect">
            <a:avLst/>
          </a:prstGeom>
          <a:noFill/>
        </p:spPr>
        <p:txBody>
          <a:bodyPr wrap="square" lIns="0" rIns="0" tIns="0" bIns="0" anchor="ctr">
            <a:spAutoFit/>
          </a:bodyPr>
          <a:lstStyle/>
          <a:p>
            <a:pPr algn="ctr"/>
            <a:r>
              <a:rPr sz="1100" b="1" i="0">
                <a:solidFill>
                  <a:srgbClr val="FFFFFF"/>
                </a:solidFill>
                <a:latin typeface="Aptos"/>
                <a:ea typeface="Yu Gothic"/>
                <a:cs typeface="Aptos"/>
              </a:rPr>
              <a:t>IC Decision</a:t>
            </a:r>
          </a:p>
        </p:txBody>
      </p:sp>
      <p:sp>
        <p:nvSpPr>
          <p:cNvPr id="20" name="TextBox 19"/>
          <p:cNvSpPr txBox="1"/>
          <p:nvPr/>
        </p:nvSpPr>
        <p:spPr>
          <a:xfrm>
            <a:off x="7772399" y="2103120"/>
            <a:ext cx="137160" cy="274320"/>
          </a:xfrm>
          <a:prstGeom prst="rect">
            <a:avLst/>
          </a:prstGeom>
          <a:noFill/>
        </p:spPr>
        <p:txBody>
          <a:bodyPr wrap="square" lIns="0" rIns="0" tIns="0" bIns="0" anchor="t">
            <a:spAutoFit/>
          </a:bodyPr>
          <a:lstStyle/>
          <a:p>
            <a:pPr algn="ctr"/>
            <a:r>
              <a:rPr sz="1000" b="0" i="0">
                <a:solidFill>
                  <a:srgbClr val="5FA8D3"/>
                </a:solidFill>
                <a:latin typeface="Aptos"/>
                <a:ea typeface="Yu Gothic"/>
                <a:cs typeface="Aptos"/>
              </a:rPr>
              <a:t>▶</a:t>
            </a:r>
          </a:p>
        </p:txBody>
      </p:sp>
      <p:sp>
        <p:nvSpPr>
          <p:cNvPr id="21" name="Rectangle 20"/>
          <p:cNvSpPr/>
          <p:nvPr/>
        </p:nvSpPr>
        <p:spPr>
          <a:xfrm>
            <a:off x="7863840" y="1920240"/>
            <a:ext cx="1783080" cy="548640"/>
          </a:xfrm>
          <a:prstGeom prst="rect">
            <a:avLst/>
          </a:prstGeom>
          <a:solidFill>
            <a:srgbClr val="0F27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0" y="2011680"/>
            <a:ext cx="1691639" cy="365760"/>
          </a:xfrm>
          <a:prstGeom prst="rect">
            <a:avLst/>
          </a:prstGeom>
          <a:noFill/>
        </p:spPr>
        <p:txBody>
          <a:bodyPr wrap="square" lIns="0" rIns="0" tIns="0" bIns="0" anchor="ctr">
            <a:spAutoFit/>
          </a:bodyPr>
          <a:lstStyle/>
          <a:p>
            <a:pPr algn="ctr"/>
            <a:r>
              <a:rPr sz="1100" b="1" i="0">
                <a:solidFill>
                  <a:srgbClr val="FFFFFF"/>
                </a:solidFill>
                <a:latin typeface="Aptos"/>
                <a:ea typeface="Yu Gothic"/>
                <a:cs typeface="Aptos"/>
              </a:rPr>
              <a:t>Execution</a:t>
            </a:r>
          </a:p>
        </p:txBody>
      </p:sp>
      <p:sp>
        <p:nvSpPr>
          <p:cNvPr id="23" name="TextBox 22"/>
          <p:cNvSpPr txBox="1"/>
          <p:nvPr/>
        </p:nvSpPr>
        <p:spPr>
          <a:xfrm>
            <a:off x="9601199" y="2103120"/>
            <a:ext cx="137160" cy="274320"/>
          </a:xfrm>
          <a:prstGeom prst="rect">
            <a:avLst/>
          </a:prstGeom>
          <a:noFill/>
        </p:spPr>
        <p:txBody>
          <a:bodyPr wrap="square" lIns="0" rIns="0" tIns="0" bIns="0" anchor="t">
            <a:spAutoFit/>
          </a:bodyPr>
          <a:lstStyle/>
          <a:p>
            <a:pPr algn="ctr"/>
            <a:r>
              <a:rPr sz="1000" b="0" i="0">
                <a:solidFill>
                  <a:srgbClr val="5FA8D3"/>
                </a:solidFill>
                <a:latin typeface="Aptos"/>
                <a:ea typeface="Yu Gothic"/>
                <a:cs typeface="Aptos"/>
              </a:rPr>
              <a:t>▶</a:t>
            </a:r>
          </a:p>
        </p:txBody>
      </p:sp>
      <p:sp>
        <p:nvSpPr>
          <p:cNvPr id="24" name="Rectangle 23"/>
          <p:cNvSpPr/>
          <p:nvPr/>
        </p:nvSpPr>
        <p:spPr>
          <a:xfrm>
            <a:off x="9692640" y="1920240"/>
            <a:ext cx="1783080" cy="548640"/>
          </a:xfrm>
          <a:prstGeom prst="rect">
            <a:avLst/>
          </a:prstGeom>
          <a:solidFill>
            <a:srgbClr val="0F27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38360" y="2011680"/>
            <a:ext cx="1691639" cy="365760"/>
          </a:xfrm>
          <a:prstGeom prst="rect">
            <a:avLst/>
          </a:prstGeom>
          <a:noFill/>
        </p:spPr>
        <p:txBody>
          <a:bodyPr wrap="square" lIns="0" rIns="0" tIns="0" bIns="0" anchor="ctr">
            <a:spAutoFit/>
          </a:bodyPr>
          <a:lstStyle/>
          <a:p>
            <a:pPr algn="ctr"/>
            <a:r>
              <a:rPr sz="1100" b="1" i="0">
                <a:solidFill>
                  <a:srgbClr val="FFFFFF"/>
                </a:solidFill>
                <a:latin typeface="Aptos"/>
                <a:ea typeface="Yu Gothic"/>
                <a:cs typeface="Aptos"/>
              </a:rPr>
              <a:t>Monitoring → Exit</a:t>
            </a:r>
          </a:p>
        </p:txBody>
      </p:sp>
      <p:sp>
        <p:nvSpPr>
          <p:cNvPr id="26" name="Rectangle 25"/>
          <p:cNvSpPr/>
          <p:nvPr/>
        </p:nvSpPr>
        <p:spPr>
          <a:xfrm>
            <a:off x="548640" y="2743200"/>
            <a:ext cx="3657600" cy="1417320"/>
          </a:xfrm>
          <a:prstGeom prst="rect">
            <a:avLst/>
          </a:prstGeom>
          <a:solidFill>
            <a:srgbClr val="FFFFFF"/>
          </a:solidFill>
          <a:ln w="6350">
            <a:solidFill>
              <a:srgbClr val="CF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2743200"/>
            <a:ext cx="91440" cy="1417320"/>
          </a:xfrm>
          <a:prstGeom prst="rect">
            <a:avLst/>
          </a:prstGeom>
          <a:solidFill>
            <a:srgbClr val="5FA8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2852928"/>
            <a:ext cx="3291840" cy="274320"/>
          </a:xfrm>
          <a:prstGeom prst="rect">
            <a:avLst/>
          </a:prstGeom>
          <a:noFill/>
        </p:spPr>
        <p:txBody>
          <a:bodyPr wrap="square" lIns="0" rIns="0" tIns="0" bIns="0" anchor="t">
            <a:spAutoFit/>
          </a:bodyPr>
          <a:lstStyle/>
          <a:p>
            <a:pPr algn="l"/>
            <a:r>
              <a:rPr sz="950" b="1" i="0" spc="200">
                <a:solidFill>
                  <a:srgbClr val="0F2747"/>
                </a:solidFill>
                <a:latin typeface="Aptos"/>
                <a:ea typeface="Yu Gothic"/>
                <a:cs typeface="Aptos"/>
              </a:rPr>
              <a:t>01  SOURCING</a:t>
            </a:r>
          </a:p>
        </p:txBody>
      </p:sp>
      <p:sp>
        <p:nvSpPr>
          <p:cNvPr id="29" name="TextBox 28"/>
          <p:cNvSpPr txBox="1"/>
          <p:nvPr/>
        </p:nvSpPr>
        <p:spPr>
          <a:xfrm>
            <a:off x="777240" y="3127248"/>
            <a:ext cx="3291840" cy="914400"/>
          </a:xfrm>
          <a:prstGeom prst="rect">
            <a:avLst/>
          </a:prstGeom>
          <a:noFill/>
        </p:spPr>
        <p:txBody>
          <a:bodyPr wrap="square" lIns="0" rIns="0" tIns="0" bIns="0" anchor="t">
            <a:spAutoFit/>
          </a:bodyPr>
          <a:lstStyle/>
          <a:p>
            <a:pPr algn="l"/>
            <a:r>
              <a:rPr sz="1000" b="0" i="0">
                <a:solidFill>
                  <a:srgbClr val="1F1F1F"/>
                </a:solidFill>
                <a:latin typeface="Aptos"/>
                <a:ea typeface="Yu Gothic"/>
                <a:cs typeface="Aptos"/>
              </a:rPr>
              <a:t>公的セクター・大学・地方銀行・既存ポートフォリオ・GPネットワークの五経路から年間100件超を発掘。</a:t>
            </a:r>
          </a:p>
        </p:txBody>
      </p:sp>
      <p:sp>
        <p:nvSpPr>
          <p:cNvPr id="30" name="Rectangle 29"/>
          <p:cNvSpPr/>
          <p:nvPr/>
        </p:nvSpPr>
        <p:spPr>
          <a:xfrm>
            <a:off x="4325112" y="2743200"/>
            <a:ext cx="3657600" cy="1417320"/>
          </a:xfrm>
          <a:prstGeom prst="rect">
            <a:avLst/>
          </a:prstGeom>
          <a:solidFill>
            <a:srgbClr val="FFFFFF"/>
          </a:solidFill>
          <a:ln w="6350">
            <a:solidFill>
              <a:srgbClr val="CF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325112" y="2743200"/>
            <a:ext cx="91440" cy="1417320"/>
          </a:xfrm>
          <a:prstGeom prst="rect">
            <a:avLst/>
          </a:prstGeom>
          <a:solidFill>
            <a:srgbClr val="5FA8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53712" y="2852928"/>
            <a:ext cx="3291840" cy="274320"/>
          </a:xfrm>
          <a:prstGeom prst="rect">
            <a:avLst/>
          </a:prstGeom>
          <a:noFill/>
        </p:spPr>
        <p:txBody>
          <a:bodyPr wrap="square" lIns="0" rIns="0" tIns="0" bIns="0" anchor="t">
            <a:spAutoFit/>
          </a:bodyPr>
          <a:lstStyle/>
          <a:p>
            <a:pPr algn="l"/>
            <a:r>
              <a:rPr sz="950" b="1" i="0" spc="200">
                <a:solidFill>
                  <a:srgbClr val="0F2747"/>
                </a:solidFill>
                <a:latin typeface="Aptos"/>
                <a:ea typeface="Yu Gothic"/>
                <a:cs typeface="Aptos"/>
              </a:rPr>
              <a:t>02  SCREENING</a:t>
            </a:r>
          </a:p>
        </p:txBody>
      </p:sp>
      <p:sp>
        <p:nvSpPr>
          <p:cNvPr id="33" name="TextBox 32"/>
          <p:cNvSpPr txBox="1"/>
          <p:nvPr/>
        </p:nvSpPr>
        <p:spPr>
          <a:xfrm>
            <a:off x="4553712" y="3127248"/>
            <a:ext cx="3291840" cy="914400"/>
          </a:xfrm>
          <a:prstGeom prst="rect">
            <a:avLst/>
          </a:prstGeom>
          <a:noFill/>
        </p:spPr>
        <p:txBody>
          <a:bodyPr wrap="square" lIns="0" rIns="0" tIns="0" bIns="0" anchor="t">
            <a:spAutoFit/>
          </a:bodyPr>
          <a:lstStyle/>
          <a:p>
            <a:pPr algn="l"/>
            <a:r>
              <a:rPr sz="1000" b="0" i="0">
                <a:solidFill>
                  <a:srgbClr val="1F1F1F"/>
                </a:solidFill>
                <a:latin typeface="Aptos"/>
                <a:ea typeface="Yu Gothic"/>
                <a:cs typeface="Aptos"/>
              </a:rPr>
              <a:t>テーマ適合・インパクト適合・成長性・チーム品質の4軸で一次評価。月次パイプラインレビュー。</a:t>
            </a:r>
          </a:p>
        </p:txBody>
      </p:sp>
      <p:sp>
        <p:nvSpPr>
          <p:cNvPr id="34" name="Rectangle 33"/>
          <p:cNvSpPr/>
          <p:nvPr/>
        </p:nvSpPr>
        <p:spPr>
          <a:xfrm>
            <a:off x="8101583" y="2743200"/>
            <a:ext cx="3657600" cy="1417320"/>
          </a:xfrm>
          <a:prstGeom prst="rect">
            <a:avLst/>
          </a:prstGeom>
          <a:solidFill>
            <a:srgbClr val="FFFFFF"/>
          </a:solidFill>
          <a:ln w="6350">
            <a:solidFill>
              <a:srgbClr val="CF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101583" y="2743200"/>
            <a:ext cx="91440" cy="1417320"/>
          </a:xfrm>
          <a:prstGeom prst="rect">
            <a:avLst/>
          </a:prstGeom>
          <a:solidFill>
            <a:srgbClr val="5FA8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30183" y="2852928"/>
            <a:ext cx="3291840" cy="274320"/>
          </a:xfrm>
          <a:prstGeom prst="rect">
            <a:avLst/>
          </a:prstGeom>
          <a:noFill/>
        </p:spPr>
        <p:txBody>
          <a:bodyPr wrap="square" lIns="0" rIns="0" tIns="0" bIns="0" anchor="t">
            <a:spAutoFit/>
          </a:bodyPr>
          <a:lstStyle/>
          <a:p>
            <a:pPr algn="l"/>
            <a:r>
              <a:rPr sz="950" b="1" i="0" spc="200">
                <a:solidFill>
                  <a:srgbClr val="0F2747"/>
                </a:solidFill>
                <a:latin typeface="Aptos"/>
                <a:ea typeface="Yu Gothic"/>
                <a:cs typeface="Aptos"/>
              </a:rPr>
              <a:t>03  DILIGENCE</a:t>
            </a:r>
          </a:p>
        </p:txBody>
      </p:sp>
      <p:sp>
        <p:nvSpPr>
          <p:cNvPr id="37" name="TextBox 36"/>
          <p:cNvSpPr txBox="1"/>
          <p:nvPr/>
        </p:nvSpPr>
        <p:spPr>
          <a:xfrm>
            <a:off x="8330183" y="3127248"/>
            <a:ext cx="3291840" cy="914400"/>
          </a:xfrm>
          <a:prstGeom prst="rect">
            <a:avLst/>
          </a:prstGeom>
          <a:noFill/>
        </p:spPr>
        <p:txBody>
          <a:bodyPr wrap="square" lIns="0" rIns="0" tIns="0" bIns="0" anchor="t">
            <a:spAutoFit/>
          </a:bodyPr>
          <a:lstStyle/>
          <a:p>
            <a:pPr algn="l"/>
            <a:r>
              <a:rPr sz="1000" b="0" i="0">
                <a:solidFill>
                  <a:srgbClr val="1F1F1F"/>
                </a:solidFill>
                <a:latin typeface="Aptos"/>
                <a:ea typeface="Yu Gothic"/>
                <a:cs typeface="Aptos"/>
              </a:rPr>
              <a:t>事業・財務・法務・人材・ESG/インパクトの統合DD。外部アドバイザリーを活用。</a:t>
            </a:r>
          </a:p>
        </p:txBody>
      </p:sp>
      <p:sp>
        <p:nvSpPr>
          <p:cNvPr id="38" name="Rectangle 37"/>
          <p:cNvSpPr/>
          <p:nvPr/>
        </p:nvSpPr>
        <p:spPr>
          <a:xfrm>
            <a:off x="548640" y="4325112"/>
            <a:ext cx="3657600" cy="1417320"/>
          </a:xfrm>
          <a:prstGeom prst="rect">
            <a:avLst/>
          </a:prstGeom>
          <a:solidFill>
            <a:srgbClr val="FFFFFF"/>
          </a:solidFill>
          <a:ln w="6350">
            <a:solidFill>
              <a:srgbClr val="CF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48640" y="4325112"/>
            <a:ext cx="91440" cy="1417320"/>
          </a:xfrm>
          <a:prstGeom prst="rect">
            <a:avLst/>
          </a:prstGeom>
          <a:solidFill>
            <a:srgbClr val="5FA8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7240" y="4434840"/>
            <a:ext cx="3291840" cy="274320"/>
          </a:xfrm>
          <a:prstGeom prst="rect">
            <a:avLst/>
          </a:prstGeom>
          <a:noFill/>
        </p:spPr>
        <p:txBody>
          <a:bodyPr wrap="square" lIns="0" rIns="0" tIns="0" bIns="0" anchor="t">
            <a:spAutoFit/>
          </a:bodyPr>
          <a:lstStyle/>
          <a:p>
            <a:pPr algn="l"/>
            <a:r>
              <a:rPr sz="950" b="1" i="0" spc="200">
                <a:solidFill>
                  <a:srgbClr val="0F2747"/>
                </a:solidFill>
                <a:latin typeface="Aptos"/>
                <a:ea typeface="Yu Gothic"/>
                <a:cs typeface="Aptos"/>
              </a:rPr>
              <a:t>04  IC DECISION</a:t>
            </a:r>
          </a:p>
        </p:txBody>
      </p:sp>
      <p:sp>
        <p:nvSpPr>
          <p:cNvPr id="41" name="TextBox 40"/>
          <p:cNvSpPr txBox="1"/>
          <p:nvPr/>
        </p:nvSpPr>
        <p:spPr>
          <a:xfrm>
            <a:off x="777240" y="4709160"/>
            <a:ext cx="3291840" cy="914400"/>
          </a:xfrm>
          <a:prstGeom prst="rect">
            <a:avLst/>
          </a:prstGeom>
          <a:noFill/>
        </p:spPr>
        <p:txBody>
          <a:bodyPr wrap="square" lIns="0" rIns="0" tIns="0" bIns="0" anchor="t">
            <a:spAutoFit/>
          </a:bodyPr>
          <a:lstStyle/>
          <a:p>
            <a:pPr algn="l"/>
            <a:r>
              <a:rPr sz="1000" b="0" i="0">
                <a:solidFill>
                  <a:srgbClr val="1F1F1F"/>
                </a:solidFill>
                <a:latin typeface="Aptos"/>
                <a:ea typeface="Yu Gothic"/>
                <a:cs typeface="Aptos"/>
              </a:rPr>
              <a:t>IC（GP常勤+外部メンバー）にて全会一致原則。利益相反は除外手続を明文化。</a:t>
            </a:r>
          </a:p>
        </p:txBody>
      </p:sp>
      <p:sp>
        <p:nvSpPr>
          <p:cNvPr id="42" name="Rectangle 41"/>
          <p:cNvSpPr/>
          <p:nvPr/>
        </p:nvSpPr>
        <p:spPr>
          <a:xfrm>
            <a:off x="4325112" y="4325112"/>
            <a:ext cx="3657600" cy="1417320"/>
          </a:xfrm>
          <a:prstGeom prst="rect">
            <a:avLst/>
          </a:prstGeom>
          <a:solidFill>
            <a:srgbClr val="FFFFFF"/>
          </a:solidFill>
          <a:ln w="6350">
            <a:solidFill>
              <a:srgbClr val="CF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325112" y="4325112"/>
            <a:ext cx="91440" cy="1417320"/>
          </a:xfrm>
          <a:prstGeom prst="rect">
            <a:avLst/>
          </a:prstGeom>
          <a:solidFill>
            <a:srgbClr val="5FA8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53712" y="4434840"/>
            <a:ext cx="3291840" cy="274320"/>
          </a:xfrm>
          <a:prstGeom prst="rect">
            <a:avLst/>
          </a:prstGeom>
          <a:noFill/>
        </p:spPr>
        <p:txBody>
          <a:bodyPr wrap="square" lIns="0" rIns="0" tIns="0" bIns="0" anchor="t">
            <a:spAutoFit/>
          </a:bodyPr>
          <a:lstStyle/>
          <a:p>
            <a:pPr algn="l"/>
            <a:r>
              <a:rPr sz="950" b="1" i="0" spc="200">
                <a:solidFill>
                  <a:srgbClr val="0F2747"/>
                </a:solidFill>
                <a:latin typeface="Aptos"/>
                <a:ea typeface="Yu Gothic"/>
                <a:cs typeface="Aptos"/>
              </a:rPr>
              <a:t>05  EXECUTION</a:t>
            </a:r>
          </a:p>
        </p:txBody>
      </p:sp>
      <p:sp>
        <p:nvSpPr>
          <p:cNvPr id="45" name="TextBox 44"/>
          <p:cNvSpPr txBox="1"/>
          <p:nvPr/>
        </p:nvSpPr>
        <p:spPr>
          <a:xfrm>
            <a:off x="4553712" y="4709160"/>
            <a:ext cx="3291840" cy="914400"/>
          </a:xfrm>
          <a:prstGeom prst="rect">
            <a:avLst/>
          </a:prstGeom>
          <a:noFill/>
        </p:spPr>
        <p:txBody>
          <a:bodyPr wrap="square" lIns="0" rIns="0" tIns="0" bIns="0" anchor="t">
            <a:spAutoFit/>
          </a:bodyPr>
          <a:lstStyle/>
          <a:p>
            <a:pPr algn="l"/>
            <a:r>
              <a:rPr sz="1000" b="0" i="0">
                <a:solidFill>
                  <a:srgbClr val="1F1F1F"/>
                </a:solidFill>
                <a:latin typeface="Aptos"/>
                <a:ea typeface="Yu Gothic"/>
                <a:cs typeface="Aptos"/>
              </a:rPr>
              <a:t>投資契約・株主間契約・Term Sheetを標準化。取締役席・情報権を確保。</a:t>
            </a:r>
          </a:p>
        </p:txBody>
      </p:sp>
      <p:sp>
        <p:nvSpPr>
          <p:cNvPr id="46" name="Rectangle 45"/>
          <p:cNvSpPr/>
          <p:nvPr/>
        </p:nvSpPr>
        <p:spPr>
          <a:xfrm>
            <a:off x="8101583" y="4325112"/>
            <a:ext cx="3657600" cy="1417320"/>
          </a:xfrm>
          <a:prstGeom prst="rect">
            <a:avLst/>
          </a:prstGeom>
          <a:solidFill>
            <a:srgbClr val="FFFFFF"/>
          </a:solidFill>
          <a:ln w="6350">
            <a:solidFill>
              <a:srgbClr val="CF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101583" y="4325112"/>
            <a:ext cx="91440" cy="1417320"/>
          </a:xfrm>
          <a:prstGeom prst="rect">
            <a:avLst/>
          </a:prstGeom>
          <a:solidFill>
            <a:srgbClr val="5FA8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330183" y="4434840"/>
            <a:ext cx="3291840" cy="274320"/>
          </a:xfrm>
          <a:prstGeom prst="rect">
            <a:avLst/>
          </a:prstGeom>
          <a:noFill/>
        </p:spPr>
        <p:txBody>
          <a:bodyPr wrap="square" lIns="0" rIns="0" tIns="0" bIns="0" anchor="t">
            <a:spAutoFit/>
          </a:bodyPr>
          <a:lstStyle/>
          <a:p>
            <a:pPr algn="l"/>
            <a:r>
              <a:rPr sz="950" b="1" i="0" spc="200">
                <a:solidFill>
                  <a:srgbClr val="0F2747"/>
                </a:solidFill>
                <a:latin typeface="Aptos"/>
                <a:ea typeface="Yu Gothic"/>
                <a:cs typeface="Aptos"/>
              </a:rPr>
              <a:t>06  MONITORING</a:t>
            </a:r>
          </a:p>
        </p:txBody>
      </p:sp>
      <p:sp>
        <p:nvSpPr>
          <p:cNvPr id="49" name="TextBox 48"/>
          <p:cNvSpPr txBox="1"/>
          <p:nvPr/>
        </p:nvSpPr>
        <p:spPr>
          <a:xfrm>
            <a:off x="8330183" y="4709160"/>
            <a:ext cx="3291840" cy="914400"/>
          </a:xfrm>
          <a:prstGeom prst="rect">
            <a:avLst/>
          </a:prstGeom>
          <a:noFill/>
        </p:spPr>
        <p:txBody>
          <a:bodyPr wrap="square" lIns="0" rIns="0" tIns="0" bIns="0" anchor="t">
            <a:spAutoFit/>
          </a:bodyPr>
          <a:lstStyle/>
          <a:p>
            <a:pPr algn="l"/>
            <a:r>
              <a:rPr sz="1000" b="0" i="0">
                <a:solidFill>
                  <a:srgbClr val="1F1F1F"/>
                </a:solidFill>
                <a:latin typeface="Aptos"/>
                <a:ea typeface="Yu Gothic"/>
                <a:cs typeface="Aptos"/>
              </a:rPr>
              <a:t>月次レポーティング、四半期取締役会、Value Creation Planの進捗管理、出口設計。</a:t>
            </a:r>
          </a:p>
        </p:txBody>
      </p:sp>
      <p:sp>
        <p:nvSpPr>
          <p:cNvPr id="50" name="TextBox 49"/>
          <p:cNvSpPr txBox="1"/>
          <p:nvPr/>
        </p:nvSpPr>
        <p:spPr>
          <a:xfrm>
            <a:off x="548640" y="6172200"/>
            <a:ext cx="11091672" cy="274320"/>
          </a:xfrm>
          <a:prstGeom prst="rect">
            <a:avLst/>
          </a:prstGeom>
          <a:noFill/>
        </p:spPr>
        <p:txBody>
          <a:bodyPr wrap="square" lIns="0" rIns="0" tIns="0" bIns="0" anchor="t">
            <a:spAutoFit/>
          </a:bodyPr>
          <a:lstStyle/>
          <a:p>
            <a:pPr algn="l"/>
            <a:r>
              <a:rPr sz="850" b="0" i="1">
                <a:solidFill>
                  <a:srgbClr val="6E7783"/>
                </a:solidFill>
                <a:latin typeface="Aptos"/>
                <a:ea typeface="Yu Gothic"/>
                <a:cs typeface="Aptos"/>
              </a:rPr>
              <a:t>Independent valuation policy reviewed annually by external advisers; LP Advisory Committee retains conflict-of-interest authority.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7315200" cy="274320"/>
          </a:xfrm>
          <a:prstGeom prst="rect">
            <a:avLst/>
          </a:prstGeom>
          <a:noFill/>
        </p:spPr>
        <p:txBody>
          <a:bodyPr wrap="square" lIns="0" rIns="0" tIns="0" bIns="0" anchor="t">
            <a:spAutoFit/>
          </a:bodyPr>
          <a:lstStyle/>
          <a:p>
            <a:pPr algn="l"/>
            <a:r>
              <a:rPr sz="900" b="1" i="0" spc="200">
                <a:solidFill>
                  <a:srgbClr val="5FA8D3"/>
                </a:solidFill>
                <a:latin typeface="Aptos"/>
                <a:ea typeface="Yu Gothic"/>
                <a:cs typeface="Aptos"/>
              </a:rPr>
              <a:t>RISK &amp; MITIGANTS</a:t>
            </a:r>
          </a:p>
        </p:txBody>
      </p:sp>
      <p:sp>
        <p:nvSpPr>
          <p:cNvPr id="3" name="TextBox 2"/>
          <p:cNvSpPr txBox="1"/>
          <p:nvPr/>
        </p:nvSpPr>
        <p:spPr>
          <a:xfrm>
            <a:off x="5029200" y="411480"/>
            <a:ext cx="6583680" cy="274320"/>
          </a:xfrm>
          <a:prstGeom prst="rect">
            <a:avLst/>
          </a:prstGeom>
          <a:noFill/>
        </p:spPr>
        <p:txBody>
          <a:bodyPr wrap="square" lIns="0" rIns="0" tIns="0" bIns="0" anchor="t">
            <a:spAutoFit/>
          </a:bodyPr>
          <a:lstStyle/>
          <a:p>
            <a:pPr algn="r"/>
            <a:r>
              <a:rPr sz="850" b="1" i="0" spc="150">
                <a:solidFill>
                  <a:srgbClr val="6E7783"/>
                </a:solidFill>
                <a:latin typeface="Aptos"/>
                <a:ea typeface="Yu Gothic"/>
                <a:cs typeface="Aptos"/>
              </a:rPr>
              <a:t>TOHOKU FRONTIER IMPACT CAPITAL</a:t>
            </a:r>
          </a:p>
        </p:txBody>
      </p:sp>
      <p:sp>
        <p:nvSpPr>
          <p:cNvPr id="4" name="TextBox 3"/>
          <p:cNvSpPr txBox="1"/>
          <p:nvPr/>
        </p:nvSpPr>
        <p:spPr>
          <a:xfrm>
            <a:off x="548640" y="713232"/>
            <a:ext cx="11091672" cy="777240"/>
          </a:xfrm>
          <a:prstGeom prst="rect">
            <a:avLst/>
          </a:prstGeom>
          <a:noFill/>
        </p:spPr>
        <p:txBody>
          <a:bodyPr wrap="square" lIns="0" rIns="0" tIns="0" bIns="0" anchor="t">
            <a:spAutoFit/>
          </a:bodyPr>
          <a:lstStyle/>
          <a:p>
            <a:pPr algn="l"/>
            <a:r>
              <a:rPr sz="2600" b="1" i="0">
                <a:solidFill>
                  <a:srgbClr val="0F2747"/>
                </a:solidFill>
                <a:latin typeface="Aptos"/>
                <a:ea typeface="Yu Gothic"/>
                <a:cs typeface="Aptos"/>
              </a:rPr>
              <a:t>主要リスクと緩和策</a:t>
            </a:r>
          </a:p>
        </p:txBody>
      </p:sp>
      <p:sp>
        <p:nvSpPr>
          <p:cNvPr id="5" name="Rectangle 4"/>
          <p:cNvSpPr/>
          <p:nvPr/>
        </p:nvSpPr>
        <p:spPr>
          <a:xfrm>
            <a:off x="548640" y="1536192"/>
            <a:ext cx="731520" cy="31750"/>
          </a:xfrm>
          <a:prstGeom prst="rect">
            <a:avLst/>
          </a:prstGeom>
          <a:solidFill>
            <a:srgbClr val="5FA8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364224"/>
            <a:ext cx="11091672" cy="10972"/>
          </a:xfrm>
          <a:prstGeom prst="rect">
            <a:avLst/>
          </a:prstGeom>
          <a:solidFill>
            <a:srgbClr val="CF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46520"/>
            <a:ext cx="5486400" cy="274320"/>
          </a:xfrm>
          <a:prstGeom prst="rect">
            <a:avLst/>
          </a:prstGeom>
          <a:noFill/>
        </p:spPr>
        <p:txBody>
          <a:bodyPr wrap="square" lIns="0" rIns="0" tIns="0" bIns="0" anchor="t">
            <a:spAutoFit/>
          </a:bodyPr>
          <a:lstStyle/>
          <a:p>
            <a:pPr algn="l"/>
            <a:r>
              <a:rPr sz="750" b="1" i="0" spc="180">
                <a:solidFill>
                  <a:srgbClr val="6E7783"/>
                </a:solidFill>
                <a:latin typeface="Aptos"/>
                <a:ea typeface="Yu Gothic"/>
                <a:cs typeface="Aptos"/>
              </a:rPr>
              <a:t>STRICTLY PRIVATE &amp; CONFIDENTIAL  |  FOR DISCUSSION PURPOSES ONLY</a:t>
            </a:r>
          </a:p>
        </p:txBody>
      </p:sp>
      <p:sp>
        <p:nvSpPr>
          <p:cNvPr id="8" name="TextBox 7"/>
          <p:cNvSpPr txBox="1"/>
          <p:nvPr/>
        </p:nvSpPr>
        <p:spPr>
          <a:xfrm>
            <a:off x="8229600" y="6446520"/>
            <a:ext cx="3410712" cy="274320"/>
          </a:xfrm>
          <a:prstGeom prst="rect">
            <a:avLst/>
          </a:prstGeom>
          <a:noFill/>
        </p:spPr>
        <p:txBody>
          <a:bodyPr wrap="square" lIns="0" rIns="0" tIns="0" bIns="0" anchor="t">
            <a:spAutoFit/>
          </a:bodyPr>
          <a:lstStyle/>
          <a:p>
            <a:pPr algn="r"/>
            <a:r>
              <a:rPr sz="800" b="1" i="0" spc="120">
                <a:solidFill>
                  <a:srgbClr val="0F2747"/>
                </a:solidFill>
                <a:latin typeface="Aptos"/>
                <a:ea typeface="Yu Gothic"/>
                <a:cs typeface="Aptos"/>
              </a:rPr>
              <a:t>14 / 16</a:t>
            </a:r>
          </a:p>
        </p:txBody>
      </p:sp>
      <p:graphicFrame>
        <p:nvGraphicFramePr>
          <p:cNvPr id="9" name="Table 8"/>
          <p:cNvGraphicFramePr>
            <a:graphicFrameLocks noGrp="1"/>
          </p:cNvGraphicFramePr>
          <p:nvPr/>
        </p:nvGraphicFramePr>
        <p:xfrm>
          <a:off x="548640" y="1828800"/>
          <a:ext cx="11091670" cy="4206240"/>
        </p:xfrm>
        <a:graphic>
          <a:graphicData uri="http://schemas.openxmlformats.org/drawingml/2006/table">
            <a:tbl>
              <a:tblPr firstRow="1" bandRow="1">
                <a:tableStyleId>{5C22544A-7EE6-4342-B048-85BDC9FD1C3A}</a:tableStyleId>
              </a:tblPr>
              <a:tblGrid>
                <a:gridCol w="2566667"/>
                <a:gridCol w="916667"/>
                <a:gridCol w="7608336"/>
              </a:tblGrid>
              <a:tr h="467360">
                <a:tc>
                  <a:txBody>
                    <a:bodyPr lIns="73152" rIns="73152" wrap="square"/>
                    <a:lstStyle/>
                    <a:p>
                      <a:pPr algn="l"/>
                      <a:r>
                        <a:rPr sz="1000" b="1" i="0">
                          <a:solidFill>
                            <a:srgbClr val="FFFFFF"/>
                          </a:solidFill>
                          <a:latin typeface="Aptos"/>
                          <a:ea typeface="Yu Gothic"/>
                          <a:cs typeface="Aptos"/>
                        </a:rPr>
                        <a:t>リスク</a:t>
                      </a:r>
                    </a:p>
                  </a:txBody>
                  <a:tcPr marL="91440" marR="91440" marT="45720" marB="45720">
                    <a:solidFill>
                      <a:srgbClr val="0F2747"/>
                    </a:solidFill>
                  </a:tcPr>
                </a:tc>
                <a:tc>
                  <a:txBody>
                    <a:bodyPr lIns="73152" rIns="73152" wrap="square"/>
                    <a:lstStyle/>
                    <a:p>
                      <a:pPr algn="l"/>
                      <a:r>
                        <a:rPr sz="1000" b="1" i="0">
                          <a:solidFill>
                            <a:srgbClr val="FFFFFF"/>
                          </a:solidFill>
                          <a:latin typeface="Aptos"/>
                          <a:ea typeface="Yu Gothic"/>
                          <a:cs typeface="Aptos"/>
                        </a:rPr>
                        <a:t>性質</a:t>
                      </a:r>
                    </a:p>
                  </a:txBody>
                  <a:tcPr marL="91440" marR="91440" marT="45720" marB="45720">
                    <a:solidFill>
                      <a:srgbClr val="0F2747"/>
                    </a:solidFill>
                  </a:tcPr>
                </a:tc>
                <a:tc>
                  <a:txBody>
                    <a:bodyPr lIns="73152" rIns="73152" wrap="square"/>
                    <a:lstStyle/>
                    <a:p>
                      <a:pPr algn="l"/>
                      <a:r>
                        <a:rPr sz="1000" b="1" i="0">
                          <a:solidFill>
                            <a:srgbClr val="FFFFFF"/>
                          </a:solidFill>
                          <a:latin typeface="Aptos"/>
                          <a:ea typeface="Yu Gothic"/>
                          <a:cs typeface="Aptos"/>
                        </a:rPr>
                        <a:t>緩和策</a:t>
                      </a:r>
                    </a:p>
                  </a:txBody>
                  <a:tcPr marL="91440" marR="91440" marT="45720" marB="45720">
                    <a:solidFill>
                      <a:srgbClr val="0F2747"/>
                    </a:solidFill>
                  </a:tcPr>
                </a:tc>
              </a:tr>
              <a:tr h="467360">
                <a:tc>
                  <a:txBody>
                    <a:bodyPr lIns="73152" rIns="73152" wrap="square"/>
                    <a:lstStyle/>
                    <a:p>
                      <a:pPr algn="l"/>
                      <a:r>
                        <a:rPr sz="1000" b="1" i="0">
                          <a:solidFill>
                            <a:srgbClr val="1F1F1F"/>
                          </a:solidFill>
                          <a:latin typeface="Aptos"/>
                          <a:ea typeface="Yu Gothic"/>
                          <a:cs typeface="Aptos"/>
                        </a:rPr>
                        <a:t>制度・報酬改定リスク</a:t>
                      </a:r>
                    </a:p>
                  </a:txBody>
                  <a:tcPr marL="91440" marR="91440" marT="45720" marB="45720">
                    <a:solidFill>
                      <a:srgbClr val="FFFFFF"/>
                    </a:solidFill>
                  </a:tcPr>
                </a:tc>
                <a:tc>
                  <a:txBody>
                    <a:bodyPr lIns="73152" rIns="73152" wrap="square"/>
                    <a:lstStyle/>
                    <a:p>
                      <a:pPr algn="l"/>
                      <a:r>
                        <a:rPr sz="1000" b="0" i="0">
                          <a:solidFill>
                            <a:srgbClr val="1F1F1F"/>
                          </a:solidFill>
                          <a:latin typeface="Aptos"/>
                          <a:ea typeface="Yu Gothic"/>
                          <a:cs typeface="Aptos"/>
                        </a:rPr>
                        <a:t>高</a:t>
                      </a:r>
                    </a:p>
                  </a:txBody>
                  <a:tcPr marL="91440" marR="91440" marT="45720" marB="45720">
                    <a:solidFill>
                      <a:srgbClr val="FFFFFF"/>
                    </a:solidFill>
                  </a:tcPr>
                </a:tc>
                <a:tc>
                  <a:txBody>
                    <a:bodyPr lIns="73152" rIns="73152" wrap="square"/>
                    <a:lstStyle/>
                    <a:p>
                      <a:pPr algn="l"/>
                      <a:r>
                        <a:rPr sz="1000" b="0" i="0">
                          <a:solidFill>
                            <a:srgbClr val="1F1F1F"/>
                          </a:solidFill>
                          <a:latin typeface="Aptos"/>
                          <a:ea typeface="Yu Gothic"/>
                          <a:cs typeface="Aptos"/>
                        </a:rPr>
                        <a:t>ポートフォリオ分散、制度依存度モニタリング、SaaS等非制度比率の引き上げ支援。</a:t>
                      </a:r>
                    </a:p>
                  </a:txBody>
                  <a:tcPr marL="91440" marR="91440" marT="45720" marB="45720">
                    <a:solidFill>
                      <a:srgbClr val="FFFFFF"/>
                    </a:solidFill>
                  </a:tcPr>
                </a:tc>
              </a:tr>
              <a:tr h="467360">
                <a:tc>
                  <a:txBody>
                    <a:bodyPr lIns="73152" rIns="73152" wrap="square"/>
                    <a:lstStyle/>
                    <a:p>
                      <a:pPr algn="l"/>
                      <a:r>
                        <a:rPr sz="1000" b="1" i="0">
                          <a:solidFill>
                            <a:srgbClr val="1F1F1F"/>
                          </a:solidFill>
                          <a:latin typeface="Aptos"/>
                          <a:ea typeface="Yu Gothic"/>
                          <a:cs typeface="Aptos"/>
                        </a:rPr>
                        <a:t>流動性／出口リスク</a:t>
                      </a:r>
                    </a:p>
                  </a:txBody>
                  <a:tcPr marL="91440" marR="91440" marT="45720" marB="45720">
                    <a:solidFill>
                      <a:srgbClr val="E9EDF2"/>
                    </a:solidFill>
                  </a:tcPr>
                </a:tc>
                <a:tc>
                  <a:txBody>
                    <a:bodyPr lIns="73152" rIns="73152" wrap="square"/>
                    <a:lstStyle/>
                    <a:p>
                      <a:pPr algn="l"/>
                      <a:r>
                        <a:rPr sz="1000" b="0" i="0">
                          <a:solidFill>
                            <a:srgbClr val="1F1F1F"/>
                          </a:solidFill>
                          <a:latin typeface="Aptos"/>
                          <a:ea typeface="Yu Gothic"/>
                          <a:cs typeface="Aptos"/>
                        </a:rPr>
                        <a:t>中〜高</a:t>
                      </a:r>
                    </a:p>
                  </a:txBody>
                  <a:tcPr marL="91440" marR="91440" marT="45720" marB="45720">
                    <a:solidFill>
                      <a:srgbClr val="E9EDF2"/>
                    </a:solidFill>
                  </a:tcPr>
                </a:tc>
                <a:tc>
                  <a:txBody>
                    <a:bodyPr lIns="73152" rIns="73152" wrap="square"/>
                    <a:lstStyle/>
                    <a:p>
                      <a:pPr algn="l"/>
                      <a:r>
                        <a:rPr sz="1000" b="0" i="0">
                          <a:solidFill>
                            <a:srgbClr val="1F1F1F"/>
                          </a:solidFill>
                          <a:latin typeface="Aptos"/>
                          <a:ea typeface="Yu Gothic"/>
                          <a:cs typeface="Aptos"/>
                        </a:rPr>
                        <a:t>TPMステップアップ・上場前M&amp;Aの複線設計、戦略投資家ネットワーク。</a:t>
                      </a:r>
                    </a:p>
                  </a:txBody>
                  <a:tcPr marL="91440" marR="91440" marT="45720" marB="45720">
                    <a:solidFill>
                      <a:srgbClr val="E9EDF2"/>
                    </a:solidFill>
                  </a:tcPr>
                </a:tc>
              </a:tr>
              <a:tr h="467360">
                <a:tc>
                  <a:txBody>
                    <a:bodyPr lIns="73152" rIns="73152" wrap="square"/>
                    <a:lstStyle/>
                    <a:p>
                      <a:pPr algn="l"/>
                      <a:r>
                        <a:rPr sz="1000" b="1" i="0">
                          <a:solidFill>
                            <a:srgbClr val="1F1F1F"/>
                          </a:solidFill>
                          <a:latin typeface="Aptos"/>
                          <a:ea typeface="Yu Gothic"/>
                          <a:cs typeface="Aptos"/>
                        </a:rPr>
                        <a:t>集中リスク（地理）</a:t>
                      </a:r>
                    </a:p>
                  </a:txBody>
                  <a:tcPr marL="91440" marR="91440" marT="45720" marB="45720">
                    <a:solidFill>
                      <a:srgbClr val="FFFFFF"/>
                    </a:solidFill>
                  </a:tcPr>
                </a:tc>
                <a:tc>
                  <a:txBody>
                    <a:bodyPr lIns="73152" rIns="73152" wrap="square"/>
                    <a:lstStyle/>
                    <a:p>
                      <a:pPr algn="l"/>
                      <a:r>
                        <a:rPr sz="1000" b="0" i="0">
                          <a:solidFill>
                            <a:srgbClr val="1F1F1F"/>
                          </a:solidFill>
                          <a:latin typeface="Aptos"/>
                          <a:ea typeface="Yu Gothic"/>
                          <a:cs typeface="Aptos"/>
                        </a:rPr>
                        <a:t>中</a:t>
                      </a:r>
                    </a:p>
                  </a:txBody>
                  <a:tcPr marL="91440" marR="91440" marT="45720" marB="45720">
                    <a:solidFill>
                      <a:srgbClr val="FFFFFF"/>
                    </a:solidFill>
                  </a:tcPr>
                </a:tc>
                <a:tc>
                  <a:txBody>
                    <a:bodyPr lIns="73152" rIns="73152" wrap="square"/>
                    <a:lstStyle/>
                    <a:p>
                      <a:pPr algn="l"/>
                      <a:r>
                        <a:rPr sz="1000" b="0" i="0">
                          <a:solidFill>
                            <a:srgbClr val="1F1F1F"/>
                          </a:solidFill>
                          <a:latin typeface="Aptos"/>
                          <a:ea typeface="Yu Gothic"/>
                          <a:cs typeface="Aptos"/>
                        </a:rPr>
                        <a:t>東北6県内の地理・テーマ・ステージ分散、ポジションサイジング上限。</a:t>
                      </a:r>
                    </a:p>
                  </a:txBody>
                  <a:tcPr marL="91440" marR="91440" marT="45720" marB="45720">
                    <a:solidFill>
                      <a:srgbClr val="FFFFFF"/>
                    </a:solidFill>
                  </a:tcPr>
                </a:tc>
              </a:tr>
              <a:tr h="467360">
                <a:tc>
                  <a:txBody>
                    <a:bodyPr lIns="73152" rIns="73152" wrap="square"/>
                    <a:lstStyle/>
                    <a:p>
                      <a:pPr algn="l"/>
                      <a:r>
                        <a:rPr sz="1000" b="1" i="0">
                          <a:solidFill>
                            <a:srgbClr val="1F1F1F"/>
                          </a:solidFill>
                          <a:latin typeface="Aptos"/>
                          <a:ea typeface="Yu Gothic"/>
                          <a:cs typeface="Aptos"/>
                        </a:rPr>
                        <a:t>創業者集中／ガバナンス</a:t>
                      </a:r>
                    </a:p>
                  </a:txBody>
                  <a:tcPr marL="91440" marR="91440" marT="45720" marB="45720">
                    <a:solidFill>
                      <a:srgbClr val="E9EDF2"/>
                    </a:solidFill>
                  </a:tcPr>
                </a:tc>
                <a:tc>
                  <a:txBody>
                    <a:bodyPr lIns="73152" rIns="73152" wrap="square"/>
                    <a:lstStyle/>
                    <a:p>
                      <a:pPr algn="l"/>
                      <a:r>
                        <a:rPr sz="1000" b="0" i="0">
                          <a:solidFill>
                            <a:srgbClr val="1F1F1F"/>
                          </a:solidFill>
                          <a:latin typeface="Aptos"/>
                          <a:ea typeface="Yu Gothic"/>
                          <a:cs typeface="Aptos"/>
                        </a:rPr>
                        <a:t>中</a:t>
                      </a:r>
                    </a:p>
                  </a:txBody>
                  <a:tcPr marL="91440" marR="91440" marT="45720" marB="45720">
                    <a:solidFill>
                      <a:srgbClr val="E9EDF2"/>
                    </a:solidFill>
                  </a:tcPr>
                </a:tc>
                <a:tc>
                  <a:txBody>
                    <a:bodyPr lIns="73152" rIns="73152" wrap="square"/>
                    <a:lstStyle/>
                    <a:p>
                      <a:pPr algn="l"/>
                      <a:r>
                        <a:rPr sz="1000" b="0" i="0">
                          <a:solidFill>
                            <a:srgbClr val="1F1F1F"/>
                          </a:solidFill>
                          <a:latin typeface="Aptos"/>
                          <a:ea typeface="Yu Gothic"/>
                          <a:cs typeface="Aptos"/>
                        </a:rPr>
                        <a:t>標準化したガバナンス契約、独立社外取締役、Key Person条項。</a:t>
                      </a:r>
                    </a:p>
                  </a:txBody>
                  <a:tcPr marL="91440" marR="91440" marT="45720" marB="45720">
                    <a:solidFill>
                      <a:srgbClr val="E9EDF2"/>
                    </a:solidFill>
                  </a:tcPr>
                </a:tc>
              </a:tr>
              <a:tr h="467360">
                <a:tc>
                  <a:txBody>
                    <a:bodyPr lIns="73152" rIns="73152" wrap="square"/>
                    <a:lstStyle/>
                    <a:p>
                      <a:pPr algn="l"/>
                      <a:r>
                        <a:rPr sz="1000" b="1" i="0">
                          <a:solidFill>
                            <a:srgbClr val="1F1F1F"/>
                          </a:solidFill>
                          <a:latin typeface="Aptos"/>
                          <a:ea typeface="Yu Gothic"/>
                          <a:cs typeface="Aptos"/>
                        </a:rPr>
                        <a:t>人材確保（福祉・医療等）</a:t>
                      </a:r>
                    </a:p>
                  </a:txBody>
                  <a:tcPr marL="91440" marR="91440" marT="45720" marB="45720">
                    <a:solidFill>
                      <a:srgbClr val="FFFFFF"/>
                    </a:solidFill>
                  </a:tcPr>
                </a:tc>
                <a:tc>
                  <a:txBody>
                    <a:bodyPr lIns="73152" rIns="73152" wrap="square"/>
                    <a:lstStyle/>
                    <a:p>
                      <a:pPr algn="l"/>
                      <a:r>
                        <a:rPr sz="1000" b="0" i="0">
                          <a:solidFill>
                            <a:srgbClr val="1F1F1F"/>
                          </a:solidFill>
                          <a:latin typeface="Aptos"/>
                          <a:ea typeface="Yu Gothic"/>
                          <a:cs typeface="Aptos"/>
                        </a:rPr>
                        <a:t>中〜高</a:t>
                      </a:r>
                    </a:p>
                  </a:txBody>
                  <a:tcPr marL="91440" marR="91440" marT="45720" marB="45720">
                    <a:solidFill>
                      <a:srgbClr val="FFFFFF"/>
                    </a:solidFill>
                  </a:tcPr>
                </a:tc>
                <a:tc>
                  <a:txBody>
                    <a:bodyPr lIns="73152" rIns="73152" wrap="square"/>
                    <a:lstStyle/>
                    <a:p>
                      <a:pPr algn="l"/>
                      <a:r>
                        <a:rPr sz="1000" b="0" i="0">
                          <a:solidFill>
                            <a:srgbClr val="1F1F1F"/>
                          </a:solidFill>
                          <a:latin typeface="Aptos"/>
                          <a:ea typeface="Yu Gothic"/>
                          <a:cs typeface="Aptos"/>
                        </a:rPr>
                        <a:t>業界経験のあるOperating Partner、HRBP支援、採用ファンド機能。</a:t>
                      </a:r>
                    </a:p>
                  </a:txBody>
                  <a:tcPr marL="91440" marR="91440" marT="45720" marB="45720">
                    <a:solidFill>
                      <a:srgbClr val="FFFFFF"/>
                    </a:solidFill>
                  </a:tcPr>
                </a:tc>
              </a:tr>
              <a:tr h="467360">
                <a:tc>
                  <a:txBody>
                    <a:bodyPr lIns="73152" rIns="73152" wrap="square"/>
                    <a:lstStyle/>
                    <a:p>
                      <a:pPr algn="l"/>
                      <a:r>
                        <a:rPr sz="1000" b="1" i="0">
                          <a:solidFill>
                            <a:srgbClr val="1F1F1F"/>
                          </a:solidFill>
                          <a:latin typeface="Aptos"/>
                          <a:ea typeface="Yu Gothic"/>
                          <a:cs typeface="Aptos"/>
                        </a:rPr>
                        <a:t>マクロ・災害（地震／気候）</a:t>
                      </a:r>
                    </a:p>
                  </a:txBody>
                  <a:tcPr marL="91440" marR="91440" marT="45720" marB="45720">
                    <a:solidFill>
                      <a:srgbClr val="E9EDF2"/>
                    </a:solidFill>
                  </a:tcPr>
                </a:tc>
                <a:tc>
                  <a:txBody>
                    <a:bodyPr lIns="73152" rIns="73152" wrap="square"/>
                    <a:lstStyle/>
                    <a:p>
                      <a:pPr algn="l"/>
                      <a:r>
                        <a:rPr sz="1000" b="0" i="0">
                          <a:solidFill>
                            <a:srgbClr val="1F1F1F"/>
                          </a:solidFill>
                          <a:latin typeface="Aptos"/>
                          <a:ea typeface="Yu Gothic"/>
                          <a:cs typeface="Aptos"/>
                        </a:rPr>
                        <a:t>中</a:t>
                      </a:r>
                    </a:p>
                  </a:txBody>
                  <a:tcPr marL="91440" marR="91440" marT="45720" marB="45720">
                    <a:solidFill>
                      <a:srgbClr val="E9EDF2"/>
                    </a:solidFill>
                  </a:tcPr>
                </a:tc>
                <a:tc>
                  <a:txBody>
                    <a:bodyPr lIns="73152" rIns="73152" wrap="square"/>
                    <a:lstStyle/>
                    <a:p>
                      <a:pPr algn="l"/>
                      <a:r>
                        <a:rPr sz="1000" b="0" i="0">
                          <a:solidFill>
                            <a:srgbClr val="1F1F1F"/>
                          </a:solidFill>
                          <a:latin typeface="Aptos"/>
                          <a:ea typeface="Yu Gothic"/>
                          <a:cs typeface="Aptos"/>
                        </a:rPr>
                        <a:t>BCP策定支援、地理分散、保険・公的支援との連携。</a:t>
                      </a:r>
                    </a:p>
                  </a:txBody>
                  <a:tcPr marL="91440" marR="91440" marT="45720" marB="45720">
                    <a:solidFill>
                      <a:srgbClr val="E9EDF2"/>
                    </a:solidFill>
                  </a:tcPr>
                </a:tc>
              </a:tr>
              <a:tr h="467360">
                <a:tc>
                  <a:txBody>
                    <a:bodyPr lIns="73152" rIns="73152" wrap="square"/>
                    <a:lstStyle/>
                    <a:p>
                      <a:pPr algn="l"/>
                      <a:r>
                        <a:rPr sz="1000" b="1" i="0">
                          <a:solidFill>
                            <a:srgbClr val="1F1F1F"/>
                          </a:solidFill>
                          <a:latin typeface="Aptos"/>
                          <a:ea typeface="Yu Gothic"/>
                          <a:cs typeface="Aptos"/>
                        </a:rPr>
                        <a:t>インパクト・ウォッシュ</a:t>
                      </a:r>
                    </a:p>
                  </a:txBody>
                  <a:tcPr marL="91440" marR="91440" marT="45720" marB="45720">
                    <a:solidFill>
                      <a:srgbClr val="FFFFFF"/>
                    </a:solidFill>
                  </a:tcPr>
                </a:tc>
                <a:tc>
                  <a:txBody>
                    <a:bodyPr lIns="73152" rIns="73152" wrap="square"/>
                    <a:lstStyle/>
                    <a:p>
                      <a:pPr algn="l"/>
                      <a:r>
                        <a:rPr sz="1000" b="0" i="0">
                          <a:solidFill>
                            <a:srgbClr val="1F1F1F"/>
                          </a:solidFill>
                          <a:latin typeface="Aptos"/>
                          <a:ea typeface="Yu Gothic"/>
                          <a:cs typeface="Aptos"/>
                        </a:rPr>
                        <a:t>中</a:t>
                      </a:r>
                    </a:p>
                  </a:txBody>
                  <a:tcPr marL="91440" marR="91440" marT="45720" marB="45720">
                    <a:solidFill>
                      <a:srgbClr val="FFFFFF"/>
                    </a:solidFill>
                  </a:tcPr>
                </a:tc>
                <a:tc>
                  <a:txBody>
                    <a:bodyPr lIns="73152" rIns="73152" wrap="square"/>
                    <a:lstStyle/>
                    <a:p>
                      <a:pPr algn="l"/>
                      <a:r>
                        <a:rPr sz="1000" b="0" i="0">
                          <a:solidFill>
                            <a:srgbClr val="1F1F1F"/>
                          </a:solidFill>
                          <a:latin typeface="Aptos"/>
                          <a:ea typeface="Yu Gothic"/>
                          <a:cs typeface="Aptos"/>
                        </a:rPr>
                        <a:t>IMP/SDGsマッピング＋第三者検証、KPIの事前合意とExit時の検証。</a:t>
                      </a:r>
                    </a:p>
                  </a:txBody>
                  <a:tcPr marL="91440" marR="91440" marT="45720" marB="45720">
                    <a:solidFill>
                      <a:srgbClr val="FFFFFF"/>
                    </a:solidFill>
                  </a:tcPr>
                </a:tc>
              </a:tr>
              <a:tr h="467360">
                <a:tc>
                  <a:txBody>
                    <a:bodyPr lIns="73152" rIns="73152" wrap="square"/>
                    <a:lstStyle/>
                    <a:p>
                      <a:pPr algn="l"/>
                      <a:r>
                        <a:rPr sz="1000" b="1" i="0">
                          <a:solidFill>
                            <a:srgbClr val="1F1F1F"/>
                          </a:solidFill>
                          <a:latin typeface="Aptos"/>
                          <a:ea typeface="Yu Gothic"/>
                          <a:cs typeface="Aptos"/>
                        </a:rPr>
                        <a:t>為替・金利</a:t>
                      </a:r>
                    </a:p>
                  </a:txBody>
                  <a:tcPr marL="91440" marR="91440" marT="45720" marB="45720">
                    <a:solidFill>
                      <a:srgbClr val="E9EDF2"/>
                    </a:solidFill>
                  </a:tcPr>
                </a:tc>
                <a:tc>
                  <a:txBody>
                    <a:bodyPr lIns="73152" rIns="73152" wrap="square"/>
                    <a:lstStyle/>
                    <a:p>
                      <a:pPr algn="l"/>
                      <a:r>
                        <a:rPr sz="1000" b="0" i="0">
                          <a:solidFill>
                            <a:srgbClr val="1F1F1F"/>
                          </a:solidFill>
                          <a:latin typeface="Aptos"/>
                          <a:ea typeface="Yu Gothic"/>
                          <a:cs typeface="Aptos"/>
                        </a:rPr>
                        <a:t>低〜中</a:t>
                      </a:r>
                    </a:p>
                  </a:txBody>
                  <a:tcPr marL="91440" marR="91440" marT="45720" marB="45720">
                    <a:solidFill>
                      <a:srgbClr val="E9EDF2"/>
                    </a:solidFill>
                  </a:tcPr>
                </a:tc>
                <a:tc>
                  <a:txBody>
                    <a:bodyPr lIns="73152" rIns="73152" wrap="square"/>
                    <a:lstStyle/>
                    <a:p>
                      <a:pPr algn="l"/>
                      <a:r>
                        <a:rPr sz="1000" b="0" i="0">
                          <a:solidFill>
                            <a:srgbClr val="1F1F1F"/>
                          </a:solidFill>
                          <a:latin typeface="Aptos"/>
                          <a:ea typeface="Yu Gothic"/>
                          <a:cs typeface="Aptos"/>
                        </a:rPr>
                        <a:t>国内中心の事業構造を選好、デット併用案件での金利感応度評価。</a:t>
                      </a:r>
                    </a:p>
                  </a:txBody>
                  <a:tcPr marL="91440" marR="91440" marT="45720" marB="45720">
                    <a:solidFill>
                      <a:srgbClr val="E9EDF2"/>
                    </a:solidFill>
                  </a:tcPr>
                </a:tc>
              </a:tr>
            </a:tbl>
          </a:graphicData>
        </a:graphic>
      </p:graphicFrame>
      <p:sp>
        <p:nvSpPr>
          <p:cNvPr id="10" name="TextBox 9"/>
          <p:cNvSpPr txBox="1"/>
          <p:nvPr/>
        </p:nvSpPr>
        <p:spPr>
          <a:xfrm>
            <a:off x="548640" y="6217920"/>
            <a:ext cx="11091672" cy="274320"/>
          </a:xfrm>
          <a:prstGeom prst="rect">
            <a:avLst/>
          </a:prstGeom>
          <a:noFill/>
        </p:spPr>
        <p:txBody>
          <a:bodyPr wrap="square" lIns="0" rIns="0" tIns="0" bIns="0" anchor="t">
            <a:spAutoFit/>
          </a:bodyPr>
          <a:lstStyle/>
          <a:p>
            <a:pPr algn="l"/>
            <a:r>
              <a:rPr sz="850" b="0" i="1">
                <a:solidFill>
                  <a:srgbClr val="6E7783"/>
                </a:solidFill>
                <a:latin typeface="Aptos"/>
                <a:ea typeface="Yu Gothic"/>
                <a:cs typeface="Aptos"/>
              </a:rPr>
              <a:t>上記は代表的リスクを示し、網羅性を保証するものではありません。投資判断にあたっては私募メモランダム本文をご参照ください。</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7315200" cy="274320"/>
          </a:xfrm>
          <a:prstGeom prst="rect">
            <a:avLst/>
          </a:prstGeom>
          <a:noFill/>
        </p:spPr>
        <p:txBody>
          <a:bodyPr wrap="square" lIns="0" rIns="0" tIns="0" bIns="0" anchor="t">
            <a:spAutoFit/>
          </a:bodyPr>
          <a:lstStyle/>
          <a:p>
            <a:pPr algn="l"/>
            <a:r>
              <a:rPr sz="900" b="1" i="0" spc="200">
                <a:solidFill>
                  <a:srgbClr val="5FA8D3"/>
                </a:solidFill>
                <a:latin typeface="Aptos"/>
                <a:ea typeface="Yu Gothic"/>
                <a:cs typeface="Aptos"/>
              </a:rPr>
              <a:t>TIMELINE</a:t>
            </a:r>
          </a:p>
        </p:txBody>
      </p:sp>
      <p:sp>
        <p:nvSpPr>
          <p:cNvPr id="3" name="TextBox 2"/>
          <p:cNvSpPr txBox="1"/>
          <p:nvPr/>
        </p:nvSpPr>
        <p:spPr>
          <a:xfrm>
            <a:off x="5029200" y="411480"/>
            <a:ext cx="6583680" cy="274320"/>
          </a:xfrm>
          <a:prstGeom prst="rect">
            <a:avLst/>
          </a:prstGeom>
          <a:noFill/>
        </p:spPr>
        <p:txBody>
          <a:bodyPr wrap="square" lIns="0" rIns="0" tIns="0" bIns="0" anchor="t">
            <a:spAutoFit/>
          </a:bodyPr>
          <a:lstStyle/>
          <a:p>
            <a:pPr algn="r"/>
            <a:r>
              <a:rPr sz="850" b="1" i="0" spc="150">
                <a:solidFill>
                  <a:srgbClr val="6E7783"/>
                </a:solidFill>
                <a:latin typeface="Aptos"/>
                <a:ea typeface="Yu Gothic"/>
                <a:cs typeface="Aptos"/>
              </a:rPr>
              <a:t>TOHOKU FRONTIER IMPACT CAPITAL</a:t>
            </a:r>
          </a:p>
        </p:txBody>
      </p:sp>
      <p:sp>
        <p:nvSpPr>
          <p:cNvPr id="4" name="TextBox 3"/>
          <p:cNvSpPr txBox="1"/>
          <p:nvPr/>
        </p:nvSpPr>
        <p:spPr>
          <a:xfrm>
            <a:off x="548640" y="713232"/>
            <a:ext cx="11091672" cy="777240"/>
          </a:xfrm>
          <a:prstGeom prst="rect">
            <a:avLst/>
          </a:prstGeom>
          <a:noFill/>
        </p:spPr>
        <p:txBody>
          <a:bodyPr wrap="square" lIns="0" rIns="0" tIns="0" bIns="0" anchor="t">
            <a:spAutoFit/>
          </a:bodyPr>
          <a:lstStyle/>
          <a:p>
            <a:pPr algn="l"/>
            <a:r>
              <a:rPr sz="2600" b="1" i="0">
                <a:solidFill>
                  <a:srgbClr val="0F2747"/>
                </a:solidFill>
                <a:latin typeface="Aptos"/>
                <a:ea typeface="Yu Gothic"/>
                <a:cs typeface="Aptos"/>
              </a:rPr>
              <a:t>募集・運用スケジュール</a:t>
            </a:r>
          </a:p>
        </p:txBody>
      </p:sp>
      <p:sp>
        <p:nvSpPr>
          <p:cNvPr id="5" name="Rectangle 4"/>
          <p:cNvSpPr/>
          <p:nvPr/>
        </p:nvSpPr>
        <p:spPr>
          <a:xfrm>
            <a:off x="548640" y="1536192"/>
            <a:ext cx="731520" cy="31750"/>
          </a:xfrm>
          <a:prstGeom prst="rect">
            <a:avLst/>
          </a:prstGeom>
          <a:solidFill>
            <a:srgbClr val="5FA8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364224"/>
            <a:ext cx="11091672" cy="10972"/>
          </a:xfrm>
          <a:prstGeom prst="rect">
            <a:avLst/>
          </a:prstGeom>
          <a:solidFill>
            <a:srgbClr val="CF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46520"/>
            <a:ext cx="5486400" cy="274320"/>
          </a:xfrm>
          <a:prstGeom prst="rect">
            <a:avLst/>
          </a:prstGeom>
          <a:noFill/>
        </p:spPr>
        <p:txBody>
          <a:bodyPr wrap="square" lIns="0" rIns="0" tIns="0" bIns="0" anchor="t">
            <a:spAutoFit/>
          </a:bodyPr>
          <a:lstStyle/>
          <a:p>
            <a:pPr algn="l"/>
            <a:r>
              <a:rPr sz="750" b="1" i="0" spc="180">
                <a:solidFill>
                  <a:srgbClr val="6E7783"/>
                </a:solidFill>
                <a:latin typeface="Aptos"/>
                <a:ea typeface="Yu Gothic"/>
                <a:cs typeface="Aptos"/>
              </a:rPr>
              <a:t>STRICTLY PRIVATE &amp; CONFIDENTIAL  |  FOR DISCUSSION PURPOSES ONLY</a:t>
            </a:r>
          </a:p>
        </p:txBody>
      </p:sp>
      <p:sp>
        <p:nvSpPr>
          <p:cNvPr id="8" name="TextBox 7"/>
          <p:cNvSpPr txBox="1"/>
          <p:nvPr/>
        </p:nvSpPr>
        <p:spPr>
          <a:xfrm>
            <a:off x="8229600" y="6446520"/>
            <a:ext cx="3410712" cy="274320"/>
          </a:xfrm>
          <a:prstGeom prst="rect">
            <a:avLst/>
          </a:prstGeom>
          <a:noFill/>
        </p:spPr>
        <p:txBody>
          <a:bodyPr wrap="square" lIns="0" rIns="0" tIns="0" bIns="0" anchor="t">
            <a:spAutoFit/>
          </a:bodyPr>
          <a:lstStyle/>
          <a:p>
            <a:pPr algn="r"/>
            <a:r>
              <a:rPr sz="800" b="1" i="0" spc="120">
                <a:solidFill>
                  <a:srgbClr val="0F2747"/>
                </a:solidFill>
                <a:latin typeface="Aptos"/>
                <a:ea typeface="Yu Gothic"/>
                <a:cs typeface="Aptos"/>
              </a:rPr>
              <a:t>15 / 16</a:t>
            </a:r>
          </a:p>
        </p:txBody>
      </p:sp>
      <p:sp>
        <p:nvSpPr>
          <p:cNvPr id="9" name="Rectangle 8"/>
          <p:cNvSpPr/>
          <p:nvPr/>
        </p:nvSpPr>
        <p:spPr>
          <a:xfrm>
            <a:off x="731520" y="2926080"/>
            <a:ext cx="10698480" cy="31750"/>
          </a:xfrm>
          <a:prstGeom prst="rect">
            <a:avLst/>
          </a:prstGeom>
          <a:solidFill>
            <a:srgbClr val="0F27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94944" y="2834640"/>
            <a:ext cx="73152" cy="228600"/>
          </a:xfrm>
          <a:prstGeom prst="rect">
            <a:avLst/>
          </a:prstGeom>
          <a:solidFill>
            <a:srgbClr val="5FA8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82879" y="3154680"/>
            <a:ext cx="1828800" cy="274320"/>
          </a:xfrm>
          <a:prstGeom prst="rect">
            <a:avLst/>
          </a:prstGeom>
          <a:noFill/>
        </p:spPr>
        <p:txBody>
          <a:bodyPr wrap="square" lIns="0" rIns="0" tIns="0" bIns="0" anchor="t">
            <a:spAutoFit/>
          </a:bodyPr>
          <a:lstStyle/>
          <a:p>
            <a:pPr algn="ctr"/>
            <a:r>
              <a:rPr sz="1050" b="1" i="0" spc="120">
                <a:solidFill>
                  <a:srgbClr val="0F2747"/>
                </a:solidFill>
                <a:latin typeface="Aptos"/>
                <a:ea typeface="Yu Gothic"/>
                <a:cs typeface="Aptos"/>
              </a:rPr>
              <a:t>Q1 2026</a:t>
            </a:r>
          </a:p>
        </p:txBody>
      </p:sp>
      <p:sp>
        <p:nvSpPr>
          <p:cNvPr id="12" name="TextBox 11"/>
          <p:cNvSpPr txBox="1"/>
          <p:nvPr/>
        </p:nvSpPr>
        <p:spPr>
          <a:xfrm>
            <a:off x="-182879" y="3474720"/>
            <a:ext cx="1828800" cy="914400"/>
          </a:xfrm>
          <a:prstGeom prst="rect">
            <a:avLst/>
          </a:prstGeom>
          <a:noFill/>
        </p:spPr>
        <p:txBody>
          <a:bodyPr wrap="square" lIns="0" rIns="0" tIns="0" bIns="0" anchor="t">
            <a:spAutoFit/>
          </a:bodyPr>
          <a:lstStyle/>
          <a:p>
            <a:pPr algn="ctr"/>
            <a:r>
              <a:rPr sz="1000" b="0" i="0">
                <a:solidFill>
                  <a:srgbClr val="1F1F1F"/>
                </a:solidFill>
                <a:latin typeface="Aptos"/>
                <a:ea typeface="Yu Gothic"/>
                <a:cs typeface="Aptos"/>
              </a:rPr>
              <a:t>Pre-marketing</a:t>
            </a:r>
          </a:p>
        </p:txBody>
      </p:sp>
      <p:sp>
        <p:nvSpPr>
          <p:cNvPr id="13" name="Rectangle 12"/>
          <p:cNvSpPr/>
          <p:nvPr/>
        </p:nvSpPr>
        <p:spPr>
          <a:xfrm>
            <a:off x="2834639" y="2834640"/>
            <a:ext cx="73152" cy="228600"/>
          </a:xfrm>
          <a:prstGeom prst="rect">
            <a:avLst/>
          </a:prstGeom>
          <a:solidFill>
            <a:srgbClr val="5FA8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56815" y="3154680"/>
            <a:ext cx="1828800" cy="274320"/>
          </a:xfrm>
          <a:prstGeom prst="rect">
            <a:avLst/>
          </a:prstGeom>
          <a:noFill/>
        </p:spPr>
        <p:txBody>
          <a:bodyPr wrap="square" lIns="0" rIns="0" tIns="0" bIns="0" anchor="t">
            <a:spAutoFit/>
          </a:bodyPr>
          <a:lstStyle/>
          <a:p>
            <a:pPr algn="ctr"/>
            <a:r>
              <a:rPr sz="1050" b="1" i="0" spc="120">
                <a:solidFill>
                  <a:srgbClr val="0F2747"/>
                </a:solidFill>
                <a:latin typeface="Aptos"/>
                <a:ea typeface="Yu Gothic"/>
                <a:cs typeface="Aptos"/>
              </a:rPr>
              <a:t>Q2 2026</a:t>
            </a:r>
          </a:p>
        </p:txBody>
      </p:sp>
      <p:sp>
        <p:nvSpPr>
          <p:cNvPr id="15" name="TextBox 14"/>
          <p:cNvSpPr txBox="1"/>
          <p:nvPr/>
        </p:nvSpPr>
        <p:spPr>
          <a:xfrm>
            <a:off x="1956815" y="3474720"/>
            <a:ext cx="1828800" cy="914400"/>
          </a:xfrm>
          <a:prstGeom prst="rect">
            <a:avLst/>
          </a:prstGeom>
          <a:noFill/>
        </p:spPr>
        <p:txBody>
          <a:bodyPr wrap="square" lIns="0" rIns="0" tIns="0" bIns="0" anchor="t">
            <a:spAutoFit/>
          </a:bodyPr>
          <a:lstStyle/>
          <a:p>
            <a:pPr algn="ctr"/>
            <a:r>
              <a:rPr sz="1000" b="0" i="0">
                <a:solidFill>
                  <a:srgbClr val="1F1F1F"/>
                </a:solidFill>
                <a:latin typeface="Aptos"/>
                <a:ea typeface="Yu Gothic"/>
                <a:cs typeface="Aptos"/>
              </a:rPr>
              <a:t>First Close（¥10 BN）</a:t>
            </a:r>
          </a:p>
        </p:txBody>
      </p:sp>
      <p:sp>
        <p:nvSpPr>
          <p:cNvPr id="16" name="Rectangle 15"/>
          <p:cNvSpPr/>
          <p:nvPr/>
        </p:nvSpPr>
        <p:spPr>
          <a:xfrm>
            <a:off x="4974336" y="2834640"/>
            <a:ext cx="73152" cy="228600"/>
          </a:xfrm>
          <a:prstGeom prst="rect">
            <a:avLst/>
          </a:prstGeom>
          <a:solidFill>
            <a:srgbClr val="5FA8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6511" y="3154680"/>
            <a:ext cx="1828800" cy="274320"/>
          </a:xfrm>
          <a:prstGeom prst="rect">
            <a:avLst/>
          </a:prstGeom>
          <a:noFill/>
        </p:spPr>
        <p:txBody>
          <a:bodyPr wrap="square" lIns="0" rIns="0" tIns="0" bIns="0" anchor="t">
            <a:spAutoFit/>
          </a:bodyPr>
          <a:lstStyle/>
          <a:p>
            <a:pPr algn="ctr"/>
            <a:r>
              <a:rPr sz="1050" b="1" i="0" spc="120">
                <a:solidFill>
                  <a:srgbClr val="0F2747"/>
                </a:solidFill>
                <a:latin typeface="Aptos"/>
                <a:ea typeface="Yu Gothic"/>
                <a:cs typeface="Aptos"/>
              </a:rPr>
              <a:t>Q4 2026</a:t>
            </a:r>
          </a:p>
        </p:txBody>
      </p:sp>
      <p:sp>
        <p:nvSpPr>
          <p:cNvPr id="18" name="TextBox 17"/>
          <p:cNvSpPr txBox="1"/>
          <p:nvPr/>
        </p:nvSpPr>
        <p:spPr>
          <a:xfrm>
            <a:off x="4096511" y="3474720"/>
            <a:ext cx="1828800" cy="914400"/>
          </a:xfrm>
          <a:prstGeom prst="rect">
            <a:avLst/>
          </a:prstGeom>
          <a:noFill/>
        </p:spPr>
        <p:txBody>
          <a:bodyPr wrap="square" lIns="0" rIns="0" tIns="0" bIns="0" anchor="t">
            <a:spAutoFit/>
          </a:bodyPr>
          <a:lstStyle/>
          <a:p>
            <a:pPr algn="ctr"/>
            <a:r>
              <a:rPr sz="1000" b="0" i="0">
                <a:solidFill>
                  <a:srgbClr val="1F1F1F"/>
                </a:solidFill>
                <a:latin typeface="Aptos"/>
                <a:ea typeface="Yu Gothic"/>
                <a:cs typeface="Aptos"/>
              </a:rPr>
              <a:t>初回投資 / Final Close</a:t>
            </a:r>
          </a:p>
        </p:txBody>
      </p:sp>
      <p:sp>
        <p:nvSpPr>
          <p:cNvPr id="19" name="Rectangle 18"/>
          <p:cNvSpPr/>
          <p:nvPr/>
        </p:nvSpPr>
        <p:spPr>
          <a:xfrm>
            <a:off x="7114031" y="2834640"/>
            <a:ext cx="73152" cy="228600"/>
          </a:xfrm>
          <a:prstGeom prst="rect">
            <a:avLst/>
          </a:prstGeom>
          <a:solidFill>
            <a:srgbClr val="5FA8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36207" y="3154680"/>
            <a:ext cx="1828800" cy="274320"/>
          </a:xfrm>
          <a:prstGeom prst="rect">
            <a:avLst/>
          </a:prstGeom>
          <a:noFill/>
        </p:spPr>
        <p:txBody>
          <a:bodyPr wrap="square" lIns="0" rIns="0" tIns="0" bIns="0" anchor="t">
            <a:spAutoFit/>
          </a:bodyPr>
          <a:lstStyle/>
          <a:p>
            <a:pPr algn="ctr"/>
            <a:r>
              <a:rPr sz="1050" b="1" i="0" spc="120">
                <a:solidFill>
                  <a:srgbClr val="0F2747"/>
                </a:solidFill>
                <a:latin typeface="Aptos"/>
                <a:ea typeface="Yu Gothic"/>
                <a:cs typeface="Aptos"/>
              </a:rPr>
              <a:t>2027–2030</a:t>
            </a:r>
          </a:p>
        </p:txBody>
      </p:sp>
      <p:sp>
        <p:nvSpPr>
          <p:cNvPr id="21" name="TextBox 20"/>
          <p:cNvSpPr txBox="1"/>
          <p:nvPr/>
        </p:nvSpPr>
        <p:spPr>
          <a:xfrm>
            <a:off x="6236207" y="3474720"/>
            <a:ext cx="1828800" cy="914400"/>
          </a:xfrm>
          <a:prstGeom prst="rect">
            <a:avLst/>
          </a:prstGeom>
          <a:noFill/>
        </p:spPr>
        <p:txBody>
          <a:bodyPr wrap="square" lIns="0" rIns="0" tIns="0" bIns="0" anchor="t">
            <a:spAutoFit/>
          </a:bodyPr>
          <a:lstStyle/>
          <a:p>
            <a:pPr algn="ctr"/>
            <a:r>
              <a:rPr sz="1000" b="0" i="0">
                <a:solidFill>
                  <a:srgbClr val="1F1F1F"/>
                </a:solidFill>
                <a:latin typeface="Aptos"/>
                <a:ea typeface="Yu Gothic"/>
                <a:cs typeface="Aptos"/>
              </a:rPr>
              <a:t>投資期間（12–15社）</a:t>
            </a:r>
          </a:p>
        </p:txBody>
      </p:sp>
      <p:sp>
        <p:nvSpPr>
          <p:cNvPr id="22" name="Rectangle 21"/>
          <p:cNvSpPr/>
          <p:nvPr/>
        </p:nvSpPr>
        <p:spPr>
          <a:xfrm>
            <a:off x="9253728" y="2834640"/>
            <a:ext cx="73152" cy="228600"/>
          </a:xfrm>
          <a:prstGeom prst="rect">
            <a:avLst/>
          </a:prstGeom>
          <a:solidFill>
            <a:srgbClr val="5FA8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75904" y="3154680"/>
            <a:ext cx="1828800" cy="274320"/>
          </a:xfrm>
          <a:prstGeom prst="rect">
            <a:avLst/>
          </a:prstGeom>
          <a:noFill/>
        </p:spPr>
        <p:txBody>
          <a:bodyPr wrap="square" lIns="0" rIns="0" tIns="0" bIns="0" anchor="t">
            <a:spAutoFit/>
          </a:bodyPr>
          <a:lstStyle/>
          <a:p>
            <a:pPr algn="ctr"/>
            <a:r>
              <a:rPr sz="1050" b="1" i="0" spc="120">
                <a:solidFill>
                  <a:srgbClr val="0F2747"/>
                </a:solidFill>
                <a:latin typeface="Aptos"/>
                <a:ea typeface="Yu Gothic"/>
                <a:cs typeface="Aptos"/>
              </a:rPr>
              <a:t>2030–2036</a:t>
            </a:r>
          </a:p>
        </p:txBody>
      </p:sp>
      <p:sp>
        <p:nvSpPr>
          <p:cNvPr id="24" name="TextBox 23"/>
          <p:cNvSpPr txBox="1"/>
          <p:nvPr/>
        </p:nvSpPr>
        <p:spPr>
          <a:xfrm>
            <a:off x="8375904" y="3474720"/>
            <a:ext cx="1828800" cy="914400"/>
          </a:xfrm>
          <a:prstGeom prst="rect">
            <a:avLst/>
          </a:prstGeom>
          <a:noFill/>
        </p:spPr>
        <p:txBody>
          <a:bodyPr wrap="square" lIns="0" rIns="0" tIns="0" bIns="0" anchor="t">
            <a:spAutoFit/>
          </a:bodyPr>
          <a:lstStyle/>
          <a:p>
            <a:pPr algn="ctr"/>
            <a:r>
              <a:rPr sz="1000" b="0" i="0">
                <a:solidFill>
                  <a:srgbClr val="1F1F1F"/>
                </a:solidFill>
                <a:latin typeface="Aptos"/>
                <a:ea typeface="Yu Gothic"/>
                <a:cs typeface="Aptos"/>
              </a:rPr>
              <a:t>回収期間 / Exit</a:t>
            </a:r>
          </a:p>
        </p:txBody>
      </p:sp>
      <p:sp>
        <p:nvSpPr>
          <p:cNvPr id="25" name="Rectangle 24"/>
          <p:cNvSpPr/>
          <p:nvPr/>
        </p:nvSpPr>
        <p:spPr>
          <a:xfrm>
            <a:off x="11393424" y="2834640"/>
            <a:ext cx="73152" cy="228600"/>
          </a:xfrm>
          <a:prstGeom prst="rect">
            <a:avLst/>
          </a:prstGeom>
          <a:solidFill>
            <a:srgbClr val="5FA8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515600" y="3154680"/>
            <a:ext cx="1828800" cy="274320"/>
          </a:xfrm>
          <a:prstGeom prst="rect">
            <a:avLst/>
          </a:prstGeom>
          <a:noFill/>
        </p:spPr>
        <p:txBody>
          <a:bodyPr wrap="square" lIns="0" rIns="0" tIns="0" bIns="0" anchor="t">
            <a:spAutoFit/>
          </a:bodyPr>
          <a:lstStyle/>
          <a:p>
            <a:pPr algn="ctr"/>
            <a:r>
              <a:rPr sz="1050" b="1" i="0" spc="120">
                <a:solidFill>
                  <a:srgbClr val="0F2747"/>
                </a:solidFill>
                <a:latin typeface="Aptos"/>
                <a:ea typeface="Yu Gothic"/>
                <a:cs typeface="Aptos"/>
              </a:rPr>
              <a:t>2036–2038</a:t>
            </a:r>
          </a:p>
        </p:txBody>
      </p:sp>
      <p:sp>
        <p:nvSpPr>
          <p:cNvPr id="27" name="TextBox 26"/>
          <p:cNvSpPr txBox="1"/>
          <p:nvPr/>
        </p:nvSpPr>
        <p:spPr>
          <a:xfrm>
            <a:off x="10515600" y="3474720"/>
            <a:ext cx="1828800" cy="914400"/>
          </a:xfrm>
          <a:prstGeom prst="rect">
            <a:avLst/>
          </a:prstGeom>
          <a:noFill/>
        </p:spPr>
        <p:txBody>
          <a:bodyPr wrap="square" lIns="0" rIns="0" tIns="0" bIns="0" anchor="t">
            <a:spAutoFit/>
          </a:bodyPr>
          <a:lstStyle/>
          <a:p>
            <a:pPr algn="ctr"/>
            <a:r>
              <a:rPr sz="1000" b="0" i="0">
                <a:solidFill>
                  <a:srgbClr val="1F1F1F"/>
                </a:solidFill>
                <a:latin typeface="Aptos"/>
                <a:ea typeface="Yu Gothic"/>
                <a:cs typeface="Aptos"/>
              </a:rPr>
              <a:t>延長 / 残余処分</a:t>
            </a:r>
          </a:p>
        </p:txBody>
      </p:sp>
      <p:sp>
        <p:nvSpPr>
          <p:cNvPr id="28" name="TextBox 27"/>
          <p:cNvSpPr txBox="1"/>
          <p:nvPr/>
        </p:nvSpPr>
        <p:spPr>
          <a:xfrm>
            <a:off x="548640" y="4754880"/>
            <a:ext cx="11091672" cy="274320"/>
          </a:xfrm>
          <a:prstGeom prst="rect">
            <a:avLst/>
          </a:prstGeom>
          <a:noFill/>
        </p:spPr>
        <p:txBody>
          <a:bodyPr wrap="square" lIns="0" rIns="0" tIns="0" bIns="0" anchor="t">
            <a:spAutoFit/>
          </a:bodyPr>
          <a:lstStyle/>
          <a:p>
            <a:pPr algn="l"/>
            <a:r>
              <a:rPr sz="1000" b="1" i="0" spc="200">
                <a:solidFill>
                  <a:srgbClr val="5FA8D3"/>
                </a:solidFill>
                <a:latin typeface="Aptos"/>
                <a:ea typeface="Yu Gothic"/>
                <a:cs typeface="Aptos"/>
              </a:rPr>
              <a:t>KEY CONDITIONS PRECEDENT</a:t>
            </a:r>
          </a:p>
        </p:txBody>
      </p:sp>
      <p:sp>
        <p:nvSpPr>
          <p:cNvPr id="29" name="TextBox 28"/>
          <p:cNvSpPr txBox="1"/>
          <p:nvPr/>
        </p:nvSpPr>
        <p:spPr>
          <a:xfrm>
            <a:off x="548640" y="5074920"/>
            <a:ext cx="11091672" cy="1371600"/>
          </a:xfrm>
          <a:prstGeom prst="rect">
            <a:avLst/>
          </a:prstGeom>
          <a:noFill/>
        </p:spPr>
        <p:txBody>
          <a:bodyPr wrap="square" lIns="0" rIns="0" tIns="0" bIns="0">
            <a:spAutoFit/>
          </a:bodyPr>
          <a:lstStyle/>
          <a:p>
            <a:pPr algn="l">
              <a:lnSpc>
                <a:spcPct val="135000"/>
              </a:lnSpc>
              <a:spcAft>
                <a:spcPts val="300"/>
              </a:spcAft>
            </a:pPr>
            <a:r>
              <a:rPr sz="900" b="1" i="0">
                <a:solidFill>
                  <a:srgbClr val="5FA8D3"/>
                </a:solidFill>
                <a:latin typeface="Aptos"/>
                <a:ea typeface="Yu Gothic"/>
                <a:cs typeface="Aptos"/>
              </a:rPr>
              <a:t>■ </a:t>
            </a:r>
            <a:r>
              <a:rPr sz="1100" b="1" i="0">
                <a:solidFill>
                  <a:srgbClr val="0F2747"/>
                </a:solidFill>
                <a:latin typeface="Aptos"/>
                <a:ea typeface="Yu Gothic"/>
                <a:cs typeface="Aptos"/>
              </a:rPr>
              <a:t>初回クロージング条件</a:t>
            </a:r>
            <a:r>
              <a:rPr sz="1100" b="0" i="0">
                <a:solidFill>
                  <a:srgbClr val="1F1F1F"/>
                </a:solidFill>
                <a:latin typeface="Aptos"/>
                <a:ea typeface="Yu Gothic"/>
                <a:cs typeface="Aptos"/>
              </a:rPr>
              <a:t>  コミットメント総額 ¥10.0 BN 達成、GP Commitment 確約、Key Person 就任、LPACの設立。</a:t>
            </a:r>
          </a:p>
          <a:p>
            <a:pPr algn="l">
              <a:lnSpc>
                <a:spcPct val="135000"/>
              </a:lnSpc>
              <a:spcAft>
                <a:spcPts val="300"/>
              </a:spcAft>
            </a:pPr>
            <a:r>
              <a:rPr sz="900" b="1" i="0">
                <a:solidFill>
                  <a:srgbClr val="5FA8D3"/>
                </a:solidFill>
                <a:latin typeface="Aptos"/>
                <a:ea typeface="Yu Gothic"/>
                <a:cs typeface="Aptos"/>
              </a:rPr>
              <a:t>■ </a:t>
            </a:r>
            <a:r>
              <a:rPr sz="1100" b="1" i="0">
                <a:solidFill>
                  <a:srgbClr val="0F2747"/>
                </a:solidFill>
                <a:latin typeface="Aptos"/>
                <a:ea typeface="Yu Gothic"/>
                <a:cs typeface="Aptos"/>
              </a:rPr>
              <a:t>出資期限・コミットメント</a:t>
            </a:r>
            <a:r>
              <a:rPr sz="1100" b="0" i="0">
                <a:solidFill>
                  <a:srgbClr val="1F1F1F"/>
                </a:solidFill>
                <a:latin typeface="Aptos"/>
                <a:ea typeface="Yu Gothic"/>
                <a:cs typeface="Aptos"/>
              </a:rPr>
              <a:t>  目論見書受領後8週間以内のサブスクリプション意向、初回キャピタル・コール60日前通知。</a:t>
            </a:r>
          </a:p>
        </p:txBody>
      </p:sp>
      <p:sp>
        <p:nvSpPr>
          <p:cNvPr id="30" name="TextBox 29"/>
          <p:cNvSpPr txBox="1"/>
          <p:nvPr/>
        </p:nvSpPr>
        <p:spPr>
          <a:xfrm>
            <a:off x="548640" y="6263640"/>
            <a:ext cx="11091672" cy="274320"/>
          </a:xfrm>
          <a:prstGeom prst="rect">
            <a:avLst/>
          </a:prstGeom>
          <a:noFill/>
        </p:spPr>
        <p:txBody>
          <a:bodyPr wrap="square" lIns="0" rIns="0" tIns="0" bIns="0" anchor="t">
            <a:spAutoFit/>
          </a:bodyPr>
          <a:lstStyle/>
          <a:p>
            <a:pPr algn="l"/>
            <a:r>
              <a:rPr sz="850" b="0" i="1">
                <a:solidFill>
                  <a:srgbClr val="6E7783"/>
                </a:solidFill>
                <a:latin typeface="Aptos"/>
                <a:ea typeface="Yu Gothic"/>
                <a:cs typeface="Aptos"/>
              </a:rPr>
              <a:t>Timeline is indicative and subject to market conditions and regulatory approvals.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7315200" cy="274320"/>
          </a:xfrm>
          <a:prstGeom prst="rect">
            <a:avLst/>
          </a:prstGeom>
          <a:noFill/>
        </p:spPr>
        <p:txBody>
          <a:bodyPr wrap="square" lIns="0" rIns="0" tIns="0" bIns="0" anchor="t">
            <a:spAutoFit/>
          </a:bodyPr>
          <a:lstStyle/>
          <a:p>
            <a:pPr algn="l"/>
            <a:r>
              <a:rPr sz="900" b="1" i="0" spc="200">
                <a:solidFill>
                  <a:srgbClr val="5FA8D3"/>
                </a:solidFill>
                <a:latin typeface="Aptos"/>
                <a:ea typeface="Yu Gothic"/>
                <a:cs typeface="Aptos"/>
              </a:rPr>
              <a:t>APPENDIX · DISCLAIMER</a:t>
            </a:r>
          </a:p>
        </p:txBody>
      </p:sp>
      <p:sp>
        <p:nvSpPr>
          <p:cNvPr id="3" name="TextBox 2"/>
          <p:cNvSpPr txBox="1"/>
          <p:nvPr/>
        </p:nvSpPr>
        <p:spPr>
          <a:xfrm>
            <a:off x="5029200" y="411480"/>
            <a:ext cx="6583680" cy="274320"/>
          </a:xfrm>
          <a:prstGeom prst="rect">
            <a:avLst/>
          </a:prstGeom>
          <a:noFill/>
        </p:spPr>
        <p:txBody>
          <a:bodyPr wrap="square" lIns="0" rIns="0" tIns="0" bIns="0" anchor="t">
            <a:spAutoFit/>
          </a:bodyPr>
          <a:lstStyle/>
          <a:p>
            <a:pPr algn="r"/>
            <a:r>
              <a:rPr sz="850" b="1" i="0" spc="150">
                <a:solidFill>
                  <a:srgbClr val="6E7783"/>
                </a:solidFill>
                <a:latin typeface="Aptos"/>
                <a:ea typeface="Yu Gothic"/>
                <a:cs typeface="Aptos"/>
              </a:rPr>
              <a:t>TOHOKU FRONTIER IMPACT CAPITAL</a:t>
            </a:r>
          </a:p>
        </p:txBody>
      </p:sp>
      <p:sp>
        <p:nvSpPr>
          <p:cNvPr id="4" name="TextBox 3"/>
          <p:cNvSpPr txBox="1"/>
          <p:nvPr/>
        </p:nvSpPr>
        <p:spPr>
          <a:xfrm>
            <a:off x="548640" y="713232"/>
            <a:ext cx="11091672" cy="777240"/>
          </a:xfrm>
          <a:prstGeom prst="rect">
            <a:avLst/>
          </a:prstGeom>
          <a:noFill/>
        </p:spPr>
        <p:txBody>
          <a:bodyPr wrap="square" lIns="0" rIns="0" tIns="0" bIns="0" anchor="t">
            <a:spAutoFit/>
          </a:bodyPr>
          <a:lstStyle/>
          <a:p>
            <a:pPr algn="l"/>
            <a:r>
              <a:rPr sz="2600" b="1" i="0">
                <a:solidFill>
                  <a:srgbClr val="0F2747"/>
                </a:solidFill>
                <a:latin typeface="Aptos"/>
                <a:ea typeface="Yu Gothic"/>
                <a:cs typeface="Aptos"/>
              </a:rPr>
              <a:t>免責事項及び連絡先</a:t>
            </a:r>
          </a:p>
        </p:txBody>
      </p:sp>
      <p:sp>
        <p:nvSpPr>
          <p:cNvPr id="5" name="Rectangle 4"/>
          <p:cNvSpPr/>
          <p:nvPr/>
        </p:nvSpPr>
        <p:spPr>
          <a:xfrm>
            <a:off x="548640" y="1536192"/>
            <a:ext cx="731520" cy="31750"/>
          </a:xfrm>
          <a:prstGeom prst="rect">
            <a:avLst/>
          </a:prstGeom>
          <a:solidFill>
            <a:srgbClr val="5FA8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364224"/>
            <a:ext cx="11091672" cy="10972"/>
          </a:xfrm>
          <a:prstGeom prst="rect">
            <a:avLst/>
          </a:prstGeom>
          <a:solidFill>
            <a:srgbClr val="CF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46520"/>
            <a:ext cx="5486400" cy="274320"/>
          </a:xfrm>
          <a:prstGeom prst="rect">
            <a:avLst/>
          </a:prstGeom>
          <a:noFill/>
        </p:spPr>
        <p:txBody>
          <a:bodyPr wrap="square" lIns="0" rIns="0" tIns="0" bIns="0" anchor="t">
            <a:spAutoFit/>
          </a:bodyPr>
          <a:lstStyle/>
          <a:p>
            <a:pPr algn="l"/>
            <a:r>
              <a:rPr sz="750" b="1" i="0" spc="180">
                <a:solidFill>
                  <a:srgbClr val="6E7783"/>
                </a:solidFill>
                <a:latin typeface="Aptos"/>
                <a:ea typeface="Yu Gothic"/>
                <a:cs typeface="Aptos"/>
              </a:rPr>
              <a:t>STRICTLY PRIVATE &amp; CONFIDENTIAL  |  FOR DISCUSSION PURPOSES ONLY</a:t>
            </a:r>
          </a:p>
        </p:txBody>
      </p:sp>
      <p:sp>
        <p:nvSpPr>
          <p:cNvPr id="8" name="TextBox 7"/>
          <p:cNvSpPr txBox="1"/>
          <p:nvPr/>
        </p:nvSpPr>
        <p:spPr>
          <a:xfrm>
            <a:off x="8229600" y="6446520"/>
            <a:ext cx="3410712" cy="274320"/>
          </a:xfrm>
          <a:prstGeom prst="rect">
            <a:avLst/>
          </a:prstGeom>
          <a:noFill/>
        </p:spPr>
        <p:txBody>
          <a:bodyPr wrap="square" lIns="0" rIns="0" tIns="0" bIns="0" anchor="t">
            <a:spAutoFit/>
          </a:bodyPr>
          <a:lstStyle/>
          <a:p>
            <a:pPr algn="r"/>
            <a:r>
              <a:rPr sz="800" b="1" i="0" spc="120">
                <a:solidFill>
                  <a:srgbClr val="0F2747"/>
                </a:solidFill>
                <a:latin typeface="Aptos"/>
                <a:ea typeface="Yu Gothic"/>
                <a:cs typeface="Aptos"/>
              </a:rPr>
              <a:t>16 / 16</a:t>
            </a:r>
          </a:p>
        </p:txBody>
      </p:sp>
      <p:sp>
        <p:nvSpPr>
          <p:cNvPr id="9" name="TextBox 8"/>
          <p:cNvSpPr txBox="1"/>
          <p:nvPr/>
        </p:nvSpPr>
        <p:spPr>
          <a:xfrm>
            <a:off x="548640" y="1828800"/>
            <a:ext cx="11091672" cy="274320"/>
          </a:xfrm>
          <a:prstGeom prst="rect">
            <a:avLst/>
          </a:prstGeom>
          <a:noFill/>
        </p:spPr>
        <p:txBody>
          <a:bodyPr wrap="square" lIns="0" rIns="0" tIns="0" bIns="0" anchor="t">
            <a:spAutoFit/>
          </a:bodyPr>
          <a:lstStyle/>
          <a:p>
            <a:pPr algn="l"/>
            <a:r>
              <a:rPr sz="1000" b="1" i="0" spc="200">
                <a:solidFill>
                  <a:srgbClr val="5FA8D3"/>
                </a:solidFill>
                <a:latin typeface="Aptos"/>
                <a:ea typeface="Yu Gothic"/>
                <a:cs typeface="Aptos"/>
              </a:rPr>
              <a:t>DISCLAIMER</a:t>
            </a:r>
          </a:p>
        </p:txBody>
      </p:sp>
      <p:sp>
        <p:nvSpPr>
          <p:cNvPr id="10" name="TextBox 9"/>
          <p:cNvSpPr txBox="1"/>
          <p:nvPr/>
        </p:nvSpPr>
        <p:spPr>
          <a:xfrm>
            <a:off x="548640" y="2148840"/>
            <a:ext cx="11091672" cy="2743200"/>
          </a:xfrm>
          <a:prstGeom prst="rect">
            <a:avLst/>
          </a:prstGeom>
          <a:noFill/>
        </p:spPr>
        <p:txBody>
          <a:bodyPr wrap="square" lIns="0" rIns="0" tIns="0" bIns="0" anchor="t">
            <a:spAutoFit/>
          </a:bodyPr>
          <a:lstStyle/>
          <a:p>
            <a:pPr algn="l"/>
            <a:r>
              <a:rPr sz="1000" b="0" i="0">
                <a:solidFill>
                  <a:srgbClr val="1F1F1F"/>
                </a:solidFill>
                <a:latin typeface="Aptos"/>
                <a:ea typeface="Yu Gothic"/>
                <a:cs typeface="Aptos"/>
              </a:rPr>
              <a:t>本資料は、Tohoku Frontier Impact Capital — Fund I, L.P.（以下「本ファンド」）への出資意向のある適格機関投資家に対する予備的な情報提供のみを目的としており、いかなる有価証券の購入の勧誘、申込みの誘引、または金融商品取引の助言にも該当しません。本資料中の業績目標、リターン目標、想定スケジュール等の将来に関する記述は、現時点で合理的と考えられる仮定に基づくものですが、それらの達成を保証するものではなく、実際の結果は様々な要因により大きく異なる可能性があります。過去の運用実績は将来の運用成果を示唆するものではありません。アンカーケースとして言及される個別企業（例：株式会社manaby）は公開情報に基づく分析事例であり、本ファンドによる投資実行を意味するものではありません。本資料の受領者は、本資料を機密として取り扱い、第三者への開示・複製を行わないものとします。</a:t>
            </a:r>
          </a:p>
        </p:txBody>
      </p:sp>
      <p:sp>
        <p:nvSpPr>
          <p:cNvPr id="11" name="TextBox 10"/>
          <p:cNvSpPr txBox="1"/>
          <p:nvPr/>
        </p:nvSpPr>
        <p:spPr>
          <a:xfrm>
            <a:off x="548640" y="5074920"/>
            <a:ext cx="11091672" cy="274320"/>
          </a:xfrm>
          <a:prstGeom prst="rect">
            <a:avLst/>
          </a:prstGeom>
          <a:noFill/>
        </p:spPr>
        <p:txBody>
          <a:bodyPr wrap="square" lIns="0" rIns="0" tIns="0" bIns="0" anchor="t">
            <a:spAutoFit/>
          </a:bodyPr>
          <a:lstStyle/>
          <a:p>
            <a:pPr algn="l"/>
            <a:r>
              <a:rPr sz="1000" b="1" i="0" spc="200">
                <a:solidFill>
                  <a:srgbClr val="5FA8D3"/>
                </a:solidFill>
                <a:latin typeface="Aptos"/>
                <a:ea typeface="Yu Gothic"/>
                <a:cs typeface="Aptos"/>
              </a:rPr>
              <a:t>CONTACT</a:t>
            </a:r>
          </a:p>
        </p:txBody>
      </p:sp>
      <p:sp>
        <p:nvSpPr>
          <p:cNvPr id="12" name="Rectangle 11"/>
          <p:cNvSpPr/>
          <p:nvPr/>
        </p:nvSpPr>
        <p:spPr>
          <a:xfrm>
            <a:off x="548640" y="5394960"/>
            <a:ext cx="11091672" cy="914400"/>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486400"/>
            <a:ext cx="10515600" cy="274320"/>
          </a:xfrm>
          <a:prstGeom prst="rect">
            <a:avLst/>
          </a:prstGeom>
          <a:noFill/>
        </p:spPr>
        <p:txBody>
          <a:bodyPr wrap="square" lIns="0" rIns="0" tIns="0" bIns="0" anchor="t">
            <a:spAutoFit/>
          </a:bodyPr>
          <a:lstStyle/>
          <a:p>
            <a:pPr algn="l"/>
            <a:r>
              <a:rPr sz="1150" b="1" i="0">
                <a:solidFill>
                  <a:srgbClr val="0F2747"/>
                </a:solidFill>
                <a:latin typeface="Aptos"/>
                <a:ea typeface="Yu Gothic"/>
                <a:cs typeface="Aptos"/>
              </a:rPr>
              <a:t>Tohoku Frontier Impact Capital  ·  General Partner</a:t>
            </a:r>
          </a:p>
        </p:txBody>
      </p:sp>
      <p:sp>
        <p:nvSpPr>
          <p:cNvPr id="14" name="TextBox 13"/>
          <p:cNvSpPr txBox="1"/>
          <p:nvPr/>
        </p:nvSpPr>
        <p:spPr>
          <a:xfrm>
            <a:off x="777240" y="5760720"/>
            <a:ext cx="10515600" cy="274320"/>
          </a:xfrm>
          <a:prstGeom prst="rect">
            <a:avLst/>
          </a:prstGeom>
          <a:noFill/>
        </p:spPr>
        <p:txBody>
          <a:bodyPr wrap="square" lIns="0" rIns="0" tIns="0" bIns="0" anchor="t">
            <a:spAutoFit/>
          </a:bodyPr>
          <a:lstStyle/>
          <a:p>
            <a:pPr algn="l"/>
            <a:r>
              <a:rPr sz="1050" b="0" i="0">
                <a:solidFill>
                  <a:srgbClr val="1F1F1F"/>
                </a:solidFill>
                <a:latin typeface="Aptos"/>
                <a:ea typeface="Yu Gothic"/>
                <a:cs typeface="Aptos"/>
              </a:rPr>
              <a:t>Investor Relations  ·  ir@tohoku-frontier.capital  ·  +81 (0)22-XXX-XXXX</a:t>
            </a:r>
          </a:p>
        </p:txBody>
      </p:sp>
      <p:sp>
        <p:nvSpPr>
          <p:cNvPr id="15" name="TextBox 14"/>
          <p:cNvSpPr txBox="1"/>
          <p:nvPr/>
        </p:nvSpPr>
        <p:spPr>
          <a:xfrm>
            <a:off x="777240" y="5989320"/>
            <a:ext cx="10515600" cy="274320"/>
          </a:xfrm>
          <a:prstGeom prst="rect">
            <a:avLst/>
          </a:prstGeom>
          <a:noFill/>
        </p:spPr>
        <p:txBody>
          <a:bodyPr wrap="square" lIns="0" rIns="0" tIns="0" bIns="0" anchor="t">
            <a:spAutoFit/>
          </a:bodyPr>
          <a:lstStyle/>
          <a:p>
            <a:pPr algn="l"/>
            <a:r>
              <a:rPr sz="1050" b="0" i="0">
                <a:solidFill>
                  <a:srgbClr val="6E7783"/>
                </a:solidFill>
                <a:latin typeface="Aptos"/>
                <a:ea typeface="Yu Gothic"/>
                <a:cs typeface="Aptos"/>
              </a:rPr>
              <a:t>宮城県仙台市青葉区　〒XXX-XXXX（住所はクロージング時に確定）</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